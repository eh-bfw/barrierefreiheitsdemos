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76" r:id="rId9"/>
    <p:sldId id="262" r:id="rId10"/>
    <p:sldId id="265" r:id="rId11"/>
    <p:sldId id="266" r:id="rId12"/>
    <p:sldId id="270" r:id="rId13"/>
    <p:sldId id="269" r:id="rId14"/>
    <p:sldId id="267" r:id="rId15"/>
    <p:sldId id="268" r:id="rId16"/>
    <p:sldId id="275" r:id="rId17"/>
    <p:sldId id="273" r:id="rId18"/>
    <p:sldId id="27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CB3C0-C4D2-4443-94B7-511EA8E27017}" type="datetimeFigureOut">
              <a:rPr lang="de-DE" smtClean="0"/>
              <a:t>07.06.2026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AEE88-1FAD-4B99-B45F-DFF552009D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6296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40791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025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Curb-Cut-Effekt: Maßnahmen, die ursprünglich für eine bestimmte benachteiligte Gruppe entwickelt wurden, kommen später vielen anderen Menschen zugute. Beispiele:</a:t>
            </a:r>
          </a:p>
          <a:p>
            <a:r>
              <a:rPr lang="de-DE" dirty="0"/>
              <a:t>Untertitel in Videos→ gedacht für gehörlose Personen, genutzt auch in lauter Umgebung oder beim </a:t>
            </a:r>
            <a:r>
              <a:rPr lang="de-DE" dirty="0" err="1"/>
              <a:t>SprachenlernenSpracherkennung</a:t>
            </a:r>
            <a:r>
              <a:rPr lang="de-DE" dirty="0"/>
              <a:t> (z. B. Siri, Alexa)→ entwickelt zur Unterstützung von Menschen mit Einschränkungen, heute </a:t>
            </a:r>
            <a:r>
              <a:rPr lang="de-DE" dirty="0" err="1"/>
              <a:t>AlltagsfunktionAutomatische</a:t>
            </a:r>
            <a:r>
              <a:rPr lang="de-DE" dirty="0"/>
              <a:t> Türen→ hilfreich für Menschen mit Behinderungen, aber auch für alle mit vollen Händen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78799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640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5394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4110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6482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it.leitung@bfw-wuerzburg.de" TargetMode="External"/><Relationship Id="rId2" Type="http://schemas.openxmlformats.org/officeDocument/2006/relationships/hyperlink" Target="mailto:rainer.brell@bfw-wuerzburg.de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mailto:rainer.brell@bfw-wuerzburg.de" TargetMode="External"/><Relationship Id="rId7" Type="http://schemas.openxmlformats.org/officeDocument/2006/relationships/hyperlink" Target="https://github.com/EH-BFW/BarrierefreiheitsDemo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hyperlink" Target="mailto:it.leitung@bfw-wuerzburg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79" y="2011303"/>
            <a:ext cx="11217303" cy="25823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Anwendungen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5400" b="1" i="0" dirty="0" err="1">
                <a:solidFill>
                  <a:srgbClr val="FFFFFF"/>
                </a:solidFill>
                <a:latin typeface="Calibri"/>
              </a:rPr>
              <a:t>prüfen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,</a:t>
            </a:r>
          </a:p>
          <a:p>
            <a:pPr algn="l">
              <a:lnSpc>
                <a:spcPct val="10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anpassen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 und </a:t>
            </a:r>
            <a:r>
              <a:rPr sz="5400" b="1" i="0" dirty="0" err="1">
                <a:solidFill>
                  <a:srgbClr val="FFFFFF"/>
                </a:solidFill>
                <a:latin typeface="Calibri"/>
              </a:rPr>
              <a:t>barrierefrei</a:t>
            </a:r>
            <a:endParaRPr sz="5400" b="1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0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entwickeln</a:t>
            </a:r>
            <a:endParaRPr sz="5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4572000"/>
            <a:ext cx="109728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777379"/>
            <a:ext cx="10972800" cy="4122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dirty="0" err="1">
                <a:solidFill>
                  <a:srgbClr val="E9ECEF"/>
                </a:solidFill>
                <a:latin typeface="Calibri"/>
              </a:rPr>
              <a:t>Veranstaltung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„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Gemeinsam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mehr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Barrierefreiheit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erreichen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4924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Rainer Brell und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Ernst Heßdörfer  ·  BFW Würzburg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9728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200" b="0" i="1" dirty="0">
                <a:solidFill>
                  <a:srgbClr val="BBBBBB"/>
                </a:solidFill>
                <a:latin typeface="Calibri"/>
              </a:rPr>
              <a:t>Juni</a:t>
            </a:r>
            <a:r>
              <a:rPr sz="1200" b="0" i="1" dirty="0">
                <a:solidFill>
                  <a:srgbClr val="BBBBBB"/>
                </a:solidFill>
                <a:latin typeface="Calibri"/>
              </a:rPr>
              <a:t> 2026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0FEF0B6-469E-046D-8848-6AF3EDF30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C8102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 dirty="0">
                <a:solidFill>
                  <a:srgbClr val="5A6470"/>
                </a:solidFill>
                <a:latin typeface="Calibri"/>
              </a:rPr>
              <a:t>Drei </a:t>
            </a:r>
            <a:r>
              <a:rPr lang="de-DE" sz="1600" b="0" i="1" dirty="0">
                <a:solidFill>
                  <a:srgbClr val="5A6470"/>
                </a:solidFill>
                <a:latin typeface="Calibri"/>
              </a:rPr>
              <a:t>Prozesse,</a:t>
            </a:r>
            <a:r>
              <a:rPr sz="16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lang="de-DE" sz="1600" b="0" i="1" dirty="0">
                <a:solidFill>
                  <a:srgbClr val="5A6470"/>
                </a:solidFill>
                <a:latin typeface="Calibri"/>
              </a:rPr>
              <a:t>um gemeinsam mehr barrierefreie </a:t>
            </a:r>
            <a:r>
              <a:rPr sz="1600" b="0" i="1" dirty="0">
                <a:solidFill>
                  <a:srgbClr val="5A6470"/>
                </a:solidFill>
                <a:latin typeface="Calibri"/>
              </a:rPr>
              <a:t>Software</a:t>
            </a:r>
            <a:r>
              <a:rPr lang="de-DE" sz="1600" b="0" i="1" dirty="0">
                <a:solidFill>
                  <a:srgbClr val="5A6470"/>
                </a:solidFill>
                <a:latin typeface="Calibri"/>
              </a:rPr>
              <a:t> zu erreichen</a:t>
            </a:r>
            <a:endParaRPr sz="1600" b="0" i="1" dirty="0">
              <a:solidFill>
                <a:srgbClr val="5A6470"/>
              </a:solidFill>
              <a:latin typeface="Calibri"/>
            </a:endParaRP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7124136-5996-187E-710E-63C04C8FD330}"/>
              </a:ext>
            </a:extLst>
          </p:cNvPr>
          <p:cNvGrpSpPr/>
          <p:nvPr/>
        </p:nvGrpSpPr>
        <p:grpSpPr>
          <a:xfrm>
            <a:off x="457200" y="2331720"/>
            <a:ext cx="3657600" cy="3840480"/>
            <a:chOff x="457200" y="2331720"/>
            <a:chExt cx="3657600" cy="3840480"/>
          </a:xfrm>
        </p:grpSpPr>
        <p:sp>
          <p:nvSpPr>
            <p:cNvPr id="6" name="Rectangle 5"/>
            <p:cNvSpPr/>
            <p:nvPr/>
          </p:nvSpPr>
          <p:spPr>
            <a:xfrm>
              <a:off x="457200" y="2331720"/>
              <a:ext cx="3657600" cy="384048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457200" y="233172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20" y="2651760"/>
              <a:ext cx="13716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7200" b="1" i="0" dirty="0">
                  <a:solidFill>
                    <a:srgbClr val="C8102E"/>
                  </a:solidFill>
                  <a:latin typeface="Calibri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31520" y="3794760"/>
              <a:ext cx="310896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 i="0">
                  <a:solidFill>
                    <a:srgbClr val="1F2A36"/>
                  </a:solidFill>
                  <a:latin typeface="Calibri"/>
                </a:rPr>
                <a:t>Prüfen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4389120"/>
              <a:ext cx="3108960" cy="7287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Anwendungen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systematisch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auf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Barrierefreiheit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testen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– </a:t>
              </a:r>
              <a:br>
                <a:rPr lang="de-DE" sz="1400" b="0" i="0" dirty="0">
                  <a:solidFill>
                    <a:srgbClr val="1F2A36"/>
                  </a:solidFill>
                  <a:latin typeface="Calibri"/>
                </a:rPr>
              </a:b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mit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Screenreader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Tastatur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und Tools.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31520" y="5669280"/>
              <a:ext cx="310896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≈ </a:t>
              </a:r>
              <a:r>
                <a:rPr lang="de-DE" sz="1200" b="0" i="1" dirty="0">
                  <a:solidFill>
                    <a:srgbClr val="5A6470"/>
                  </a:solidFill>
                  <a:latin typeface="Calibri"/>
                </a:rPr>
                <a:t>5</a:t>
              </a: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 Min.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B7028D9-279F-5969-AB72-8AA61C5ED8C5}"/>
              </a:ext>
            </a:extLst>
          </p:cNvPr>
          <p:cNvGrpSpPr/>
          <p:nvPr/>
        </p:nvGrpSpPr>
        <p:grpSpPr>
          <a:xfrm>
            <a:off x="4361688" y="2331720"/>
            <a:ext cx="3657600" cy="3840480"/>
            <a:chOff x="4361688" y="2331720"/>
            <a:chExt cx="3657600" cy="3840480"/>
          </a:xfrm>
        </p:grpSpPr>
        <p:sp>
          <p:nvSpPr>
            <p:cNvPr id="12" name="Rectangle 11"/>
            <p:cNvSpPr/>
            <p:nvPr/>
          </p:nvSpPr>
          <p:spPr>
            <a:xfrm>
              <a:off x="4361688" y="2331720"/>
              <a:ext cx="3657600" cy="384048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361688" y="233172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36008" y="2651760"/>
              <a:ext cx="13716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7200" b="1" i="0">
                  <a:solidFill>
                    <a:srgbClr val="C8102E"/>
                  </a:solidFill>
                  <a:latin typeface="Calibri"/>
                </a:rPr>
                <a:t>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36008" y="3794760"/>
              <a:ext cx="310896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 i="0">
                  <a:solidFill>
                    <a:srgbClr val="1F2A36"/>
                  </a:solidFill>
                  <a:latin typeface="Calibri"/>
                </a:rPr>
                <a:t>Anpassen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36008" y="4389120"/>
              <a:ext cx="3108960" cy="7287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Nich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t so nachhaltig, aber oft nötig:</a:t>
              </a:r>
              <a:endParaRPr lang="de-DE" sz="1400" b="0" i="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15000"/>
                </a:lnSpc>
              </a:pP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Screenreader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-Anpassungen/</a:t>
              </a:r>
              <a:r>
                <a:rPr lang="de-DE" sz="1400" b="0" i="0" dirty="0" err="1">
                  <a:solidFill>
                    <a:srgbClr val="1F2A36"/>
                  </a:solidFill>
                  <a:latin typeface="Calibri"/>
                </a:rPr>
                <a:t>Skripting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 mit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NVDA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 und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JAWS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 oder mit DL </a:t>
              </a:r>
              <a:r>
                <a:rPr lang="de-DE" sz="1400" b="0" i="0" dirty="0" err="1">
                  <a:solidFill>
                    <a:srgbClr val="1F2A36"/>
                  </a:solidFill>
                  <a:latin typeface="Calibri"/>
                </a:rPr>
                <a:t>XTab</a:t>
              </a:r>
              <a:endParaRPr sz="14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636008" y="5669280"/>
              <a:ext cx="310896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≈ </a:t>
              </a:r>
              <a:r>
                <a:rPr lang="de-DE" sz="1200" b="0" i="1" dirty="0">
                  <a:solidFill>
                    <a:srgbClr val="5A6470"/>
                  </a:solidFill>
                  <a:latin typeface="Calibri"/>
                </a:rPr>
                <a:t>10</a:t>
              </a: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 Min.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8602B9FC-B935-F508-3DDB-53EAE036A2D0}"/>
              </a:ext>
            </a:extLst>
          </p:cNvPr>
          <p:cNvGrpSpPr/>
          <p:nvPr/>
        </p:nvGrpSpPr>
        <p:grpSpPr>
          <a:xfrm>
            <a:off x="8266176" y="2331720"/>
            <a:ext cx="3657600" cy="3840480"/>
            <a:chOff x="8266176" y="2331720"/>
            <a:chExt cx="3657600" cy="3840480"/>
          </a:xfrm>
        </p:grpSpPr>
        <p:sp>
          <p:nvSpPr>
            <p:cNvPr id="18" name="Rectangle 17"/>
            <p:cNvSpPr/>
            <p:nvPr/>
          </p:nvSpPr>
          <p:spPr>
            <a:xfrm>
              <a:off x="8266176" y="2331720"/>
              <a:ext cx="3657600" cy="384048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266176" y="233172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540496" y="2651760"/>
              <a:ext cx="13716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7200" b="1" i="0">
                  <a:solidFill>
                    <a:srgbClr val="C8102E"/>
                  </a:solidFill>
                  <a:latin typeface="Calibri"/>
                </a:rPr>
                <a:t>3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540496" y="3794760"/>
              <a:ext cx="310896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 i="0">
                  <a:solidFill>
                    <a:srgbClr val="1F2A36"/>
                  </a:solidFill>
                  <a:latin typeface="Calibri"/>
                </a:rPr>
                <a:t>Entwickeln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540496" y="4389120"/>
              <a:ext cx="3108960" cy="97648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Die nachhaltige Lösung:</a:t>
              </a:r>
            </a:p>
            <a:p>
              <a:pPr algn="l">
                <a:lnSpc>
                  <a:spcPct val="115000"/>
                </a:lnSpc>
              </a:pP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Barrierefrei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programmieren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– </a:t>
              </a:r>
              <a:br>
                <a:rPr lang="de-DE" sz="1400" b="0" i="0" dirty="0">
                  <a:solidFill>
                    <a:srgbClr val="1F2A36"/>
                  </a:solidFill>
                  <a:latin typeface="Calibri"/>
                </a:rPr>
              </a:b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mit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Beispielen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für Web, WPF, </a:t>
              </a:r>
              <a:endParaRPr lang="de-DE" sz="1400" b="0" i="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15000"/>
                </a:lnSpc>
              </a:pP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WinUI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und MAUI.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540496" y="5669280"/>
              <a:ext cx="310896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≈ </a:t>
              </a:r>
              <a:r>
                <a:rPr lang="de-DE" sz="1200" i="1" dirty="0">
                  <a:solidFill>
                    <a:srgbClr val="5A6470"/>
                  </a:solidFill>
                  <a:latin typeface="Calibri"/>
                </a:rPr>
                <a:t>8</a:t>
              </a: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 Min.</a:t>
              </a:r>
            </a:p>
          </p:txBody>
        </p:sp>
      </p:grp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Agenda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834641"/>
            <a:ext cx="1828800" cy="102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1" i="0" dirty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263879"/>
            <a:ext cx="8686800" cy="619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Prüfen</a:t>
            </a:r>
            <a:endParaRPr sz="5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08960" y="3513070"/>
            <a:ext cx="8686800" cy="681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 err="1">
                <a:solidFill>
                  <a:srgbClr val="E9ECEF"/>
                </a:solidFill>
                <a:latin typeface="Calibri"/>
              </a:rPr>
              <a:t>Anwendungen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9ECEF"/>
                </a:solidFill>
                <a:latin typeface="Calibri"/>
              </a:rPr>
              <a:t>systematisch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auf </a:t>
            </a:r>
            <a:r>
              <a:rPr sz="2000" b="0" i="1" dirty="0" err="1">
                <a:solidFill>
                  <a:srgbClr val="E9ECEF"/>
                </a:solidFill>
                <a:latin typeface="Calibri"/>
              </a:rPr>
              <a:t>Barrierefreiheit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9ECEF"/>
                </a:solidFill>
                <a:latin typeface="Calibri"/>
              </a:rPr>
              <a:t>testen</a:t>
            </a:r>
            <a:endParaRPr sz="2000" b="0" i="1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14E7B15-594B-CE8E-7D86-A24EE601E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Prüfen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Anwendungen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prüfen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–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Warum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und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F4557D3-3396-3793-E227-6EC83761ADCC}"/>
              </a:ext>
            </a:extLst>
          </p:cNvPr>
          <p:cNvGrpSpPr/>
          <p:nvPr/>
        </p:nvGrpSpPr>
        <p:grpSpPr>
          <a:xfrm>
            <a:off x="457200" y="1691640"/>
            <a:ext cx="5486400" cy="2804835"/>
            <a:chOff x="457200" y="1691640"/>
            <a:chExt cx="5486400" cy="2804835"/>
          </a:xfrm>
        </p:grpSpPr>
        <p:sp>
          <p:nvSpPr>
            <p:cNvPr id="6" name="TextBox 5"/>
            <p:cNvSpPr txBox="1"/>
            <p:nvPr/>
          </p:nvSpPr>
          <p:spPr>
            <a:xfrm>
              <a:off x="457200" y="1691640"/>
              <a:ext cx="54864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 dirty="0" err="1">
                  <a:solidFill>
                    <a:srgbClr val="1F2A36"/>
                  </a:solidFill>
                  <a:latin typeface="Calibri"/>
                </a:rPr>
                <a:t>Warum</a:t>
              </a:r>
              <a:r>
                <a:rPr sz="2000" b="1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2000" b="1" i="0" dirty="0" err="1">
                  <a:solidFill>
                    <a:srgbClr val="1F2A36"/>
                  </a:solidFill>
                  <a:latin typeface="Calibri"/>
                </a:rPr>
                <a:t>prüfen</a:t>
              </a:r>
              <a:r>
                <a:rPr sz="2000" b="1" i="0" dirty="0">
                  <a:solidFill>
                    <a:srgbClr val="1F2A36"/>
                  </a:solidFill>
                  <a:latin typeface="Calibri"/>
                </a:rPr>
                <a:t>?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2240280"/>
              <a:ext cx="5486400" cy="2256195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4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Blinde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Mitarbeitende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stoßen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sonst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täglich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auf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Hürden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– </a:t>
              </a:r>
              <a:br>
                <a:rPr lang="de-DE" sz="1400" dirty="0">
                  <a:solidFill>
                    <a:srgbClr val="1F2A36"/>
                  </a:solidFill>
                  <a:latin typeface="Calibri"/>
                </a:rPr>
              </a:b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	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Praktika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scheitern</a:t>
              </a:r>
              <a:endParaRPr sz="14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400" b="1" dirty="0">
                  <a:solidFill>
                    <a:srgbClr val="C8102E"/>
                  </a:solidFill>
                  <a:latin typeface="Calibri"/>
                </a:rPr>
                <a:t>• </a:t>
              </a:r>
              <a:r>
                <a:rPr lang="de-DE" sz="1400" b="1" dirty="0">
                  <a:solidFill>
                    <a:srgbClr val="C8102E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Funde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während der Entwicklung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sind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10–100×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billiger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als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	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Nachbesserungen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im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Betrieb</a:t>
              </a:r>
              <a:endParaRPr sz="14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4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Barrierefreiheit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erhöht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generelle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Bedienbarkeit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br>
                <a:rPr lang="de-DE" sz="1400" dirty="0">
                  <a:solidFill>
                    <a:srgbClr val="1F2A36"/>
                  </a:solidFill>
                  <a:latin typeface="Calibri"/>
                </a:rPr>
              </a:b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	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(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Stichwort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„Curb-Cut-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Effekt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“)</a:t>
              </a:r>
              <a:endParaRPr lang="de-DE" sz="1400" dirty="0">
                <a:solidFill>
                  <a:srgbClr val="1F2A36"/>
                </a:solidFill>
                <a:latin typeface="Calibri"/>
              </a:endParaRP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400" b="1" dirty="0">
                  <a:solidFill>
                    <a:srgbClr val="C8102E"/>
                  </a:solidFill>
                </a:rPr>
                <a:t>•  </a:t>
              </a:r>
              <a:r>
                <a:rPr lang="de-DE" sz="1400" dirty="0">
                  <a:solidFill>
                    <a:srgbClr val="1F2A36"/>
                  </a:solidFill>
                </a:rPr>
                <a:t>BFSG, EU-Web­barriere­freiheits­richtlinie, BITV 2.0 verlangen Nachweise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sz="1400" dirty="0">
                <a:solidFill>
                  <a:srgbClr val="1F2A36"/>
                </a:solidFill>
                <a:latin typeface="Calibri"/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400800" y="1691640"/>
            <a:ext cx="5486400" cy="333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 dirty="0">
                <a:solidFill>
                  <a:srgbClr val="1F2A36"/>
                </a:solidFill>
                <a:latin typeface="Calibri"/>
              </a:rPr>
              <a:t>Was </a:t>
            </a:r>
            <a:r>
              <a:rPr sz="2000" b="1" i="0" dirty="0" err="1">
                <a:solidFill>
                  <a:srgbClr val="1F2A36"/>
                </a:solidFill>
                <a:latin typeface="Calibri"/>
              </a:rPr>
              <a:t>prüfen</a:t>
            </a:r>
            <a:r>
              <a:rPr sz="2000" b="1" i="0" dirty="0">
                <a:solidFill>
                  <a:srgbClr val="1F2A36"/>
                </a:solidFill>
                <a:latin typeface="Calibri"/>
              </a:rPr>
              <a:t>? – WCAG-</a:t>
            </a:r>
            <a:r>
              <a:rPr sz="2000" b="1" i="0" dirty="0" err="1">
                <a:solidFill>
                  <a:srgbClr val="1F2A36"/>
                </a:solidFill>
                <a:latin typeface="Calibri"/>
              </a:rPr>
              <a:t>Prinzipien</a:t>
            </a:r>
            <a:endParaRPr sz="2000" b="1" i="0" dirty="0">
              <a:solidFill>
                <a:srgbClr val="1F2A36"/>
              </a:solidFill>
              <a:latin typeface="Calibri"/>
            </a:endParaRP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2E6E2BA-8468-493E-8E18-74A2DAFB91A8}"/>
              </a:ext>
            </a:extLst>
          </p:cNvPr>
          <p:cNvGrpSpPr/>
          <p:nvPr/>
        </p:nvGrpSpPr>
        <p:grpSpPr>
          <a:xfrm>
            <a:off x="6400800" y="2194560"/>
            <a:ext cx="5715000" cy="594360"/>
            <a:chOff x="6400800" y="2194560"/>
            <a:chExt cx="5715000" cy="594360"/>
          </a:xfrm>
        </p:grpSpPr>
        <p:sp>
          <p:nvSpPr>
            <p:cNvPr id="9" name="Oval 8"/>
            <p:cNvSpPr/>
            <p:nvPr/>
          </p:nvSpPr>
          <p:spPr>
            <a:xfrm>
              <a:off x="6400800" y="2240280"/>
              <a:ext cx="548640" cy="54864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Calibri"/>
                </a:rPr>
                <a:t>P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086600" y="2194560"/>
              <a:ext cx="50292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de-DE" sz="1400" b="1" dirty="0"/>
                <a:t>Wahrnehmbar</a:t>
              </a:r>
              <a:endParaRPr sz="1400" b="1" i="0" dirty="0">
                <a:latin typeface="Calibri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086600" y="2514600"/>
              <a:ext cx="502920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Textalternativen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Kontrast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Struktur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5F47464C-E37B-C195-A795-55AC8F0C14CE}"/>
              </a:ext>
            </a:extLst>
          </p:cNvPr>
          <p:cNvGrpSpPr/>
          <p:nvPr/>
        </p:nvGrpSpPr>
        <p:grpSpPr>
          <a:xfrm>
            <a:off x="6400800" y="3063240"/>
            <a:ext cx="5715000" cy="594360"/>
            <a:chOff x="6400800" y="3063240"/>
            <a:chExt cx="5715000" cy="594360"/>
          </a:xfrm>
        </p:grpSpPr>
        <p:sp>
          <p:nvSpPr>
            <p:cNvPr id="12" name="Oval 11"/>
            <p:cNvSpPr/>
            <p:nvPr/>
          </p:nvSpPr>
          <p:spPr>
            <a:xfrm>
              <a:off x="6400800" y="3108960"/>
              <a:ext cx="548640" cy="54864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800" b="1" dirty="0">
                  <a:solidFill>
                    <a:srgbClr val="FFFFFF"/>
                  </a:solidFill>
                  <a:latin typeface="Calibri"/>
                </a:rPr>
                <a:t>O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086600" y="3063240"/>
              <a:ext cx="50292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de-DE" sz="1400" b="1" dirty="0"/>
                <a:t>Bedienbar</a:t>
              </a:r>
              <a:endParaRPr sz="1400" b="1" i="0" dirty="0">
                <a:latin typeface="Calibri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86600" y="3383280"/>
              <a:ext cx="502920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Tastatur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Fokus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ausreichend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Zeit.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79923733-59FF-80B7-FE7C-004D77E58DCE}"/>
              </a:ext>
            </a:extLst>
          </p:cNvPr>
          <p:cNvGrpSpPr/>
          <p:nvPr/>
        </p:nvGrpSpPr>
        <p:grpSpPr>
          <a:xfrm>
            <a:off x="6400800" y="3931920"/>
            <a:ext cx="5715000" cy="594360"/>
            <a:chOff x="6400800" y="3931920"/>
            <a:chExt cx="5715000" cy="594360"/>
          </a:xfrm>
        </p:grpSpPr>
        <p:sp>
          <p:nvSpPr>
            <p:cNvPr id="15" name="Oval 14"/>
            <p:cNvSpPr/>
            <p:nvPr/>
          </p:nvSpPr>
          <p:spPr>
            <a:xfrm>
              <a:off x="6400800" y="3977640"/>
              <a:ext cx="548640" cy="54864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800" b="1" dirty="0">
                  <a:solidFill>
                    <a:srgbClr val="FFFFFF"/>
                  </a:solidFill>
                  <a:latin typeface="Calibri"/>
                </a:rPr>
                <a:t>U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86600" y="3931920"/>
              <a:ext cx="50292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de-DE" sz="1400" b="1" dirty="0"/>
                <a:t>Verständlich</a:t>
              </a:r>
              <a:endParaRPr sz="1400" b="1" i="0" dirty="0">
                <a:latin typeface="Calibri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086600" y="4251960"/>
              <a:ext cx="502920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klare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Sprache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Fehler­meldungen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Hilfen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</a:t>
              </a:r>
            </a:p>
          </p:txBody>
        </p:sp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E1239BA-FD2B-0E9D-AF1D-72F141D990E5}"/>
              </a:ext>
            </a:extLst>
          </p:cNvPr>
          <p:cNvGrpSpPr/>
          <p:nvPr/>
        </p:nvGrpSpPr>
        <p:grpSpPr>
          <a:xfrm>
            <a:off x="6400800" y="4800600"/>
            <a:ext cx="5715000" cy="594360"/>
            <a:chOff x="6400800" y="4800600"/>
            <a:chExt cx="5715000" cy="594360"/>
          </a:xfrm>
        </p:grpSpPr>
        <p:sp>
          <p:nvSpPr>
            <p:cNvPr id="18" name="Oval 17"/>
            <p:cNvSpPr/>
            <p:nvPr/>
          </p:nvSpPr>
          <p:spPr>
            <a:xfrm>
              <a:off x="6400800" y="4846320"/>
              <a:ext cx="548640" cy="54864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800" b="1" dirty="0">
                  <a:solidFill>
                    <a:srgbClr val="FFFFFF"/>
                  </a:solidFill>
                  <a:latin typeface="Calibri"/>
                </a:rPr>
                <a:t>R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086600" y="4800600"/>
              <a:ext cx="50292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1" i="0" dirty="0">
                  <a:solidFill>
                    <a:srgbClr val="1F2A36"/>
                  </a:solidFill>
                  <a:latin typeface="Calibri"/>
                </a:rPr>
                <a:t>Robust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086600" y="5120640"/>
              <a:ext cx="502920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semantisches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Markup, ARIA, UI Automation.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1 · Prüfen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Prüfen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>
                <a:solidFill>
                  <a:srgbClr val="C8102E"/>
                </a:solidFill>
                <a:latin typeface="Calibri"/>
              </a:rPr>
              <a:t>Wie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prüfen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? – Drei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sich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ergänzende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Ebenen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71D0249-9228-64A5-A568-3670A57B8196}"/>
              </a:ext>
            </a:extLst>
          </p:cNvPr>
          <p:cNvGrpSpPr/>
          <p:nvPr/>
        </p:nvGrpSpPr>
        <p:grpSpPr>
          <a:xfrm>
            <a:off x="457200" y="1737360"/>
            <a:ext cx="3657600" cy="4572000"/>
            <a:chOff x="457200" y="1737360"/>
            <a:chExt cx="3657600" cy="4572000"/>
          </a:xfrm>
        </p:grpSpPr>
        <p:sp>
          <p:nvSpPr>
            <p:cNvPr id="6" name="Rectangle 5"/>
            <p:cNvSpPr/>
            <p:nvPr/>
          </p:nvSpPr>
          <p:spPr>
            <a:xfrm>
              <a:off x="457200" y="1737360"/>
              <a:ext cx="3657600" cy="457200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457200" y="173736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20" y="2011680"/>
              <a:ext cx="31089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>
                  <a:solidFill>
                    <a:srgbClr val="1F2A36"/>
                  </a:solidFill>
                  <a:latin typeface="Calibri"/>
                </a:rPr>
                <a:t>Mit Tastatur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31520" y="2514600"/>
              <a:ext cx="310896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1">
                  <a:solidFill>
                    <a:srgbClr val="C8102E"/>
                  </a:solidFill>
                  <a:latin typeface="Calibri"/>
                </a:rPr>
                <a:t>Maus weg!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2971800"/>
              <a:ext cx="3108960" cy="1468735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Navigieren mit Ta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b /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Shift+Tab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über die GUI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Fokus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immer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sichtbar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?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Logische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Reihenfolge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?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Alles erreichbar, k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eine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Tastatur­fallen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br>
                <a:rPr lang="de-DE" sz="1200" dirty="0">
                  <a:solidFill>
                    <a:srgbClr val="1F2A36"/>
                  </a:solidFill>
                  <a:latin typeface="Calibri"/>
                </a:rPr>
              </a:b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	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(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Modale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, Custom-Controls).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Enter / Space / Escape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funktionieren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 wie 	erwartet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E71658C-5A31-8134-3703-74B92CE22B1C}"/>
              </a:ext>
            </a:extLst>
          </p:cNvPr>
          <p:cNvGrpSpPr/>
          <p:nvPr/>
        </p:nvGrpSpPr>
        <p:grpSpPr>
          <a:xfrm>
            <a:off x="8092440" y="1737360"/>
            <a:ext cx="3657600" cy="4572000"/>
            <a:chOff x="4361688" y="1737360"/>
            <a:chExt cx="3657600" cy="4572000"/>
          </a:xfrm>
        </p:grpSpPr>
        <p:sp>
          <p:nvSpPr>
            <p:cNvPr id="11" name="Rectangle 10"/>
            <p:cNvSpPr/>
            <p:nvPr/>
          </p:nvSpPr>
          <p:spPr>
            <a:xfrm>
              <a:off x="4361688" y="1737360"/>
              <a:ext cx="3657600" cy="457200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361688" y="173736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636008" y="2011680"/>
              <a:ext cx="31089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>
                  <a:solidFill>
                    <a:srgbClr val="1F2A36"/>
                  </a:solidFill>
                  <a:latin typeface="Calibri"/>
                </a:rPr>
                <a:t>Mit Screenreader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36008" y="2514600"/>
              <a:ext cx="310896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1">
                  <a:solidFill>
                    <a:srgbClr val="C8102E"/>
                  </a:solidFill>
                  <a:latin typeface="Calibri"/>
                </a:rPr>
                <a:t>NVDA + JAWS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36008" y="2971800"/>
              <a:ext cx="3108960" cy="174163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Vorlesen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jedes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interaktiven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Elements: </a:t>
              </a:r>
              <a:br>
                <a:rPr lang="de-DE" sz="1200" dirty="0">
                  <a:solidFill>
                    <a:srgbClr val="1F2A36"/>
                  </a:solidFill>
                  <a:latin typeface="Calibri"/>
                </a:rPr>
              </a:b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	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Name, Rolle, Wert.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Browse-/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Fokus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-Modus (Web)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bzw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. </a:t>
              </a:r>
              <a:endParaRPr lang="de-DE" sz="12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	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Objekt­navigation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testen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Live-Regions,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Statusmeldungen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	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Fehlerausgaben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NVDA Speech-Viewer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, JAWS </a:t>
              </a:r>
              <a:r>
                <a:rPr lang="de-DE" sz="1200" dirty="0" err="1">
                  <a:solidFill>
                    <a:srgbClr val="1F2A36"/>
                  </a:solidFill>
                  <a:latin typeface="Calibri"/>
                </a:rPr>
                <a:t>Braillebetrachter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…</a:t>
              </a:r>
              <a:endParaRPr sz="1200" dirty="0">
                <a:solidFill>
                  <a:srgbClr val="1F2A36"/>
                </a:solidFill>
                <a:latin typeface="Calibri"/>
              </a:endParaRPr>
            </a:p>
          </p:txBody>
        </p:sp>
      </p:grp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1 · Prüfen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5 / 18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FC064692-DBAC-B3B6-AB69-25D9B1FEBD48}"/>
              </a:ext>
            </a:extLst>
          </p:cNvPr>
          <p:cNvGrpSpPr/>
          <p:nvPr/>
        </p:nvGrpSpPr>
        <p:grpSpPr>
          <a:xfrm>
            <a:off x="4267047" y="1737360"/>
            <a:ext cx="3657600" cy="4572000"/>
            <a:chOff x="8266176" y="1737360"/>
            <a:chExt cx="3657600" cy="4572000"/>
          </a:xfrm>
        </p:grpSpPr>
        <p:sp>
          <p:nvSpPr>
            <p:cNvPr id="16" name="Rectangle 15"/>
            <p:cNvSpPr/>
            <p:nvPr/>
          </p:nvSpPr>
          <p:spPr>
            <a:xfrm>
              <a:off x="8266176" y="1737360"/>
              <a:ext cx="3657600" cy="457200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266176" y="173736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540496" y="2011680"/>
              <a:ext cx="31089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>
                  <a:solidFill>
                    <a:srgbClr val="1F2A36"/>
                  </a:solidFill>
                  <a:latin typeface="Calibri"/>
                </a:rPr>
                <a:t>Mit Tools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540496" y="2514600"/>
              <a:ext cx="310896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1" dirty="0" err="1">
                  <a:solidFill>
                    <a:srgbClr val="C8102E"/>
                  </a:solidFill>
                  <a:latin typeface="Calibri"/>
                </a:rPr>
                <a:t>Schnellprüfung</a:t>
              </a:r>
              <a:r>
                <a:rPr sz="1300" b="0" i="1" dirty="0">
                  <a:solidFill>
                    <a:srgbClr val="C8102E"/>
                  </a:solidFill>
                  <a:latin typeface="Calibri"/>
                </a:rPr>
                <a:t> &amp; Reports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540496" y="2971800"/>
              <a:ext cx="3108960" cy="23387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Browser: axe DevTools, WAVE, Lighthouse.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Kontraste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: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Colour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Contrast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Analyser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(CCA).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Windows-Apps: Accessibility Insights for Windows.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PDFs: PAC 2024 / Adobe Pro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Vollprüfung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.</a:t>
              </a:r>
              <a:endParaRPr lang="de-DE" sz="12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lang="de-DE" sz="12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lang="de-DE" sz="1200" dirty="0">
                <a:solidFill>
                  <a:srgbClr val="1F2A36"/>
                </a:solidFill>
                <a:latin typeface="Calibri"/>
              </a:endParaRP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200" b="1" dirty="0">
                  <a:solidFill>
                    <a:srgbClr val="C8102E"/>
                  </a:solidFill>
                </a:rPr>
                <a:t>•  </a:t>
              </a:r>
              <a:r>
                <a:rPr lang="de-DE" sz="1200" dirty="0">
                  <a:solidFill>
                    <a:srgbClr val="1F2A36"/>
                  </a:solidFill>
                </a:rPr>
                <a:t>BIT Inklusiv Tests</a:t>
              </a: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200" b="1" dirty="0">
                  <a:solidFill>
                    <a:srgbClr val="C8102E"/>
                  </a:solidFill>
                </a:rPr>
                <a:t>•  </a:t>
              </a:r>
              <a:r>
                <a:rPr lang="de-DE" sz="1200" dirty="0">
                  <a:solidFill>
                    <a:srgbClr val="1F2A36"/>
                  </a:solidFill>
                </a:rPr>
                <a:t>BITV Test</a:t>
              </a:r>
              <a:endParaRPr sz="120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24" name="TextBox 18">
              <a:extLst>
                <a:ext uri="{FF2B5EF4-FFF2-40B4-BE49-F238E27FC236}">
                  <a16:creationId xmlns:a16="http://schemas.microsoft.com/office/drawing/2014/main" id="{26BFD4B4-C209-FBDC-2A1B-F07D3250F48A}"/>
                </a:ext>
              </a:extLst>
            </p:cNvPr>
            <p:cNvSpPr txBox="1"/>
            <p:nvPr/>
          </p:nvSpPr>
          <p:spPr>
            <a:xfrm>
              <a:off x="8540496" y="4450474"/>
              <a:ext cx="3108960" cy="21653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300" b="0" i="1" dirty="0">
                  <a:solidFill>
                    <a:srgbClr val="C8102E"/>
                  </a:solidFill>
                  <a:latin typeface="Calibri"/>
                </a:rPr>
                <a:t>Vollständige Tests</a:t>
              </a:r>
              <a:endParaRPr sz="1300" b="0" i="1" dirty="0">
                <a:solidFill>
                  <a:srgbClr val="C8102E"/>
                </a:solidFill>
                <a:latin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775007"/>
            <a:ext cx="1828800" cy="102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1" i="0" dirty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219658"/>
            <a:ext cx="8686800" cy="681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Anpassen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3354989"/>
            <a:ext cx="8686800" cy="206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 err="1">
                <a:solidFill>
                  <a:srgbClr val="E9ECEF"/>
                </a:solidFill>
                <a:latin typeface="Calibri"/>
              </a:rPr>
              <a:t>Screenreader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-Anpassungen für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NVDA &amp; JAWS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1D0D7DB-73F1-2705-2B64-93C181635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i="0" dirty="0">
                <a:solidFill>
                  <a:srgbClr val="1F2A36"/>
                </a:solidFill>
                <a:latin typeface="Calibri"/>
              </a:rPr>
              <a:t> - Anpassen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8102E"/>
                </a:solidFill>
                <a:latin typeface="Calibri"/>
              </a:rPr>
              <a:t>Screenreader-Anpassungen · JAWS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(Welt-)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Marktführer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im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Business-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Umfeld</a:t>
            </a:r>
            <a:endParaRPr sz="1400" b="0" i="1" dirty="0">
              <a:solidFill>
                <a:srgbClr val="5A6470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2 · Anpassen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8 / 18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3D5FE9B6-5F71-17FD-60E9-E71702344099}"/>
              </a:ext>
            </a:extLst>
          </p:cNvPr>
          <p:cNvGrpSpPr/>
          <p:nvPr/>
        </p:nvGrpSpPr>
        <p:grpSpPr>
          <a:xfrm>
            <a:off x="6248402" y="2101194"/>
            <a:ext cx="5571265" cy="3802506"/>
            <a:chOff x="6248402" y="2101194"/>
            <a:chExt cx="5571265" cy="3802506"/>
          </a:xfrm>
        </p:grpSpPr>
        <p:sp>
          <p:nvSpPr>
            <p:cNvPr id="9" name="TextBox 8"/>
            <p:cNvSpPr txBox="1"/>
            <p:nvPr/>
          </p:nvSpPr>
          <p:spPr>
            <a:xfrm>
              <a:off x="6248402" y="2101194"/>
              <a:ext cx="5571265" cy="2998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800" b="1" i="0" dirty="0">
                  <a:solidFill>
                    <a:srgbClr val="1F2A36"/>
                  </a:solidFill>
                  <a:latin typeface="Calibri"/>
                </a:rPr>
                <a:t>Entwickeln mit KI-Assistent</a:t>
              </a:r>
              <a:endParaRPr sz="1800" b="1" i="0" dirty="0">
                <a:solidFill>
                  <a:srgbClr val="1F2A36"/>
                </a:solidFill>
                <a:latin typeface="Calibri"/>
              </a:endParaRPr>
            </a:p>
          </p:txBody>
        </p: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4727BC84-16E6-5A16-CA19-097660B3C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48402" y="2558394"/>
              <a:ext cx="5486093" cy="3345306"/>
            </a:xfrm>
            <a:prstGeom prst="rect">
              <a:avLst/>
            </a:prstGeom>
          </p:spPr>
        </p:pic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349788E1-181D-1146-3CA8-6A9993D142D9}"/>
              </a:ext>
            </a:extLst>
          </p:cNvPr>
          <p:cNvGrpSpPr/>
          <p:nvPr/>
        </p:nvGrpSpPr>
        <p:grpSpPr>
          <a:xfrm>
            <a:off x="457200" y="1976288"/>
            <a:ext cx="5486400" cy="2951585"/>
            <a:chOff x="457200" y="1976288"/>
            <a:chExt cx="5486400" cy="2951585"/>
          </a:xfrm>
        </p:grpSpPr>
        <p:sp>
          <p:nvSpPr>
            <p:cNvPr id="10" name="TextBox 9"/>
            <p:cNvSpPr txBox="1"/>
            <p:nvPr/>
          </p:nvSpPr>
          <p:spPr>
            <a:xfrm>
              <a:off x="457200" y="2526831"/>
              <a:ext cx="5486400" cy="240104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300" b="1" dirty="0">
                  <a:solidFill>
                    <a:srgbClr val="C8102E"/>
                  </a:solidFill>
                </a:rPr>
                <a:t>•  </a:t>
              </a:r>
              <a:r>
                <a:rPr lang="de-DE" sz="1300" dirty="0" err="1">
                  <a:solidFill>
                    <a:srgbClr val="1F2A36"/>
                  </a:solidFill>
                </a:rPr>
                <a:t>Skripting</a:t>
              </a:r>
              <a:r>
                <a:rPr lang="de-DE" sz="1300" dirty="0">
                  <a:solidFill>
                    <a:srgbClr val="1F2A36"/>
                  </a:solidFill>
                </a:rPr>
                <a:t> in eigener </a:t>
              </a:r>
              <a:r>
                <a:rPr lang="de-DE" sz="1300" dirty="0" err="1">
                  <a:solidFill>
                    <a:srgbClr val="1F2A36"/>
                  </a:solidFill>
                </a:rPr>
                <a:t>Skripting</a:t>
              </a:r>
              <a:r>
                <a:rPr lang="de-DE" sz="1300" dirty="0">
                  <a:solidFill>
                    <a:srgbClr val="1F2A36"/>
                  </a:solidFill>
                </a:rPr>
                <a:t>-Sprache (JSS-Dateien) für firmenspezifische Anwendungen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JAWS-Cursor / PC-Cursor /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virtuelles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Cursor-Modell</a:t>
              </a: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300" b="1" dirty="0">
                  <a:solidFill>
                    <a:srgbClr val="C8102E"/>
                  </a:solidFill>
                </a:rPr>
                <a:t>•  </a:t>
              </a:r>
              <a:r>
                <a:rPr lang="de-DE" sz="1300" dirty="0">
                  <a:solidFill>
                    <a:srgbClr val="1F2A36"/>
                  </a:solidFill>
                </a:rPr>
                <a:t>Eingebettete OCR für Bild-Texte und gescannte PDFs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Sprechendes Bild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(KI-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Bildbeschreibung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)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seit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JAWS 202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4</a:t>
              </a:r>
              <a:endParaRPr sz="13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lang="de-DE" sz="1300" b="1" dirty="0">
                <a:solidFill>
                  <a:srgbClr val="C8102E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Tipp: Mit NVDA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gegentesten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–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beide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nutzen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zwar v.a. die Accessibility-Schnittstellen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MSAA/UI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A</a:t>
              </a:r>
              <a:r>
                <a:rPr lang="de-DE" sz="1300" dirty="0" err="1">
                  <a:solidFill>
                    <a:srgbClr val="1F2A36"/>
                  </a:solidFill>
                  <a:latin typeface="Calibri"/>
                </a:rPr>
                <a:t>utomation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, aber gehen teilweise etwas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unterschiedlich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 mit den Informationen um und haben andere Architektur und Historie</a:t>
              </a:r>
              <a:endParaRPr sz="130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6" name="TextBox 8">
              <a:extLst>
                <a:ext uri="{FF2B5EF4-FFF2-40B4-BE49-F238E27FC236}">
                  <a16:creationId xmlns:a16="http://schemas.microsoft.com/office/drawing/2014/main" id="{EC8CF758-0603-D56D-CB69-9A5B657D4C27}"/>
                </a:ext>
              </a:extLst>
            </p:cNvPr>
            <p:cNvSpPr txBox="1"/>
            <p:nvPr/>
          </p:nvSpPr>
          <p:spPr>
            <a:xfrm>
              <a:off x="457200" y="1976288"/>
              <a:ext cx="54864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 i="0" dirty="0" err="1">
                  <a:solidFill>
                    <a:srgbClr val="1F2A36"/>
                  </a:solidFill>
                  <a:latin typeface="Calibri"/>
                </a:rPr>
                <a:t>Spezialitäten</a:t>
              </a:r>
              <a:endParaRPr sz="1800" b="1" i="0" dirty="0">
                <a:solidFill>
                  <a:srgbClr val="1F2A36"/>
                </a:solidFill>
                <a:latin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8C106-4324-581C-EB2E-A99ADFD7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364483A3-E1F4-8684-8C05-0146EDAC0BA5}"/>
              </a:ext>
            </a:extLst>
          </p:cNvPr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F2AC4C-E6B6-75C3-5CF9-83A9A6CEDDE4}"/>
              </a:ext>
            </a:extLst>
          </p:cNvPr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i="0" dirty="0">
                <a:solidFill>
                  <a:srgbClr val="1F2A36"/>
                </a:solidFill>
                <a:latin typeface="Calibri"/>
              </a:rPr>
              <a:t> - Anpassen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0D500B-938F-E910-A387-79B728F2202A}"/>
              </a:ext>
            </a:extLst>
          </p:cNvPr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Screenreader-Anpassungen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JAWS</a:t>
            </a:r>
            <a:r>
              <a:rPr lang="de-DE" sz="3000" b="1" i="0" dirty="0">
                <a:solidFill>
                  <a:srgbClr val="C8102E"/>
                </a:solidFill>
                <a:latin typeface="Calibri"/>
              </a:rPr>
              <a:t> – Anpassung mit KI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6DDB07-3B02-9C37-EC52-1C99E98A363A}"/>
              </a:ext>
            </a:extLst>
          </p:cNvPr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324F14-6C05-8A06-A6D6-0118F6385463}"/>
              </a:ext>
            </a:extLst>
          </p:cNvPr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8C2E79-2FF9-6664-6A81-5C059D9EBCF6}"/>
              </a:ext>
            </a:extLst>
          </p:cNvPr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2 · Anpassen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ACA1E6-1B40-B09A-022F-34AE0B88CAE8}"/>
              </a:ext>
            </a:extLst>
          </p:cNvPr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8 / 18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1E4FDAF5-428B-12E1-AE85-F1C16E7E5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06" y="1840576"/>
            <a:ext cx="5563993" cy="146499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EA9D790-E8C9-8121-D6A0-FD0D95B7D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38276"/>
            <a:ext cx="5564300" cy="267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51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Anpassen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8102E"/>
                </a:solidFill>
                <a:latin typeface="Calibri"/>
              </a:rPr>
              <a:t>Screenreader-Anpassungen · NVDA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>
                <a:solidFill>
                  <a:srgbClr val="5A6470"/>
                </a:solidFill>
                <a:latin typeface="Calibri"/>
              </a:rPr>
              <a:t>Open-Source-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Screenreader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, ideal für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Entwickler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-Tests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, Demos und als wachsende Alternative in allen Bereichen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7062245-A3A9-C069-A45A-FF624913B807}"/>
              </a:ext>
            </a:extLst>
          </p:cNvPr>
          <p:cNvGrpSpPr/>
          <p:nvPr/>
        </p:nvGrpSpPr>
        <p:grpSpPr>
          <a:xfrm>
            <a:off x="6355080" y="2103120"/>
            <a:ext cx="5486400" cy="4160520"/>
            <a:chOff x="6355080" y="2103120"/>
            <a:chExt cx="5486400" cy="4160520"/>
          </a:xfrm>
        </p:grpSpPr>
        <p:sp>
          <p:nvSpPr>
            <p:cNvPr id="9" name="TextBox 8"/>
            <p:cNvSpPr txBox="1"/>
            <p:nvPr/>
          </p:nvSpPr>
          <p:spPr>
            <a:xfrm>
              <a:off x="6355080" y="2103120"/>
              <a:ext cx="5486400" cy="2998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 i="0" dirty="0" err="1">
                  <a:solidFill>
                    <a:srgbClr val="1F2A36"/>
                  </a:solidFill>
                  <a:latin typeface="Calibri"/>
                </a:rPr>
                <a:t>Hilfen</a:t>
              </a:r>
              <a:r>
                <a:rPr sz="1800" b="1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800" b="1" i="0" dirty="0">
                  <a:solidFill>
                    <a:srgbClr val="1F2A36"/>
                  </a:solidFill>
                  <a:latin typeface="Calibri"/>
                </a:rPr>
                <a:t>(</a:t>
              </a:r>
              <a:r>
                <a:rPr sz="1800" b="1" i="0" dirty="0">
                  <a:solidFill>
                    <a:srgbClr val="1F2A36"/>
                  </a:solidFill>
                  <a:latin typeface="Calibri"/>
                </a:rPr>
                <a:t>für die Demonstration</a:t>
              </a:r>
              <a:r>
                <a:rPr lang="de-DE" sz="1800" b="1" i="0" dirty="0">
                  <a:solidFill>
                    <a:srgbClr val="1F2A36"/>
                  </a:solidFill>
                  <a:latin typeface="Calibri"/>
                </a:rPr>
                <a:t>)</a:t>
              </a:r>
              <a:endParaRPr sz="1800" b="1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355080" y="2606040"/>
              <a:ext cx="5486400" cy="36576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Speech Viewer (NVDA-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Menü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→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Werkzeuge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→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Sprach­anzeige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) –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Publikum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liest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mit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Eingabe-Hilfe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(NVDA+1):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zeigt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jede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Taste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mit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Funktion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an.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Log-Viewer (NVDA+F1) für Debugging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fehlerhafter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ARIA-Bindings.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Browser-Modus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mit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NVDA+Leertaste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umschalten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Schnelle Navigation: H für Headings, F für Felder, B für Buttons.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Konfigurationsprofile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pro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Anwendung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möglich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.</a:t>
              </a:r>
            </a:p>
          </p:txBody>
        </p:sp>
      </p:grp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2 · Anpassen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7 / 18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412268C-05AD-4A2B-F098-79A9D27868AB}"/>
              </a:ext>
            </a:extLst>
          </p:cNvPr>
          <p:cNvGrpSpPr/>
          <p:nvPr/>
        </p:nvGrpSpPr>
        <p:grpSpPr>
          <a:xfrm>
            <a:off x="457200" y="2120675"/>
            <a:ext cx="5486400" cy="1648664"/>
            <a:chOff x="457200" y="2120675"/>
            <a:chExt cx="5486400" cy="1648664"/>
          </a:xfrm>
        </p:grpSpPr>
        <p:sp>
          <p:nvSpPr>
            <p:cNvPr id="14" name="TextBox 9">
              <a:extLst>
                <a:ext uri="{FF2B5EF4-FFF2-40B4-BE49-F238E27FC236}">
                  <a16:creationId xmlns:a16="http://schemas.microsoft.com/office/drawing/2014/main" id="{4D541A76-B456-9F93-960B-53DB72B534A9}"/>
                </a:ext>
              </a:extLst>
            </p:cNvPr>
            <p:cNvSpPr txBox="1"/>
            <p:nvPr/>
          </p:nvSpPr>
          <p:spPr>
            <a:xfrm>
              <a:off x="457200" y="2671218"/>
              <a:ext cx="5486400" cy="10981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300" b="1" dirty="0">
                  <a:solidFill>
                    <a:srgbClr val="C8102E"/>
                  </a:solidFill>
                </a:rPr>
                <a:t>•  </a:t>
              </a:r>
              <a:r>
                <a:rPr lang="de-DE" sz="1300" dirty="0" err="1">
                  <a:solidFill>
                    <a:srgbClr val="1F2A36"/>
                  </a:solidFill>
                </a:rPr>
                <a:t>Skripting</a:t>
              </a:r>
              <a:r>
                <a:rPr lang="de-DE" sz="1300" dirty="0">
                  <a:solidFill>
                    <a:srgbClr val="1F2A36"/>
                  </a:solidFill>
                </a:rPr>
                <a:t>/Plugin-Entwicklung in Python für firmenspezifische Anwendungen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JAWS-Cursor / PC-Cursor /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virtuelles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Cursor-Modell</a:t>
              </a: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300" b="1" dirty="0">
                  <a:solidFill>
                    <a:srgbClr val="C8102E"/>
                  </a:solidFill>
                </a:rPr>
                <a:t>•  </a:t>
              </a:r>
              <a:r>
                <a:rPr lang="de-DE" sz="1300" dirty="0">
                  <a:solidFill>
                    <a:srgbClr val="1F2A36"/>
                  </a:solidFill>
                </a:rPr>
                <a:t>Viele Plugins für OCR, KI-Beschreibung …</a:t>
              </a:r>
              <a:endParaRPr sz="13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lang="de-DE" sz="1300" b="1" dirty="0">
                <a:solidFill>
                  <a:srgbClr val="C8102E"/>
                </a:solidFill>
                <a:latin typeface="Calibri"/>
              </a:endParaRPr>
            </a:p>
          </p:txBody>
        </p:sp>
        <p:sp>
          <p:nvSpPr>
            <p:cNvPr id="15" name="TextBox 8">
              <a:extLst>
                <a:ext uri="{FF2B5EF4-FFF2-40B4-BE49-F238E27FC236}">
                  <a16:creationId xmlns:a16="http://schemas.microsoft.com/office/drawing/2014/main" id="{8AA0D3D3-972A-E156-9150-99A4BD84628B}"/>
                </a:ext>
              </a:extLst>
            </p:cNvPr>
            <p:cNvSpPr txBox="1"/>
            <p:nvPr/>
          </p:nvSpPr>
          <p:spPr>
            <a:xfrm>
              <a:off x="457200" y="2120675"/>
              <a:ext cx="54864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 i="0" dirty="0" err="1">
                  <a:solidFill>
                    <a:srgbClr val="1F2A36"/>
                  </a:solidFill>
                  <a:latin typeface="Calibri"/>
                </a:rPr>
                <a:t>Spezialitäten</a:t>
              </a:r>
              <a:endParaRPr sz="1800" b="1" i="0" dirty="0">
                <a:solidFill>
                  <a:srgbClr val="1F2A36"/>
                </a:solidFill>
                <a:latin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775007"/>
            <a:ext cx="1828800" cy="102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1" i="0" dirty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219658"/>
            <a:ext cx="8686800" cy="681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Entwickeln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3422075"/>
            <a:ext cx="8686800" cy="68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>
                <a:solidFill>
                  <a:srgbClr val="E9ECEF"/>
                </a:solidFill>
                <a:latin typeface="Calibri"/>
              </a:rPr>
              <a:t>Barrierefreie Anwendungen 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am Beispiel einer </a:t>
            </a:r>
            <a:r>
              <a:rPr lang="de-DE" sz="2000" i="1" dirty="0">
                <a:solidFill>
                  <a:srgbClr val="E9ECEF"/>
                </a:solidFill>
                <a:latin typeface="Calibri"/>
              </a:rPr>
              <a:t>We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b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-App</a:t>
            </a:r>
            <a:r>
              <a:rPr lang="de-DE" sz="2000" i="1" dirty="0">
                <a:solidFill>
                  <a:srgbClr val="E9ECEF"/>
                </a:solidFill>
                <a:latin typeface="Calibri"/>
              </a:rPr>
              <a:t> und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 </a:t>
            </a:r>
            <a:br>
              <a:rPr lang="de-DE" sz="2000" b="0" i="1" dirty="0">
                <a:solidFill>
                  <a:srgbClr val="E9ECEF"/>
                </a:solidFill>
                <a:latin typeface="Calibri"/>
              </a:rPr>
            </a:b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zwei klassischen Windows Anwendungen (Python und 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WPF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)</a:t>
            </a:r>
            <a:endParaRPr sz="2000" b="0" i="1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62ED20C-A46A-5DF9-99E9-AB1FB0610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Barrierefrei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entwickeln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–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Leitplanken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 err="1">
                <a:solidFill>
                  <a:srgbClr val="5A6470"/>
                </a:solidFill>
                <a:latin typeface="Calibri"/>
              </a:rPr>
              <a:t>Plattform­unabhängige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Grundregeln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, die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sich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auf Web, 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Python GUIs, 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WPF,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WinUI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und 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weitere (MAUI…)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gleichermaßen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anwenden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lassen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979CBDB-7B77-7FF5-A1A5-2B9547946268}"/>
              </a:ext>
            </a:extLst>
          </p:cNvPr>
          <p:cNvGrpSpPr/>
          <p:nvPr/>
        </p:nvGrpSpPr>
        <p:grpSpPr>
          <a:xfrm>
            <a:off x="457200" y="2286000"/>
            <a:ext cx="5486400" cy="823772"/>
            <a:chOff x="457200" y="2286000"/>
            <a:chExt cx="5486400" cy="823772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FA39C809-D330-1C2D-14C4-E92C1B031076}"/>
                </a:ext>
              </a:extLst>
            </p:cNvPr>
            <p:cNvGrpSpPr/>
            <p:nvPr/>
          </p:nvGrpSpPr>
          <p:grpSpPr>
            <a:xfrm>
              <a:off x="457200" y="2286000"/>
              <a:ext cx="5486400" cy="457200"/>
              <a:chOff x="457200" y="2286000"/>
              <a:chExt cx="5486400" cy="457200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457200" y="2331720"/>
                <a:ext cx="411480" cy="411480"/>
              </a:xfrm>
              <a:prstGeom prst="ellipse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sz="1600" b="1" dirty="0">
                    <a:solidFill>
                      <a:srgbClr val="FFFFFF"/>
                    </a:solidFill>
                    <a:latin typeface="Calibri"/>
                  </a:rPr>
                  <a:t>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1005840" y="2286000"/>
                <a:ext cx="4937760" cy="4114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15000"/>
                  </a:lnSpc>
                </a:pPr>
                <a:r>
                  <a:rPr sz="1600" b="1" i="0">
                    <a:solidFill>
                      <a:srgbClr val="1F2A36"/>
                    </a:solidFill>
                    <a:latin typeface="Calibri"/>
                  </a:rPr>
                  <a:t>Name, Rolle, Wert</a:t>
                </a:r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1005840" y="2697480"/>
              <a:ext cx="4937760" cy="4122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Jedes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interaktive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Element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braucht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einen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zugänglichen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Namen (was), </a:t>
              </a:r>
              <a:br>
                <a:rPr lang="de-DE" sz="1200" b="0" i="0" dirty="0">
                  <a:solidFill>
                    <a:srgbClr val="5A6470"/>
                  </a:solidFill>
                  <a:latin typeface="Calibri"/>
                </a:rPr>
              </a:b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eine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Rolle (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welche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Art) und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einen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Wert (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Zustand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).</a:t>
              </a:r>
            </a:p>
          </p:txBody>
        </p:sp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57A59958-EEA8-7566-576B-3A5604850887}"/>
              </a:ext>
            </a:extLst>
          </p:cNvPr>
          <p:cNvGrpSpPr/>
          <p:nvPr/>
        </p:nvGrpSpPr>
        <p:grpSpPr>
          <a:xfrm>
            <a:off x="6309360" y="2286000"/>
            <a:ext cx="5486400" cy="1234440"/>
            <a:chOff x="6309360" y="2286000"/>
            <a:chExt cx="5486400" cy="1234440"/>
          </a:xfrm>
        </p:grpSpPr>
        <p:sp>
          <p:nvSpPr>
            <p:cNvPr id="10" name="Oval 9"/>
            <p:cNvSpPr/>
            <p:nvPr/>
          </p:nvSpPr>
          <p:spPr>
            <a:xfrm>
              <a:off x="6309360" y="2331720"/>
              <a:ext cx="411480" cy="41148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2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0" y="228600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>
                  <a:solidFill>
                    <a:srgbClr val="1F2A36"/>
                  </a:solidFill>
                  <a:latin typeface="Calibri"/>
                </a:rPr>
                <a:t>Tastatur zuerst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858000" y="2697480"/>
              <a:ext cx="49377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Tab-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Reihenfolge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logisch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Fokus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immer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sichtbar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keine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Maus-only-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Interaktionen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 Disabled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nur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wenn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Inhalt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wirklich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nicht relevant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ist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CC1BD6F-1092-6217-B67F-AD0E64F8D3E3}"/>
              </a:ext>
            </a:extLst>
          </p:cNvPr>
          <p:cNvGrpSpPr/>
          <p:nvPr/>
        </p:nvGrpSpPr>
        <p:grpSpPr>
          <a:xfrm>
            <a:off x="457200" y="3611880"/>
            <a:ext cx="5486400" cy="1234440"/>
            <a:chOff x="457200" y="3611880"/>
            <a:chExt cx="5486400" cy="1234440"/>
          </a:xfrm>
        </p:grpSpPr>
        <p:sp>
          <p:nvSpPr>
            <p:cNvPr id="13" name="Oval 12"/>
            <p:cNvSpPr/>
            <p:nvPr/>
          </p:nvSpPr>
          <p:spPr>
            <a:xfrm>
              <a:off x="457200" y="3657600"/>
              <a:ext cx="411480" cy="41148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361188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 dirty="0" err="1">
                  <a:solidFill>
                    <a:srgbClr val="1F2A36"/>
                  </a:solidFill>
                  <a:latin typeface="Calibri"/>
                </a:rPr>
                <a:t>Struktur</a:t>
              </a:r>
              <a:r>
                <a:rPr sz="1600" b="1" i="0" dirty="0">
                  <a:solidFill>
                    <a:srgbClr val="1F2A36"/>
                  </a:solidFill>
                  <a:latin typeface="Calibri"/>
                </a:rPr>
                <a:t> und </a:t>
              </a:r>
              <a:r>
                <a:rPr sz="1600" b="1" i="0" dirty="0" err="1">
                  <a:solidFill>
                    <a:srgbClr val="1F2A36"/>
                  </a:solidFill>
                  <a:latin typeface="Calibri"/>
                </a:rPr>
                <a:t>Semantik</a:t>
              </a:r>
              <a:endParaRPr sz="1600" b="1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005840" y="4023360"/>
              <a:ext cx="49377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Überschriften-Hierarchien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Landmarks (header, main, nav),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Tabellen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mit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echten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Headern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– nicht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nur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optisch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nachbauen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A137476A-99BC-FB1F-C12D-37C69B38103C}"/>
              </a:ext>
            </a:extLst>
          </p:cNvPr>
          <p:cNvGrpSpPr/>
          <p:nvPr/>
        </p:nvGrpSpPr>
        <p:grpSpPr>
          <a:xfrm>
            <a:off x="6309360" y="3611880"/>
            <a:ext cx="5486400" cy="1234440"/>
            <a:chOff x="6309360" y="3611880"/>
            <a:chExt cx="5486400" cy="1234440"/>
          </a:xfrm>
        </p:grpSpPr>
        <p:sp>
          <p:nvSpPr>
            <p:cNvPr id="16" name="Oval 15"/>
            <p:cNvSpPr/>
            <p:nvPr/>
          </p:nvSpPr>
          <p:spPr>
            <a:xfrm>
              <a:off x="6309360" y="3657600"/>
              <a:ext cx="411480" cy="41148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4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858000" y="361188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 dirty="0" err="1">
                  <a:solidFill>
                    <a:srgbClr val="1F2A36"/>
                  </a:solidFill>
                  <a:latin typeface="Calibri"/>
                </a:rPr>
                <a:t>Kontrast</a:t>
              </a:r>
              <a:r>
                <a:rPr sz="1600" b="1" i="0" dirty="0">
                  <a:solidFill>
                    <a:srgbClr val="1F2A36"/>
                  </a:solidFill>
                  <a:latin typeface="Calibri"/>
                </a:rPr>
                <a:t> und </a:t>
              </a:r>
              <a:r>
                <a:rPr sz="1600" b="1" i="0" dirty="0" err="1">
                  <a:solidFill>
                    <a:srgbClr val="1F2A36"/>
                  </a:solidFill>
                  <a:latin typeface="Calibri"/>
                </a:rPr>
                <a:t>Größe</a:t>
              </a:r>
              <a:endParaRPr sz="1600" b="1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858000" y="4023360"/>
              <a:ext cx="49377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WCAG 2.2 AA: 4,5:1 für Text, 3:1 für UI-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Komponenten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Mindest-Klickfläche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24 × 24 CSS-Pixel.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D7E7492F-FCB9-2C40-A7C5-98B07A320E8A}"/>
              </a:ext>
            </a:extLst>
          </p:cNvPr>
          <p:cNvGrpSpPr/>
          <p:nvPr/>
        </p:nvGrpSpPr>
        <p:grpSpPr>
          <a:xfrm>
            <a:off x="457200" y="4937760"/>
            <a:ext cx="5486400" cy="1234440"/>
            <a:chOff x="457200" y="4937760"/>
            <a:chExt cx="5486400" cy="1234440"/>
          </a:xfrm>
        </p:grpSpPr>
        <p:sp>
          <p:nvSpPr>
            <p:cNvPr id="19" name="Oval 18"/>
            <p:cNvSpPr/>
            <p:nvPr/>
          </p:nvSpPr>
          <p:spPr>
            <a:xfrm>
              <a:off x="457200" y="4983480"/>
              <a:ext cx="411480" cy="41148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5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05840" y="493776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>
                  <a:solidFill>
                    <a:srgbClr val="1F2A36"/>
                  </a:solidFill>
                  <a:latin typeface="Calibri"/>
                </a:rPr>
                <a:t>Status­meldungen ansprechen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05840" y="5349240"/>
              <a:ext cx="49377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Erfolgs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- und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Fehlermeldungen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über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Live-Regions /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AutomationProperty.LiveSetting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bekanntgeben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</a:t>
              </a:r>
            </a:p>
          </p:txBody>
        </p:sp>
      </p:grp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WPF (.NET 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6470"/>
                </a:solidFill>
                <a:latin typeface="Calibri"/>
              </a:rPr>
              <a:t>Klassische Desktop-Apps – über UI Automation an NVDA/JAWS angebunden.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4D0352C7-D443-9BA5-971D-2E5CE1B41FA9}"/>
              </a:ext>
            </a:extLst>
          </p:cNvPr>
          <p:cNvGrpSpPr/>
          <p:nvPr/>
        </p:nvGrpSpPr>
        <p:grpSpPr>
          <a:xfrm>
            <a:off x="457200" y="2103120"/>
            <a:ext cx="5486400" cy="4297680"/>
            <a:chOff x="457200" y="2103120"/>
            <a:chExt cx="5486400" cy="4297680"/>
          </a:xfrm>
        </p:grpSpPr>
        <p:sp>
          <p:nvSpPr>
            <p:cNvPr id="7" name="TextBox 6"/>
            <p:cNvSpPr txBox="1"/>
            <p:nvPr/>
          </p:nvSpPr>
          <p:spPr>
            <a:xfrm>
              <a:off x="457200" y="210312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>
                  <a:solidFill>
                    <a:srgbClr val="C8102E"/>
                  </a:solidFill>
                  <a:latin typeface="Calibri"/>
                </a:rPr>
                <a:t>Barriere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246888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 i="1">
                  <a:solidFill>
                    <a:srgbClr val="5A6470"/>
                  </a:solidFill>
                  <a:latin typeface="Calibri"/>
                </a:rPr>
                <a:t>Unbeschriftete TextBox, IsEnabled=False entzieht den Fokus, kein Name.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" y="2880360"/>
              <a:ext cx="5486400" cy="3520440"/>
            </a:xfrm>
            <a:prstGeom prst="rect">
              <a:avLst/>
            </a:prstGeom>
            <a:solidFill>
              <a:srgbClr val="1F2A3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40080" y="3017520"/>
              <a:ext cx="5120640" cy="3337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&lt;TextBox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&lt;TextBox Text="K-4711" IsEnabled="False"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&lt;Border Focusable="True"&gt;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&lt;!-- Balken-Canvas --&gt;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&lt;/Border&gt;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&lt;Button Foreground="#CCC" Background="White"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      Content="Speichern"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&lt;Button&gt;&lt;Path … /&gt;&lt;/Button&gt;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D3692C60-EBD1-4E7C-F26D-C522BCFEFB45}"/>
              </a:ext>
            </a:extLst>
          </p:cNvPr>
          <p:cNvGrpSpPr/>
          <p:nvPr/>
        </p:nvGrpSpPr>
        <p:grpSpPr>
          <a:xfrm>
            <a:off x="6217920" y="2103120"/>
            <a:ext cx="5486400" cy="4297680"/>
            <a:chOff x="6217920" y="2103120"/>
            <a:chExt cx="5486400" cy="4297680"/>
          </a:xfrm>
        </p:grpSpPr>
        <p:sp>
          <p:nvSpPr>
            <p:cNvPr id="11" name="TextBox 10"/>
            <p:cNvSpPr txBox="1"/>
            <p:nvPr/>
          </p:nvSpPr>
          <p:spPr>
            <a:xfrm>
              <a:off x="6217920" y="210312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>
                  <a:solidFill>
                    <a:srgbClr val="2E7D32"/>
                  </a:solidFill>
                  <a:latin typeface="Calibri"/>
                </a:rPr>
                <a:t>Lösung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217920" y="246888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 i="1">
                  <a:solidFill>
                    <a:srgbClr val="5A6470"/>
                  </a:solidFill>
                  <a:latin typeface="Calibri"/>
                </a:rPr>
                <a:t>Label.Target + AccessText, AutomationProperties.LabeledBy, IsReadOnly.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17920" y="2880360"/>
              <a:ext cx="5486400" cy="3520440"/>
            </a:xfrm>
            <a:prstGeom prst="rect">
              <a:avLst/>
            </a:prstGeom>
            <a:solidFill>
              <a:srgbClr val="1F2A3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00800" y="3017520"/>
              <a:ext cx="5120640" cy="3337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&lt;Label x:Name="LblName" Target="{Binding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ElementName=TxtName}"&gt;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&lt;AccessText Text="_Vor- und Nachname" /&gt;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&lt;/Label&gt;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&lt;TextBox x:Name="TxtName"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AutomationProperties.LabeledBy="{Binding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  ElementName=LblName}"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&lt;TextBox Text="K-4711" IsReadOnly="True"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&lt;Border Focusable="True"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AutomationProperties.Name="Umsätze Q1-Q5"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AutomationProperties.HelpText="Q1 30, …" /&gt;</a:t>
              </a:r>
            </a:p>
          </p:txBody>
        </p:sp>
      </p:grp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Web (</a:t>
            </a:r>
            <a:r>
              <a:rPr lang="de-DE" sz="3000" b="1" i="0" dirty="0" err="1">
                <a:solidFill>
                  <a:srgbClr val="C8102E"/>
                </a:solidFill>
                <a:latin typeface="Calibri"/>
              </a:rPr>
              <a:t>ReactJS</a:t>
            </a:r>
            <a:r>
              <a:rPr lang="de-DE" sz="3000" b="1" i="0" dirty="0">
                <a:solidFill>
                  <a:srgbClr val="C8102E"/>
                </a:solidFill>
                <a:latin typeface="Calibri"/>
              </a:rPr>
              <a:t> + Bootstrap / 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Blazor Server)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>
                <a:solidFill>
                  <a:srgbClr val="5A6470"/>
                </a:solidFill>
                <a:latin typeface="Calibri"/>
              </a:rPr>
              <a:t>Standard-HTML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mit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ARIA –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funktioniert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in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jedem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Browser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mit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jedem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Screenreader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982DA8E6-A792-BC41-F166-9AFCF35A93BF}"/>
              </a:ext>
            </a:extLst>
          </p:cNvPr>
          <p:cNvGrpSpPr/>
          <p:nvPr/>
        </p:nvGrpSpPr>
        <p:grpSpPr>
          <a:xfrm>
            <a:off x="457200" y="2103120"/>
            <a:ext cx="5486400" cy="4297680"/>
            <a:chOff x="457200" y="2103120"/>
            <a:chExt cx="5486400" cy="4297680"/>
          </a:xfrm>
        </p:grpSpPr>
        <p:sp>
          <p:nvSpPr>
            <p:cNvPr id="7" name="TextBox 6"/>
            <p:cNvSpPr txBox="1"/>
            <p:nvPr/>
          </p:nvSpPr>
          <p:spPr>
            <a:xfrm>
              <a:off x="457200" y="210312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 dirty="0">
                  <a:solidFill>
                    <a:srgbClr val="C8102E"/>
                  </a:solidFill>
                  <a:latin typeface="Calibri"/>
                </a:rPr>
                <a:t>Barriere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246888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 i="1">
                  <a:solidFill>
                    <a:srgbClr val="5A6470"/>
                  </a:solidFill>
                  <a:latin typeface="Calibri"/>
                </a:rPr>
                <a:t>Unbeschriftet, disabled, ohne Rolle/Name, kontrastarm, ohne Label.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" y="2880360"/>
              <a:ext cx="5486400" cy="3520440"/>
            </a:xfrm>
            <a:prstGeom prst="rect">
              <a:avLst/>
            </a:prstGeom>
            <a:solidFill>
              <a:srgbClr val="1F2A3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40080" y="3017520"/>
              <a:ext cx="5120640" cy="3337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&lt;input type="text"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&lt;input type="text" value="K-4711" disabled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&lt;div class="chart" tabindex="0"&gt;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&lt;svg&gt;…Balken…&lt;/svg&gt;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&lt;/div&gt;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&lt;button style="color:#CCC"&gt;Speichern&lt;/button&gt;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&lt;button&gt;&lt;svg&gt;…Müll-Icon…&lt;/svg&gt;&lt;/button&gt;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70C89FC5-1304-3537-29B9-EA9C3DEB786F}"/>
              </a:ext>
            </a:extLst>
          </p:cNvPr>
          <p:cNvGrpSpPr/>
          <p:nvPr/>
        </p:nvGrpSpPr>
        <p:grpSpPr>
          <a:xfrm>
            <a:off x="6217920" y="2103120"/>
            <a:ext cx="5486400" cy="4297680"/>
            <a:chOff x="6217920" y="2103120"/>
            <a:chExt cx="5486400" cy="4297680"/>
          </a:xfrm>
        </p:grpSpPr>
        <p:sp>
          <p:nvSpPr>
            <p:cNvPr id="11" name="TextBox 10"/>
            <p:cNvSpPr txBox="1"/>
            <p:nvPr/>
          </p:nvSpPr>
          <p:spPr>
            <a:xfrm>
              <a:off x="6217920" y="210312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 dirty="0" err="1">
                  <a:solidFill>
                    <a:srgbClr val="2E7D32"/>
                  </a:solidFill>
                  <a:latin typeface="Calibri"/>
                </a:rPr>
                <a:t>Lösung</a:t>
              </a:r>
              <a:endParaRPr sz="1600" b="1" i="0" dirty="0">
                <a:solidFill>
                  <a:srgbClr val="2E7D32"/>
                </a:solidFill>
                <a:latin typeface="Calibri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217920" y="246888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 i="1">
                  <a:solidFill>
                    <a:srgbClr val="5A6470"/>
                  </a:solidFill>
                  <a:latin typeface="Calibri"/>
                </a:rPr>
                <a:t>Label/for, readonly, role="img" + aria-*, ausreichender Kontrast, aria-label.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17920" y="2880360"/>
              <a:ext cx="5486400" cy="3520440"/>
            </a:xfrm>
            <a:prstGeom prst="rect">
              <a:avLst/>
            </a:prstGeom>
            <a:solidFill>
              <a:srgbClr val="1F2A3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00800" y="3017520"/>
              <a:ext cx="5120640" cy="3337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&lt;label for="name"&gt;Vor- und 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Nachname</a:t>
              </a: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  &lt;input id="name" type="text" /&gt;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&lt;/label&gt;</a:t>
              </a:r>
            </a:p>
            <a:p>
              <a:pPr algn="l">
                <a:lnSpc>
                  <a:spcPct val="120000"/>
                </a:lnSpc>
              </a:pP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&lt;input value="K-4711" 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readonly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 /&gt;</a:t>
              </a:r>
            </a:p>
            <a:p>
              <a:pPr algn="l">
                <a:lnSpc>
                  <a:spcPct val="120000"/>
                </a:lnSpc>
              </a:pP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&lt;div role="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img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" 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tabindex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="0"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     aria-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labelledby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="t" aria-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describedby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="d"&gt;…&lt;/div&gt;</a:t>
              </a:r>
            </a:p>
            <a:p>
              <a:pPr algn="l">
                <a:lnSpc>
                  <a:spcPct val="120000"/>
                </a:lnSpc>
              </a:pP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&lt;button class="primary"&gt;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Speichern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&lt;/button&gt;</a:t>
              </a:r>
            </a:p>
            <a:p>
              <a:pPr algn="l">
                <a:lnSpc>
                  <a:spcPct val="120000"/>
                </a:lnSpc>
              </a:pP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&lt;button aria-label="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Eintrag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 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löschen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"&gt;…&lt;/button&gt;</a:t>
              </a:r>
            </a:p>
          </p:txBody>
        </p:sp>
      </p:grp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Plattformen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&amp;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Barrierefreiheits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-APIs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2286000" cy="50292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02996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920240"/>
            <a:ext cx="2743200" cy="50292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360" y="202996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API-Schicht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920240"/>
            <a:ext cx="6400800" cy="50292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23560" y="2029968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Wichtigste Konstrukte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B732C92D-C7DF-59B5-AFD9-5B572F7B31C1}"/>
              </a:ext>
            </a:extLst>
          </p:cNvPr>
          <p:cNvGrpSpPr/>
          <p:nvPr/>
        </p:nvGrpSpPr>
        <p:grpSpPr>
          <a:xfrm>
            <a:off x="457200" y="2423160"/>
            <a:ext cx="11292840" cy="868680"/>
            <a:chOff x="457200" y="2423160"/>
            <a:chExt cx="11292840" cy="868680"/>
          </a:xfrm>
        </p:grpSpPr>
        <p:sp>
          <p:nvSpPr>
            <p:cNvPr id="12" name="Rectangle 11"/>
            <p:cNvSpPr/>
            <p:nvPr/>
          </p:nvSpPr>
          <p:spPr>
            <a:xfrm>
              <a:off x="457200" y="2423160"/>
              <a:ext cx="2286000" cy="8686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880360" y="2532888"/>
              <a:ext cx="24688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ARIA + WAI-ARIA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623560" y="2532888"/>
              <a:ext cx="61264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&lt;label for&gt;, role="…", aria-label, aria-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labelledby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aria-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describedby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semantische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HTML-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Elemente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4359" y="2532888"/>
              <a:ext cx="2102457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Web (</a:t>
              </a:r>
              <a:r>
                <a:rPr lang="de-DE" sz="1200" b="0" i="0" dirty="0">
                  <a:solidFill>
                    <a:srgbClr val="1F2A36"/>
                  </a:solidFill>
                  <a:latin typeface="Calibri"/>
                </a:rPr>
                <a:t>React / Bootstrap, 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Blazor</a:t>
              </a:r>
              <a:r>
                <a:rPr lang="de-DE" sz="1200" b="0" i="0" dirty="0">
                  <a:solidFill>
                    <a:srgbClr val="1F2A36"/>
                  </a:solidFill>
                  <a:latin typeface="Calibri"/>
                </a:rPr>
                <a:t>…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)</a:t>
              </a:r>
            </a:p>
          </p:txBody>
        </p:sp>
      </p:grpSp>
      <p:sp>
        <p:nvSpPr>
          <p:cNvPr id="20" name="Rectangle 19"/>
          <p:cNvSpPr/>
          <p:nvPr/>
        </p:nvSpPr>
        <p:spPr>
          <a:xfrm>
            <a:off x="2743200" y="3291840"/>
            <a:ext cx="27432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0" y="3291840"/>
            <a:ext cx="64008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4160520"/>
            <a:ext cx="2286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0" y="416052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0" y="4160520"/>
            <a:ext cx="64008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9D59278B-58C8-89C8-76F4-0BE46B7E13CB}"/>
              </a:ext>
            </a:extLst>
          </p:cNvPr>
          <p:cNvGrpSpPr/>
          <p:nvPr/>
        </p:nvGrpSpPr>
        <p:grpSpPr>
          <a:xfrm>
            <a:off x="594360" y="4270248"/>
            <a:ext cx="11155680" cy="731520"/>
            <a:chOff x="594360" y="4270248"/>
            <a:chExt cx="11155680" cy="731520"/>
          </a:xfrm>
        </p:grpSpPr>
        <p:sp>
          <p:nvSpPr>
            <p:cNvPr id="25" name="TextBox 24"/>
            <p:cNvSpPr txBox="1"/>
            <p:nvPr/>
          </p:nvSpPr>
          <p:spPr>
            <a:xfrm>
              <a:off x="594360" y="4270248"/>
              <a:ext cx="20116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WinUI 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80360" y="4270248"/>
              <a:ext cx="24688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>
                  <a:solidFill>
                    <a:srgbClr val="1F2A36"/>
                  </a:solidFill>
                  <a:latin typeface="Calibri"/>
                </a:rPr>
                <a:t>UI Automation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623560" y="4270248"/>
              <a:ext cx="61264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>
                  <a:solidFill>
                    <a:srgbClr val="1F2A36"/>
                  </a:solidFill>
                  <a:latin typeface="Calibri"/>
                </a:rPr>
                <a:t>AutomationProperties.* (analog WPF), TextBox.Header, ToolTipService.ToolTip, NavigationView-Semantik</a:t>
              </a:r>
            </a:p>
          </p:txBody>
        </p:sp>
      </p:grpSp>
      <p:sp>
        <p:nvSpPr>
          <p:cNvPr id="30" name="Rectangle 29"/>
          <p:cNvSpPr/>
          <p:nvPr/>
        </p:nvSpPr>
        <p:spPr>
          <a:xfrm>
            <a:off x="457200" y="5029200"/>
            <a:ext cx="22860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0" y="5029200"/>
            <a:ext cx="27432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0" y="5029200"/>
            <a:ext cx="64008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2AE1E031-3B64-F64C-2721-389DB7FC8351}"/>
              </a:ext>
            </a:extLst>
          </p:cNvPr>
          <p:cNvGrpSpPr/>
          <p:nvPr/>
        </p:nvGrpSpPr>
        <p:grpSpPr>
          <a:xfrm>
            <a:off x="594360" y="5138928"/>
            <a:ext cx="11155680" cy="731520"/>
            <a:chOff x="594360" y="5138928"/>
            <a:chExt cx="11155680" cy="731520"/>
          </a:xfrm>
        </p:grpSpPr>
        <p:sp>
          <p:nvSpPr>
            <p:cNvPr id="31" name="TextBox 30"/>
            <p:cNvSpPr txBox="1"/>
            <p:nvPr/>
          </p:nvSpPr>
          <p:spPr>
            <a:xfrm>
              <a:off x="594360" y="5138928"/>
              <a:ext cx="201168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de-DE" sz="1200" dirty="0">
                  <a:solidFill>
                    <a:srgbClr val="1F2A36"/>
                  </a:solidFill>
                </a:rPr>
                <a:t>Andere Plattformen wie MAUI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880360" y="5138928"/>
              <a:ext cx="24688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Plattform-Brücken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zu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UIA,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AccessibilityNodeInfo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UIAccessibility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623560" y="5138928"/>
              <a:ext cx="61264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SemanticProperties.Description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/ .Hint / .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HeadingLevel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SemanticScreenReader.Announce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 dirty="0" err="1">
                <a:solidFill>
                  <a:srgbClr val="5A6470"/>
                </a:solidFill>
                <a:latin typeface="Calibri"/>
              </a:rPr>
              <a:t>Gemeinsamer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Nenner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: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jede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Plattform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bietet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einen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Mechanismus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,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einem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Control Name, Rolle und Wert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zuzuweisen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12 / 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91778"/>
            <a:ext cx="22860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75C91027-8454-1013-5069-2C422AD47F17}"/>
              </a:ext>
            </a:extLst>
          </p:cNvPr>
          <p:cNvGrpSpPr/>
          <p:nvPr/>
        </p:nvGrpSpPr>
        <p:grpSpPr>
          <a:xfrm>
            <a:off x="594360" y="3401568"/>
            <a:ext cx="11155680" cy="731520"/>
            <a:chOff x="594360" y="3401568"/>
            <a:chExt cx="11155680" cy="731520"/>
          </a:xfrm>
        </p:grpSpPr>
        <p:sp>
          <p:nvSpPr>
            <p:cNvPr id="21" name="TextBox 20"/>
            <p:cNvSpPr txBox="1"/>
            <p:nvPr/>
          </p:nvSpPr>
          <p:spPr>
            <a:xfrm>
              <a:off x="2880360" y="3401568"/>
              <a:ext cx="24688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>
                  <a:solidFill>
                    <a:srgbClr val="1F2A36"/>
                  </a:solidFill>
                  <a:latin typeface="Calibri"/>
                </a:rPr>
                <a:t>MSAA + UI Automation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623560" y="3401568"/>
              <a:ext cx="61264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AutomationProperties.Name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/ .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HelpText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/ .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LabeledBy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Label-Target +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AccessText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IsReadOnly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statt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IsEnabled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4360" y="3401568"/>
              <a:ext cx="201168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WPF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Fünf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typische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Barrieren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– und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ihre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Lösung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 err="1">
                <a:solidFill>
                  <a:srgbClr val="5A6470"/>
                </a:solidFill>
                <a:latin typeface="Calibri"/>
              </a:rPr>
              <a:t>Diese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fünf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Fälle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sind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in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allen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Beispiel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-Apps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identisch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umgesetzt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457200" cy="4572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274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965960"/>
            <a:ext cx="4572000" cy="4572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057400"/>
            <a:ext cx="4389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Barriere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965960"/>
            <a:ext cx="6400800" cy="4572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23560" y="2057400"/>
            <a:ext cx="62179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Lösung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23160"/>
            <a:ext cx="4572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42316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0" y="2423160"/>
            <a:ext cx="6400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2CDE3661-3D70-66E5-47EA-D95E38E1976B}"/>
              </a:ext>
            </a:extLst>
          </p:cNvPr>
          <p:cNvGrpSpPr/>
          <p:nvPr/>
        </p:nvGrpSpPr>
        <p:grpSpPr>
          <a:xfrm>
            <a:off x="594360" y="2587752"/>
            <a:ext cx="11247120" cy="612648"/>
            <a:chOff x="594360" y="2587752"/>
            <a:chExt cx="11247120" cy="612648"/>
          </a:xfrm>
        </p:grpSpPr>
        <p:sp>
          <p:nvSpPr>
            <p:cNvPr id="14" name="TextBox 13"/>
            <p:cNvSpPr txBox="1"/>
            <p:nvPr/>
          </p:nvSpPr>
          <p:spPr>
            <a:xfrm>
              <a:off x="594360" y="2587752"/>
              <a:ext cx="2743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 i="0">
                  <a:solidFill>
                    <a:srgbClr val="C8102E"/>
                  </a:solidFill>
                  <a:latin typeface="Calibri"/>
                </a:rPr>
                <a:t>1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51560" y="2587752"/>
              <a:ext cx="43891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Eingabefeld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ohne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Beschriftung</a:t>
              </a:r>
              <a:endParaRPr sz="13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623560" y="2587752"/>
              <a:ext cx="62179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>
                  <a:solidFill>
                    <a:srgbClr val="1F2A36"/>
                  </a:solidFill>
                  <a:latin typeface="Calibri"/>
                </a:rPr>
                <a:t>label/aria-label/Header bzw. AutomationProperties.LabeledBy oder SemanticProperties.Description</a:t>
              </a:r>
            </a:p>
          </p:txBody>
        </p:sp>
      </p:grpSp>
      <p:sp>
        <p:nvSpPr>
          <p:cNvPr id="19" name="Rectangle 18"/>
          <p:cNvSpPr/>
          <p:nvPr/>
        </p:nvSpPr>
        <p:spPr>
          <a:xfrm>
            <a:off x="457200" y="3200400"/>
            <a:ext cx="4572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4400" y="3200400"/>
            <a:ext cx="45720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0" y="3200400"/>
            <a:ext cx="64008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E77FCFFB-6405-44C2-337F-21001EF6CA18}"/>
              </a:ext>
            </a:extLst>
          </p:cNvPr>
          <p:cNvGrpSpPr/>
          <p:nvPr/>
        </p:nvGrpSpPr>
        <p:grpSpPr>
          <a:xfrm>
            <a:off x="594360" y="3364992"/>
            <a:ext cx="11247120" cy="612648"/>
            <a:chOff x="594360" y="3364992"/>
            <a:chExt cx="11247120" cy="612648"/>
          </a:xfrm>
        </p:grpSpPr>
        <p:sp>
          <p:nvSpPr>
            <p:cNvPr id="20" name="TextBox 19"/>
            <p:cNvSpPr txBox="1"/>
            <p:nvPr/>
          </p:nvSpPr>
          <p:spPr>
            <a:xfrm>
              <a:off x="594360" y="3364992"/>
              <a:ext cx="2743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 i="0" dirty="0">
                  <a:solidFill>
                    <a:srgbClr val="C8102E"/>
                  </a:solidFill>
                  <a:latin typeface="Calibri"/>
                </a:rPr>
                <a:t>2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51560" y="3364992"/>
              <a:ext cx="43891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Feld disabled /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IsEnabled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=False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statt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readonly</a:t>
              </a:r>
              <a:endParaRPr sz="13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623560" y="3364992"/>
              <a:ext cx="62179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>
                  <a:solidFill>
                    <a:srgbClr val="1F2A36"/>
                  </a:solidFill>
                  <a:latin typeface="Calibri"/>
                </a:rPr>
                <a:t>readonly / IsReadOnly=true – Fokus und Vorlesbarkeit bleiben erhalten.</a:t>
              </a:r>
            </a:p>
          </p:txBody>
        </p:sp>
      </p:grpSp>
      <p:sp>
        <p:nvSpPr>
          <p:cNvPr id="25" name="Rectangle 24"/>
          <p:cNvSpPr/>
          <p:nvPr/>
        </p:nvSpPr>
        <p:spPr>
          <a:xfrm>
            <a:off x="457200" y="3977640"/>
            <a:ext cx="4572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" y="397764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0" y="3977640"/>
            <a:ext cx="6400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2EDD4D63-973E-359A-E18E-64E41FBFA533}"/>
              </a:ext>
            </a:extLst>
          </p:cNvPr>
          <p:cNvGrpSpPr/>
          <p:nvPr/>
        </p:nvGrpSpPr>
        <p:grpSpPr>
          <a:xfrm>
            <a:off x="594360" y="4142232"/>
            <a:ext cx="11247120" cy="612648"/>
            <a:chOff x="594360" y="4142232"/>
            <a:chExt cx="11247120" cy="612648"/>
          </a:xfrm>
        </p:grpSpPr>
        <p:sp>
          <p:nvSpPr>
            <p:cNvPr id="26" name="TextBox 25"/>
            <p:cNvSpPr txBox="1"/>
            <p:nvPr/>
          </p:nvSpPr>
          <p:spPr>
            <a:xfrm>
              <a:off x="594360" y="4142232"/>
              <a:ext cx="2743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 i="0" dirty="0">
                  <a:solidFill>
                    <a:srgbClr val="C8102E"/>
                  </a:solidFill>
                  <a:latin typeface="Calibri"/>
                </a:rPr>
                <a:t>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51560" y="4142232"/>
              <a:ext cx="43891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Diagramm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fokussierbar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aber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ohne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Namen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623560" y="4142232"/>
              <a:ext cx="62179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>
                  <a:solidFill>
                    <a:srgbClr val="1F2A36"/>
                  </a:solidFill>
                  <a:latin typeface="Calibri"/>
                </a:rPr>
                <a:t>role=img + aria-labelledby/-describedby bzw. AutomationProperties.Name + HelpText</a:t>
              </a:r>
            </a:p>
          </p:txBody>
        </p:sp>
      </p:grpSp>
      <p:sp>
        <p:nvSpPr>
          <p:cNvPr id="31" name="Rectangle 30"/>
          <p:cNvSpPr/>
          <p:nvPr/>
        </p:nvSpPr>
        <p:spPr>
          <a:xfrm>
            <a:off x="457200" y="4754880"/>
            <a:ext cx="4572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4754880"/>
            <a:ext cx="45720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0" y="4754880"/>
            <a:ext cx="64008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3A3C1759-A0B9-B0EB-9E28-72E50835E6EB}"/>
              </a:ext>
            </a:extLst>
          </p:cNvPr>
          <p:cNvGrpSpPr/>
          <p:nvPr/>
        </p:nvGrpSpPr>
        <p:grpSpPr>
          <a:xfrm>
            <a:off x="594360" y="4919472"/>
            <a:ext cx="11247120" cy="612648"/>
            <a:chOff x="594360" y="4919472"/>
            <a:chExt cx="11247120" cy="612648"/>
          </a:xfrm>
        </p:grpSpPr>
        <p:sp>
          <p:nvSpPr>
            <p:cNvPr id="32" name="TextBox 31"/>
            <p:cNvSpPr txBox="1"/>
            <p:nvPr/>
          </p:nvSpPr>
          <p:spPr>
            <a:xfrm>
              <a:off x="594360" y="4919472"/>
              <a:ext cx="2743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 i="0" dirty="0">
                  <a:solidFill>
                    <a:srgbClr val="C8102E"/>
                  </a:solidFill>
                  <a:latin typeface="Calibri"/>
                </a:rPr>
                <a:t>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51560" y="4919472"/>
              <a:ext cx="43891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Schaltfläche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mit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zu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schwachem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Kontrast</a:t>
              </a:r>
              <a:endParaRPr sz="13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623560" y="4919472"/>
              <a:ext cx="62179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>
                  <a:solidFill>
                    <a:srgbClr val="1F2A36"/>
                  </a:solidFill>
                  <a:latin typeface="Calibri"/>
                </a:rPr>
                <a:t>WCAG-AA-Kontrast ≥ 4,5:1 (Text) bzw. ≥ 3:1 (Komponenten) sicherstellen.</a:t>
              </a:r>
            </a:p>
          </p:txBody>
        </p:sp>
      </p:grpSp>
      <p:sp>
        <p:nvSpPr>
          <p:cNvPr id="37" name="Rectangle 36"/>
          <p:cNvSpPr/>
          <p:nvPr/>
        </p:nvSpPr>
        <p:spPr>
          <a:xfrm>
            <a:off x="457200" y="5532120"/>
            <a:ext cx="4572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14400" y="553212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486400" y="5532120"/>
            <a:ext cx="6400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C665E448-635F-CBD3-5CFC-06F995A20719}"/>
              </a:ext>
            </a:extLst>
          </p:cNvPr>
          <p:cNvGrpSpPr/>
          <p:nvPr/>
        </p:nvGrpSpPr>
        <p:grpSpPr>
          <a:xfrm>
            <a:off x="594360" y="5696712"/>
            <a:ext cx="11247120" cy="612648"/>
            <a:chOff x="594360" y="5696712"/>
            <a:chExt cx="11247120" cy="612648"/>
          </a:xfrm>
        </p:grpSpPr>
        <p:sp>
          <p:nvSpPr>
            <p:cNvPr id="38" name="TextBox 37"/>
            <p:cNvSpPr txBox="1"/>
            <p:nvPr/>
          </p:nvSpPr>
          <p:spPr>
            <a:xfrm>
              <a:off x="594360" y="5696712"/>
              <a:ext cx="2743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 i="0" dirty="0">
                  <a:solidFill>
                    <a:srgbClr val="C8102E"/>
                  </a:solidFill>
                  <a:latin typeface="Calibri"/>
                </a:rPr>
                <a:t>5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51560" y="5696712"/>
              <a:ext cx="43891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Icon-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Schaltfläche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ohne</a:t>
              </a:r>
              <a:r>
                <a:rPr sz="13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b="0" i="0" dirty="0" err="1">
                  <a:solidFill>
                    <a:srgbClr val="1F2A36"/>
                  </a:solidFill>
                  <a:latin typeface="Calibri"/>
                </a:rPr>
                <a:t>Beschriftung</a:t>
              </a:r>
              <a:endParaRPr sz="13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623560" y="5696712"/>
              <a:ext cx="6217920" cy="6126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0">
                  <a:solidFill>
                    <a:srgbClr val="1F2A36"/>
                  </a:solidFill>
                  <a:latin typeface="Calibri"/>
                </a:rPr>
                <a:t>aria-label / AutomationProperties.Name / SemanticProperties.Description + Tooltip</a:t>
              </a:r>
            </a:p>
          </p:txBody>
        </p:sp>
      </p:grp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D1350-1FDD-382A-AFB7-1C3F17E2A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2ABFB729-F1D7-4C66-F40D-01995C763B1B}"/>
              </a:ext>
            </a:extLst>
          </p:cNvPr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9B5411-3B83-F6C6-E22F-6F4044FD392A}"/>
              </a:ext>
            </a:extLst>
          </p:cNvPr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682EE-7120-73D4-368A-396F96B82C9A}"/>
              </a:ext>
            </a:extLst>
          </p:cNvPr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</a:t>
            </a:r>
            <a:r>
              <a:rPr lang="de-DE" sz="3000" b="1" i="0" dirty="0">
                <a:solidFill>
                  <a:srgbClr val="C8102E"/>
                </a:solidFill>
                <a:latin typeface="Calibri"/>
              </a:rPr>
              <a:t>KI-Entwicklung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FB812E-9BE3-5CE5-8A02-A288E405236B}"/>
              </a:ext>
            </a:extLst>
          </p:cNvPr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66BD96-67CC-4610-3378-09BBB59D6CF8}"/>
              </a:ext>
            </a:extLst>
          </p:cNvPr>
          <p:cNvSpPr txBox="1"/>
          <p:nvPr/>
        </p:nvSpPr>
        <p:spPr>
          <a:xfrm>
            <a:off x="457200" y="1554480"/>
            <a:ext cx="10972800" cy="7287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Grundsätzlich können aktuellen Coding-Agenten die Barrierefreiheitsstandards beachten, wenn man es ihnen sagt. </a:t>
            </a:r>
            <a:br>
              <a:rPr lang="de-DE" sz="1400" b="0" i="1" dirty="0">
                <a:solidFill>
                  <a:srgbClr val="5A6470"/>
                </a:solidFill>
                <a:latin typeface="Calibri"/>
              </a:rPr>
            </a:b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Es muss trotzdem immer wieder nachgebessert werden bzw. besser Richtlinien-Dateien als Basis in jeden Projektordner, in dem die Anforderungen in dem Bereich genau ausformuliert sind.</a:t>
            </a:r>
            <a:endParaRPr sz="1400" b="0" i="1" dirty="0">
              <a:solidFill>
                <a:srgbClr val="5A6470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8BA848-EC0E-3FCB-CCBF-429A1727F24A}"/>
              </a:ext>
            </a:extLst>
          </p:cNvPr>
          <p:cNvSpPr txBox="1"/>
          <p:nvPr/>
        </p:nvSpPr>
        <p:spPr>
          <a:xfrm>
            <a:off x="457199" y="2525377"/>
            <a:ext cx="5486400" cy="568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600" b="1" dirty="0">
                <a:solidFill>
                  <a:srgbClr val="C8102E"/>
                </a:solidFill>
              </a:rPr>
              <a:t>Beispiel für </a:t>
            </a:r>
          </a:p>
          <a:p>
            <a:pPr>
              <a:lnSpc>
                <a:spcPct val="115000"/>
              </a:lnSpc>
            </a:pPr>
            <a:r>
              <a:rPr lang="de-DE" sz="1600" b="1" i="0" dirty="0">
                <a:solidFill>
                  <a:srgbClr val="C8102E"/>
                </a:solidFill>
                <a:latin typeface="Calibri"/>
              </a:rPr>
              <a:t>Nachbesserungsbedarf</a:t>
            </a:r>
          </a:p>
          <a:p>
            <a:pPr algn="l">
              <a:lnSpc>
                <a:spcPct val="115000"/>
              </a:lnSpc>
            </a:pPr>
            <a:endParaRPr sz="16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7C31FC-EFDC-0140-EF66-2588402E1E4D}"/>
              </a:ext>
            </a:extLst>
          </p:cNvPr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9BB53F-E7B5-A852-50FF-9960107FF528}"/>
              </a:ext>
            </a:extLst>
          </p:cNvPr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FE399-1BD1-A195-DAAD-E31D3785350B}"/>
              </a:ext>
            </a:extLst>
          </p:cNvPr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17 / 18</a:t>
            </a: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F6BA36B8-3827-5FBE-E025-39D0C2D06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988" y="2525377"/>
            <a:ext cx="6301031" cy="394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721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6400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 dirty="0">
                <a:solidFill>
                  <a:srgbClr val="FFFFFF"/>
                </a:solidFill>
                <a:latin typeface="Calibri"/>
              </a:rPr>
              <a:t>Take-aways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04393829-5535-9EBD-D49C-5B1EED7F37FB}"/>
              </a:ext>
            </a:extLst>
          </p:cNvPr>
          <p:cNvGrpSpPr/>
          <p:nvPr/>
        </p:nvGrpSpPr>
        <p:grpSpPr>
          <a:xfrm>
            <a:off x="868680" y="2011680"/>
            <a:ext cx="10744200" cy="644685"/>
            <a:chOff x="868680" y="2011680"/>
            <a:chExt cx="10744200" cy="644685"/>
          </a:xfrm>
        </p:grpSpPr>
        <p:sp>
          <p:nvSpPr>
            <p:cNvPr id="6" name="Oval 5"/>
            <p:cNvSpPr/>
            <p:nvPr/>
          </p:nvSpPr>
          <p:spPr>
            <a:xfrm>
              <a:off x="868680" y="2103120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Calibri"/>
                </a:rPr>
                <a:t>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554480" y="2011680"/>
              <a:ext cx="100584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>
                  <a:solidFill>
                    <a:srgbClr val="FFFFFF"/>
                  </a:solidFill>
                  <a:latin typeface="Calibri"/>
                </a:rPr>
                <a:t>Testen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54480" y="2423160"/>
              <a:ext cx="100584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Tastatur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,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Screenreader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und Tool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s nutzen</a:t>
              </a:r>
              <a:endParaRPr sz="1400" b="0" i="0" dirty="0">
                <a:solidFill>
                  <a:srgbClr val="E9ECEF"/>
                </a:solidFill>
                <a:latin typeface="Calibri"/>
              </a:endParaRP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2B140D1-4E5D-EF19-4D7B-2BD80080BE1F}"/>
              </a:ext>
            </a:extLst>
          </p:cNvPr>
          <p:cNvGrpSpPr/>
          <p:nvPr/>
        </p:nvGrpSpPr>
        <p:grpSpPr>
          <a:xfrm>
            <a:off x="868680" y="2880360"/>
            <a:ext cx="10744200" cy="644685"/>
            <a:chOff x="868680" y="2880360"/>
            <a:chExt cx="10744200" cy="644685"/>
          </a:xfrm>
        </p:grpSpPr>
        <p:sp>
          <p:nvSpPr>
            <p:cNvPr id="9" name="Oval 8"/>
            <p:cNvSpPr/>
            <p:nvPr/>
          </p:nvSpPr>
          <p:spPr>
            <a:xfrm>
              <a:off x="868680" y="2971800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Calibri"/>
                </a:rPr>
                <a:t>2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54480" y="2880360"/>
              <a:ext cx="100584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 dirty="0" err="1">
                  <a:solidFill>
                    <a:srgbClr val="FFFFFF"/>
                  </a:solidFill>
                  <a:latin typeface="Calibri"/>
                </a:rPr>
                <a:t>Anpassen</a:t>
              </a:r>
              <a:endParaRPr sz="2000" b="1" i="0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554480" y="3291840"/>
              <a:ext cx="100584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NVDA und JAWS 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können über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Skripting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-Schnittstellen oder mit DL®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XTab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angepasst werden</a:t>
              </a:r>
              <a:endParaRPr sz="1400" b="0" i="0" dirty="0">
                <a:solidFill>
                  <a:srgbClr val="E9ECEF"/>
                </a:solidFill>
                <a:latin typeface="Calibri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07860E8F-0468-D61C-1980-791AAC93BA78}"/>
              </a:ext>
            </a:extLst>
          </p:cNvPr>
          <p:cNvGrpSpPr/>
          <p:nvPr/>
        </p:nvGrpSpPr>
        <p:grpSpPr>
          <a:xfrm>
            <a:off x="868680" y="3749040"/>
            <a:ext cx="10744200" cy="892446"/>
            <a:chOff x="868680" y="3749040"/>
            <a:chExt cx="10744200" cy="892446"/>
          </a:xfrm>
        </p:grpSpPr>
        <p:sp>
          <p:nvSpPr>
            <p:cNvPr id="12" name="Oval 11"/>
            <p:cNvSpPr/>
            <p:nvPr/>
          </p:nvSpPr>
          <p:spPr>
            <a:xfrm>
              <a:off x="868680" y="3840480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2000" b="1" dirty="0">
                  <a:solidFill>
                    <a:srgbClr val="FFFFFF"/>
                  </a:solidFill>
                  <a:latin typeface="Calibri"/>
                </a:rPr>
                <a:t>3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554480" y="3749040"/>
              <a:ext cx="10058400" cy="333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2000" b="1" i="0" dirty="0">
                  <a:solidFill>
                    <a:srgbClr val="FFFFFF"/>
                  </a:solidFill>
                  <a:latin typeface="Calibri"/>
                </a:rPr>
                <a:t>Barrierefrei/zugänglich </a:t>
              </a:r>
              <a:r>
                <a:rPr sz="2000" b="1" i="0" dirty="0" err="1">
                  <a:solidFill>
                    <a:srgbClr val="FFFFFF"/>
                  </a:solidFill>
                  <a:latin typeface="Calibri"/>
                </a:rPr>
                <a:t>Entwickeln</a:t>
              </a:r>
              <a:endParaRPr sz="2000" b="1" i="0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54480" y="4160520"/>
              <a:ext cx="10058400" cy="4809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Name, Rolle, Wert für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jedes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Control.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readonly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statt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disabled.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Kontrast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≥ 4,5:1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..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.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– siehe Standards un</a:t>
              </a:r>
              <a:r>
                <a:rPr lang="de-DE" sz="1400" dirty="0">
                  <a:solidFill>
                    <a:srgbClr val="E9ECEF"/>
                  </a:solidFill>
                  <a:latin typeface="Calibri"/>
                </a:rPr>
                <a:t>d Tests</a:t>
              </a:r>
              <a:br>
                <a:rPr lang="de-DE" sz="1400" b="0" i="0" dirty="0">
                  <a:solidFill>
                    <a:srgbClr val="E9ECEF"/>
                  </a:solidFill>
                  <a:latin typeface="Calibri"/>
                </a:rPr>
              </a:b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	auch KI-Coding-Agenten können zugänglichen Code produzieren, wenn man sie genau instruiert</a:t>
              </a:r>
              <a:endParaRPr sz="1400" b="0" i="0" dirty="0">
                <a:solidFill>
                  <a:srgbClr val="E9ECEF"/>
                </a:solidFill>
                <a:latin typeface="Calibri"/>
              </a:endParaRP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AFA4D59-EE4E-449E-46E8-95BEAB76BE51}"/>
              </a:ext>
            </a:extLst>
          </p:cNvPr>
          <p:cNvGrpSpPr/>
          <p:nvPr/>
        </p:nvGrpSpPr>
        <p:grpSpPr>
          <a:xfrm>
            <a:off x="868680" y="4770118"/>
            <a:ext cx="10744200" cy="644685"/>
            <a:chOff x="868680" y="4770118"/>
            <a:chExt cx="10744200" cy="644685"/>
          </a:xfrm>
        </p:grpSpPr>
        <p:sp>
          <p:nvSpPr>
            <p:cNvPr id="15" name="Oval 14"/>
            <p:cNvSpPr/>
            <p:nvPr/>
          </p:nvSpPr>
          <p:spPr>
            <a:xfrm>
              <a:off x="868680" y="4854932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2000" b="1" dirty="0">
                  <a:solidFill>
                    <a:srgbClr val="FFFFFF"/>
                  </a:solidFill>
                  <a:latin typeface="Calibri"/>
                </a:rPr>
                <a:t>4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54480" y="4770118"/>
              <a:ext cx="10058400" cy="333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2000" b="1" i="0" dirty="0">
                  <a:solidFill>
                    <a:srgbClr val="FFFFFF"/>
                  </a:solidFill>
                  <a:latin typeface="Calibri"/>
                </a:rPr>
                <a:t>Mitdenken</a:t>
              </a:r>
              <a:endParaRPr sz="2000" b="1" i="0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554480" y="5181598"/>
              <a:ext cx="100584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Barrierefreie Software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-Oberflächen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sind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Voraussetzung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für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berufliche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Teilhabe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– nicht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Kür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.</a:t>
              </a:r>
            </a:p>
          </p:txBody>
        </p:sp>
      </p:grpSp>
      <p:sp>
        <p:nvSpPr>
          <p:cNvPr id="18" name="Rectangle 17"/>
          <p:cNvSpPr/>
          <p:nvPr/>
        </p:nvSpPr>
        <p:spPr>
          <a:xfrm>
            <a:off x="868680" y="5897880"/>
            <a:ext cx="10424160" cy="25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10058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Rainer Brell und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Ernst Heßdörfer · 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BFW Würzburg gGmbH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·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lang="de-DE" sz="1400" b="0" i="0" dirty="0">
                <a:solidFill>
                  <a:schemeClr val="bg1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rainer.brell@bfw-wuerzburg.de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und </a:t>
            </a:r>
            <a:r>
              <a:rPr sz="1400" b="0" i="0" dirty="0">
                <a:solidFill>
                  <a:schemeClr val="bg1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it.leitung@bfw-wuerzburg.de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</a:t>
            </a:r>
            <a:endParaRPr sz="14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" y="63550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BBBBB"/>
                </a:solidFill>
                <a:latin typeface="Calibri"/>
              </a:rPr>
              <a:t>BFW Würzburg gGmbH · Bildungszentrum für Blinde und Sehbehinderte · www.bfw-wuerzburg.de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7C59D990-7624-CAE0-807C-3C6CFB9B7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99123-12E9-E8BF-6558-D7EEDACB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BD33E5-6986-A66C-0194-6B951656CC5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4AC109-5FBD-4286-36ED-F9B5A1A8F2B9}"/>
              </a:ext>
            </a:extLst>
          </p:cNvPr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82A48-254D-3630-D7BE-ADE1B5D24BD5}"/>
              </a:ext>
            </a:extLst>
          </p:cNvPr>
          <p:cNvSpPr txBox="1"/>
          <p:nvPr/>
        </p:nvSpPr>
        <p:spPr>
          <a:xfrm>
            <a:off x="868680" y="640080"/>
            <a:ext cx="10972800" cy="732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4400" b="1" i="0" dirty="0">
                <a:solidFill>
                  <a:srgbClr val="FFFFFF"/>
                </a:solidFill>
                <a:latin typeface="Calibri"/>
              </a:rPr>
              <a:t>Vielen Dank</a:t>
            </a:r>
            <a:endParaRPr sz="4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902B19-D10F-36A5-2C68-A4614DC25319}"/>
              </a:ext>
            </a:extLst>
          </p:cNvPr>
          <p:cNvSpPr/>
          <p:nvPr/>
        </p:nvSpPr>
        <p:spPr>
          <a:xfrm>
            <a:off x="868680" y="160020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329EDC2-3E02-45E6-E3B3-63ECE77D170B}"/>
              </a:ext>
            </a:extLst>
          </p:cNvPr>
          <p:cNvGrpSpPr/>
          <p:nvPr/>
        </p:nvGrpSpPr>
        <p:grpSpPr>
          <a:xfrm>
            <a:off x="868680" y="2011680"/>
            <a:ext cx="10744200" cy="1883486"/>
            <a:chOff x="868680" y="2011680"/>
            <a:chExt cx="10744200" cy="188348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2881AD8-17E1-F49A-735B-0C392E077916}"/>
                </a:ext>
              </a:extLst>
            </p:cNvPr>
            <p:cNvSpPr/>
            <p:nvPr/>
          </p:nvSpPr>
          <p:spPr>
            <a:xfrm>
              <a:off x="868680" y="2103120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2000" b="1" dirty="0">
                  <a:solidFill>
                    <a:srgbClr val="FFFFFF"/>
                  </a:solidFill>
                  <a:latin typeface="Calibri"/>
                </a:rPr>
                <a:t>5</a:t>
              </a:r>
              <a:endParaRPr sz="2000" b="1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93BEE3E-55FA-85E5-6648-3EC7B8E08D6C}"/>
                </a:ext>
              </a:extLst>
            </p:cNvPr>
            <p:cNvSpPr txBox="1"/>
            <p:nvPr/>
          </p:nvSpPr>
          <p:spPr>
            <a:xfrm>
              <a:off x="1554480" y="2011680"/>
              <a:ext cx="10058400" cy="333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2000" b="1" i="0" dirty="0">
                  <a:solidFill>
                    <a:srgbClr val="FFFFFF"/>
                  </a:solidFill>
                  <a:latin typeface="Calibri"/>
                </a:rPr>
                <a:t>Weitere Infos</a:t>
              </a:r>
              <a:endParaRPr sz="2000" b="1" i="0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18EF654-75C9-F727-0793-1EF7098EB708}"/>
                </a:ext>
              </a:extLst>
            </p:cNvPr>
            <p:cNvSpPr txBox="1"/>
            <p:nvPr/>
          </p:nvSpPr>
          <p:spPr>
            <a:xfrm>
              <a:off x="1554480" y="2423160"/>
              <a:ext cx="10058400" cy="147200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Alle Beispiele und Links, z.B. </a:t>
              </a:r>
            </a:p>
            <a:p>
              <a:pPr marL="285750" indent="-285750" algn="l">
                <a:lnSpc>
                  <a:spcPct val="115000"/>
                </a:lnSpc>
                <a:buFontTx/>
                <a:buChar char="-"/>
              </a:pP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zu den W3C Design Patterns and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Examples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für Rich Internet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Applications</a:t>
              </a:r>
              <a:endParaRPr lang="de-DE" sz="1400" b="0" i="0" dirty="0">
                <a:solidFill>
                  <a:srgbClr val="E9ECEF"/>
                </a:solidFill>
                <a:latin typeface="Calibri"/>
              </a:endParaRPr>
            </a:p>
            <a:p>
              <a:pPr marL="285750" indent="-285750">
                <a:lnSpc>
                  <a:spcPct val="115000"/>
                </a:lnSpc>
                <a:buFontTx/>
                <a:buChar char="-"/>
              </a:pP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Projekt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msg.BALM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der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msg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group</a:t>
              </a:r>
              <a:endParaRPr lang="de-DE" sz="1400" b="0" i="0" dirty="0">
                <a:solidFill>
                  <a:srgbClr val="E9ECEF"/>
                </a:solidFill>
                <a:latin typeface="Calibri"/>
              </a:endParaRPr>
            </a:p>
            <a:p>
              <a:pPr marL="285750" indent="-285750">
                <a:lnSpc>
                  <a:spcPct val="115000"/>
                </a:lnSpc>
                <a:buFontTx/>
                <a:buChar char="-"/>
              </a:pPr>
              <a:r>
                <a:rPr lang="de-DE" sz="1400" dirty="0">
                  <a:solidFill>
                    <a:srgbClr val="E9ECEF"/>
                  </a:solidFill>
                  <a:latin typeface="Calibri"/>
                </a:rPr>
                <a:t>Standards</a:t>
              </a:r>
            </a:p>
            <a:p>
              <a:pPr marL="285750" indent="-285750">
                <a:lnSpc>
                  <a:spcPct val="115000"/>
                </a:lnSpc>
                <a:buFontTx/>
                <a:buChar char="-"/>
              </a:pPr>
              <a:r>
                <a:rPr lang="de-DE" sz="1400" dirty="0">
                  <a:solidFill>
                    <a:srgbClr val="E9ECEF"/>
                  </a:solidFill>
                  <a:latin typeface="Calibri"/>
                </a:rPr>
                <a:t>Tests</a:t>
              </a:r>
            </a:p>
            <a:p>
              <a:pPr>
                <a:lnSpc>
                  <a:spcPct val="115000"/>
                </a:lnSpc>
              </a:pPr>
              <a:endParaRPr lang="de-DE" sz="1400" b="0" i="0" dirty="0">
                <a:solidFill>
                  <a:srgbClr val="E9ECEF"/>
                </a:solidFill>
                <a:latin typeface="Calibri"/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0B06FBAE-770A-7C44-5184-ED1DBAAD058D}"/>
              </a:ext>
            </a:extLst>
          </p:cNvPr>
          <p:cNvSpPr/>
          <p:nvPr/>
        </p:nvSpPr>
        <p:spPr>
          <a:xfrm>
            <a:off x="868680" y="5897880"/>
            <a:ext cx="10424160" cy="25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6DE1C6-ED3D-E577-F18A-70DAF3522E5A}"/>
              </a:ext>
            </a:extLst>
          </p:cNvPr>
          <p:cNvSpPr txBox="1"/>
          <p:nvPr/>
        </p:nvSpPr>
        <p:spPr>
          <a:xfrm>
            <a:off x="868680" y="5989320"/>
            <a:ext cx="10058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Rainer Brell und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Ernst Heßdörfer · 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BFW Würzburg gGmbH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·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lang="de-DE" sz="1400" b="0" i="0" dirty="0">
                <a:solidFill>
                  <a:schemeClr val="bg1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rainer.brell@bfw-wuerzburg.de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und </a:t>
            </a:r>
            <a:r>
              <a:rPr sz="1400" b="0" i="0" dirty="0">
                <a:solidFill>
                  <a:schemeClr val="bg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it.leitung@bfw-wuerzburg.de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</a:t>
            </a:r>
            <a:endParaRPr sz="14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A2ED16-81FC-B215-FF17-633B4A01F19A}"/>
              </a:ext>
            </a:extLst>
          </p:cNvPr>
          <p:cNvSpPr txBox="1"/>
          <p:nvPr/>
        </p:nvSpPr>
        <p:spPr>
          <a:xfrm>
            <a:off x="868680" y="63550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BBBBB"/>
                </a:solidFill>
                <a:latin typeface="Calibri"/>
              </a:rPr>
              <a:t>BFW Würzburg gGmbH · Bildungszentrum für Blinde und Sehbehinderte · www.bfw-wuerzburg.de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F23B66CA-DA1D-BF6D-EFAF-AD5267B39A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68AFFDD-6765-1F1C-39CD-9FED3977A2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2628" y="3162131"/>
            <a:ext cx="2214452" cy="221445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6F74617-0F2B-A91F-463F-390CF554E66C}"/>
              </a:ext>
            </a:extLst>
          </p:cNvPr>
          <p:cNvSpPr txBox="1"/>
          <p:nvPr/>
        </p:nvSpPr>
        <p:spPr>
          <a:xfrm>
            <a:off x="2948442" y="5079419"/>
            <a:ext cx="6089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https://github.com/EH-BFW/BarrierefreiheitsDemos</a:t>
            </a:r>
            <a:r>
              <a:rPr lang="de-DE" dirty="0">
                <a:solidFill>
                  <a:schemeClr val="bg1"/>
                </a:solidFill>
              </a:rPr>
              <a:t>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63456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1849</Words>
  <Application>Microsoft Office PowerPoint</Application>
  <PresentationFormat>Breitbild</PresentationFormat>
  <Paragraphs>289</Paragraphs>
  <Slides>18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Ernst Heßdörfer</cp:lastModifiedBy>
  <cp:revision>106</cp:revision>
  <dcterms:created xsi:type="dcterms:W3CDTF">2013-01-27T09:14:16Z</dcterms:created>
  <dcterms:modified xsi:type="dcterms:W3CDTF">2026-06-07T18:05:40Z</dcterms:modified>
  <cp:category/>
</cp:coreProperties>
</file>