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4" r:id="rId16"/>
    <p:sldId id="271" r:id="rId17"/>
    <p:sldId id="272" r:id="rId18"/>
    <p:sldId id="275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mailto:it.leitung@bfw-wuerzburg.de" TargetMode="External"/><Relationship Id="rId2" Type="http://schemas.openxmlformats.org/officeDocument/2006/relationships/hyperlink" Target="mailto:rainer.brell@bfw-wuerzburg.de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ight Triangle 3"/>
          <p:cNvSpPr/>
          <p:nvPr/>
        </p:nvSpPr>
        <p:spPr>
          <a:xfrm rot="16200000">
            <a:off x="868680" y="640080"/>
            <a:ext cx="502920" cy="502920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08760" y="6858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BFW Würzburg gGmbH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 dirty="0" err="1">
                <a:solidFill>
                  <a:srgbClr val="FFFFFF"/>
                </a:solidFill>
                <a:latin typeface="Calibri"/>
              </a:rPr>
              <a:t>Anwendungen</a:t>
            </a:r>
            <a:r>
              <a:rPr sz="5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5400" b="1" i="0" dirty="0" err="1">
                <a:solidFill>
                  <a:srgbClr val="FFFFFF"/>
                </a:solidFill>
                <a:latin typeface="Calibri"/>
              </a:rPr>
              <a:t>prüfen</a:t>
            </a:r>
            <a:r>
              <a:rPr sz="5400" b="1" i="0" dirty="0">
                <a:solidFill>
                  <a:srgbClr val="FFFFFF"/>
                </a:solidFill>
                <a:latin typeface="Calibri"/>
              </a:rPr>
              <a:t>,</a:t>
            </a:r>
          </a:p>
          <a:p>
            <a:pPr algn="l">
              <a:lnSpc>
                <a:spcPct val="105000"/>
              </a:lnSpc>
            </a:pPr>
            <a:r>
              <a:rPr sz="5400" b="1" i="0" dirty="0" err="1">
                <a:solidFill>
                  <a:srgbClr val="FFFFFF"/>
                </a:solidFill>
                <a:latin typeface="Calibri"/>
              </a:rPr>
              <a:t>anpassen</a:t>
            </a:r>
            <a:r>
              <a:rPr sz="5400" b="1" i="0" dirty="0">
                <a:solidFill>
                  <a:srgbClr val="FFFFFF"/>
                </a:solidFill>
                <a:latin typeface="Calibri"/>
              </a:rPr>
              <a:t> und </a:t>
            </a:r>
            <a:r>
              <a:rPr sz="5400" b="1" i="0" dirty="0" err="1">
                <a:solidFill>
                  <a:srgbClr val="FFFFFF"/>
                </a:solidFill>
                <a:latin typeface="Calibri"/>
              </a:rPr>
              <a:t>barrierefrei</a:t>
            </a:r>
            <a:endParaRPr sz="5400" b="1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05000"/>
              </a:lnSpc>
            </a:pPr>
            <a:r>
              <a:rPr sz="5400" b="1" i="0" dirty="0" err="1">
                <a:solidFill>
                  <a:srgbClr val="FFFFFF"/>
                </a:solidFill>
                <a:latin typeface="Calibri"/>
              </a:rPr>
              <a:t>entwickeln</a:t>
            </a:r>
            <a:endParaRPr sz="5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4572000"/>
            <a:ext cx="109728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47091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dirty="0" err="1">
                <a:solidFill>
                  <a:srgbClr val="E9ECEF"/>
                </a:solidFill>
                <a:latin typeface="Calibri"/>
              </a:rPr>
              <a:t>Veranstaltung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 „</a:t>
            </a:r>
            <a:r>
              <a:rPr sz="2200" b="0" i="0" dirty="0" err="1">
                <a:solidFill>
                  <a:srgbClr val="E9ECEF"/>
                </a:solidFill>
                <a:latin typeface="Calibri"/>
              </a:rPr>
              <a:t>Gemeinsam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sz="2200" b="0" i="0" dirty="0" err="1">
                <a:solidFill>
                  <a:srgbClr val="E9ECEF"/>
                </a:solidFill>
                <a:latin typeface="Calibri"/>
              </a:rPr>
              <a:t>mehr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sz="2200" b="0" i="0" dirty="0" err="1">
                <a:solidFill>
                  <a:srgbClr val="E9ECEF"/>
                </a:solidFill>
                <a:latin typeface="Calibri"/>
              </a:rPr>
              <a:t>Barrierefreiheit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sz="2200" b="0" i="0" dirty="0" err="1">
                <a:solidFill>
                  <a:srgbClr val="E9ECEF"/>
                </a:solidFill>
                <a:latin typeface="Calibri"/>
              </a:rPr>
              <a:t>erreichen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4924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Rainer Brell und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Ernst Heßdörfer  ·  BFW Würzburg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9728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200" b="0" i="1" dirty="0">
                <a:solidFill>
                  <a:srgbClr val="BBBBBB"/>
                </a:solidFill>
                <a:latin typeface="Calibri"/>
              </a:rPr>
              <a:t>Juni</a:t>
            </a:r>
            <a:r>
              <a:rPr sz="1200" b="0" i="1" dirty="0">
                <a:solidFill>
                  <a:srgbClr val="BBBBBB"/>
                </a:solidFill>
                <a:latin typeface="Calibri"/>
              </a:rPr>
              <a:t>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C8102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266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 dirty="0">
                <a:solidFill>
                  <a:srgbClr val="5A6470"/>
                </a:solidFill>
                <a:latin typeface="Calibri"/>
              </a:rPr>
              <a:t>Drei </a:t>
            </a:r>
            <a:r>
              <a:rPr lang="de-DE" sz="1600" b="0" i="1" dirty="0">
                <a:solidFill>
                  <a:srgbClr val="5A6470"/>
                </a:solidFill>
                <a:latin typeface="Calibri"/>
              </a:rPr>
              <a:t>Prozesse,</a:t>
            </a:r>
            <a:r>
              <a:rPr sz="16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lang="de-DE" sz="1600" b="0" i="1" dirty="0">
                <a:solidFill>
                  <a:srgbClr val="5A6470"/>
                </a:solidFill>
                <a:latin typeface="Calibri"/>
              </a:rPr>
              <a:t>um gemeinsam mehr barrierefreie </a:t>
            </a:r>
            <a:r>
              <a:rPr sz="1600" b="0" i="1" dirty="0">
                <a:solidFill>
                  <a:srgbClr val="5A6470"/>
                </a:solidFill>
                <a:latin typeface="Calibri"/>
              </a:rPr>
              <a:t>Software</a:t>
            </a:r>
            <a:r>
              <a:rPr lang="de-DE" sz="1600" b="0" i="1" dirty="0">
                <a:solidFill>
                  <a:srgbClr val="5A6470"/>
                </a:solidFill>
                <a:latin typeface="Calibri"/>
              </a:rPr>
              <a:t> zu erreichen</a:t>
            </a:r>
            <a:endParaRPr sz="1600" b="0" i="1" dirty="0">
              <a:solidFill>
                <a:srgbClr val="5A647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2331720"/>
            <a:ext cx="3657600" cy="38404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3657600" cy="10972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371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36"/>
                </a:solidFill>
                <a:latin typeface="Calibri"/>
              </a:rPr>
              <a:t>Prüfen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108960" cy="7287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 err="1">
                <a:solidFill>
                  <a:srgbClr val="1F2A36"/>
                </a:solidFill>
                <a:latin typeface="Calibri"/>
              </a:rPr>
              <a:t>Anwendungen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F2A36"/>
                </a:solidFill>
                <a:latin typeface="Calibri"/>
              </a:rPr>
              <a:t>systematisch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auf </a:t>
            </a:r>
            <a:r>
              <a:rPr sz="1400" b="0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F2A36"/>
                </a:solidFill>
                <a:latin typeface="Calibri"/>
              </a:rPr>
              <a:t>testen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– </a:t>
            </a:r>
            <a:br>
              <a:rPr lang="de-DE" sz="1400" b="0" i="0" dirty="0">
                <a:solidFill>
                  <a:srgbClr val="1F2A36"/>
                </a:solidFill>
                <a:latin typeface="Calibri"/>
              </a:rPr>
            </a:br>
            <a:r>
              <a:rPr sz="1400" b="0" i="0" dirty="0" err="1">
                <a:solidFill>
                  <a:srgbClr val="1F2A36"/>
                </a:solidFill>
                <a:latin typeface="Calibri"/>
              </a:rPr>
              <a:t>mit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F2A36"/>
                </a:solidFill>
                <a:latin typeface="Calibri"/>
              </a:rPr>
              <a:t>Screenreader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1F2A36"/>
                </a:solidFill>
                <a:latin typeface="Calibri"/>
              </a:rPr>
              <a:t>Tastatur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und Tools.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A6470"/>
                </a:solidFill>
                <a:latin typeface="Calibri"/>
              </a:rPr>
              <a:t>≈ 2 Min.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1688" y="2331720"/>
            <a:ext cx="3657600" cy="38404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61688" y="2331720"/>
            <a:ext cx="3657600" cy="10972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8" y="2651760"/>
            <a:ext cx="1371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79476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36"/>
                </a:solidFill>
                <a:latin typeface="Calibri"/>
              </a:rPr>
              <a:t>Anpassen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4389120"/>
            <a:ext cx="3108960" cy="7287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0" dirty="0">
                <a:solidFill>
                  <a:srgbClr val="1F2A36"/>
                </a:solidFill>
                <a:latin typeface="Calibri"/>
              </a:rPr>
              <a:t>Nich</a:t>
            </a:r>
            <a:r>
              <a:rPr lang="de-DE" sz="1400" dirty="0">
                <a:solidFill>
                  <a:srgbClr val="1F2A36"/>
                </a:solidFill>
                <a:latin typeface="Calibri"/>
              </a:rPr>
              <a:t>t so nachhaltig, aber oft nötig:</a:t>
            </a:r>
            <a:endParaRPr lang="de-DE" sz="1400" b="0" i="0" dirty="0">
              <a:solidFill>
                <a:srgbClr val="1F2A36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sz="1400" b="0" i="0" dirty="0" err="1">
                <a:solidFill>
                  <a:srgbClr val="1F2A36"/>
                </a:solidFill>
                <a:latin typeface="Calibri"/>
              </a:rPr>
              <a:t>Screenreader</a:t>
            </a:r>
            <a:r>
              <a:rPr lang="de-DE" sz="1400" b="0" i="0" dirty="0">
                <a:solidFill>
                  <a:srgbClr val="1F2A36"/>
                </a:solidFill>
                <a:latin typeface="Calibri"/>
              </a:rPr>
              <a:t>-Anpassungen/</a:t>
            </a:r>
            <a:r>
              <a:rPr lang="de-DE" sz="1400" b="0" i="0" dirty="0" err="1">
                <a:solidFill>
                  <a:srgbClr val="1F2A36"/>
                </a:solidFill>
                <a:latin typeface="Calibri"/>
              </a:rPr>
              <a:t>Skripting</a:t>
            </a:r>
            <a:r>
              <a:rPr lang="de-DE" sz="1400" b="0" i="0" dirty="0">
                <a:solidFill>
                  <a:srgbClr val="1F2A36"/>
                </a:solidFill>
                <a:latin typeface="Calibri"/>
              </a:rPr>
              <a:t> mit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NVDA</a:t>
            </a:r>
            <a:r>
              <a:rPr lang="de-DE" sz="1400" b="0" i="0" dirty="0">
                <a:solidFill>
                  <a:srgbClr val="1F2A36"/>
                </a:solidFill>
                <a:latin typeface="Calibri"/>
              </a:rPr>
              <a:t> und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JAWS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5669280"/>
            <a:ext cx="310896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 dirty="0">
                <a:solidFill>
                  <a:srgbClr val="5A6470"/>
                </a:solidFill>
                <a:latin typeface="Calibri"/>
              </a:rPr>
              <a:t>≈ 3 Min.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66176" y="2331720"/>
            <a:ext cx="3657600" cy="38404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66176" y="2331720"/>
            <a:ext cx="3657600" cy="10972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40496" y="2651760"/>
            <a:ext cx="1371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379476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36"/>
                </a:solidFill>
                <a:latin typeface="Calibri"/>
              </a:rPr>
              <a:t>Entwickeln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389120"/>
            <a:ext cx="3108960" cy="9764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0" dirty="0">
                <a:solidFill>
                  <a:srgbClr val="1F2A36"/>
                </a:solidFill>
                <a:latin typeface="Calibri"/>
              </a:rPr>
              <a:t>Die nachhaltige Lösung:</a:t>
            </a:r>
          </a:p>
          <a:p>
            <a:pPr algn="l">
              <a:lnSpc>
                <a:spcPct val="115000"/>
              </a:lnSpc>
            </a:pPr>
            <a:r>
              <a:rPr sz="1400" b="0" i="0" dirty="0" err="1">
                <a:solidFill>
                  <a:srgbClr val="1F2A36"/>
                </a:solidFill>
                <a:latin typeface="Calibri"/>
              </a:rPr>
              <a:t>Barrierefrei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F2A36"/>
                </a:solidFill>
                <a:latin typeface="Calibri"/>
              </a:rPr>
              <a:t>programmieren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– </a:t>
            </a:r>
            <a:br>
              <a:rPr lang="de-DE" sz="1400" b="0" i="0" dirty="0">
                <a:solidFill>
                  <a:srgbClr val="1F2A36"/>
                </a:solidFill>
                <a:latin typeface="Calibri"/>
              </a:rPr>
            </a:br>
            <a:r>
              <a:rPr sz="1400" b="0" i="0" dirty="0" err="1">
                <a:solidFill>
                  <a:srgbClr val="1F2A36"/>
                </a:solidFill>
                <a:latin typeface="Calibri"/>
              </a:rPr>
              <a:t>mit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F2A36"/>
                </a:solidFill>
                <a:latin typeface="Calibri"/>
              </a:rPr>
              <a:t>Beispielen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für Web, WPF, </a:t>
            </a:r>
            <a:endParaRPr lang="de-DE" sz="1400" b="0" i="0" dirty="0">
              <a:solidFill>
                <a:srgbClr val="1F2A36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sz="1400" b="0" i="0" dirty="0" err="1">
                <a:solidFill>
                  <a:srgbClr val="1F2A36"/>
                </a:solidFill>
                <a:latin typeface="Calibri"/>
              </a:rPr>
              <a:t>WinUI</a:t>
            </a:r>
            <a:r>
              <a:rPr sz="1400" b="0" i="0" dirty="0">
                <a:solidFill>
                  <a:srgbClr val="1F2A36"/>
                </a:solidFill>
                <a:latin typeface="Calibri"/>
              </a:rPr>
              <a:t> und MAUI.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56692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A6470"/>
                </a:solidFill>
                <a:latin typeface="Calibri"/>
              </a:rPr>
              <a:t>≈ 10 Min.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Agenda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8288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0" b="1" i="0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011680"/>
            <a:ext cx="8686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Prüfen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3291840"/>
            <a:ext cx="8686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E9ECEF"/>
                </a:solidFill>
                <a:latin typeface="Calibri"/>
              </a:rPr>
              <a:t>Anwendungen systematisch auf Barrierefreiheit testen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420624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Anwendungen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prüfen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–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Warum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und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F2A36"/>
                </a:solidFill>
                <a:latin typeface="Calibri"/>
              </a:rPr>
              <a:t>Warum prüfen?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5486400" cy="2256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Blinde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Mitarbeitende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stoßen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sonst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täglich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auf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Hürden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– </a:t>
            </a:r>
            <a:br>
              <a:rPr lang="de-DE" sz="1400" dirty="0">
                <a:solidFill>
                  <a:srgbClr val="1F2A36"/>
                </a:solidFill>
                <a:latin typeface="Calibri"/>
              </a:rPr>
            </a:br>
            <a:r>
              <a:rPr lang="de-DE" sz="1400" dirty="0">
                <a:solidFill>
                  <a:srgbClr val="1F2A36"/>
                </a:solidFill>
                <a:latin typeface="Calibri"/>
              </a:rPr>
              <a:t>	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Praktika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scheitern</a:t>
            </a:r>
            <a:r>
              <a:rPr sz="1400" dirty="0">
                <a:solidFill>
                  <a:srgbClr val="1F2A36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 dirty="0">
                <a:solidFill>
                  <a:srgbClr val="C8102E"/>
                </a:solidFill>
                <a:latin typeface="Calibri"/>
              </a:rPr>
              <a:t>• </a:t>
            </a:r>
            <a:r>
              <a:rPr lang="de-DE" sz="1400" b="1" dirty="0">
                <a:solidFill>
                  <a:srgbClr val="C8102E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Funde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lang="de-DE" sz="1400" dirty="0">
                <a:solidFill>
                  <a:srgbClr val="1F2A36"/>
                </a:solidFill>
                <a:latin typeface="Calibri"/>
              </a:rPr>
              <a:t>während der Entwicklung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sind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10–100×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billiger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als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lang="de-DE" sz="1400" dirty="0">
                <a:solidFill>
                  <a:srgbClr val="1F2A36"/>
                </a:solidFill>
                <a:latin typeface="Calibri"/>
              </a:rPr>
              <a:t>	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Nachbesserungen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im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Betrieb</a:t>
            </a:r>
            <a:r>
              <a:rPr sz="1400" dirty="0">
                <a:solidFill>
                  <a:srgbClr val="1F2A36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erhöht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generelle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Bedienbarkeit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</a:t>
            </a:r>
            <a:br>
              <a:rPr lang="de-DE" sz="1400" dirty="0">
                <a:solidFill>
                  <a:srgbClr val="1F2A36"/>
                </a:solidFill>
                <a:latin typeface="Calibri"/>
              </a:rPr>
            </a:br>
            <a:r>
              <a:rPr lang="de-DE" sz="1400" dirty="0">
                <a:solidFill>
                  <a:srgbClr val="1F2A36"/>
                </a:solidFill>
                <a:latin typeface="Calibri"/>
              </a:rPr>
              <a:t>	</a:t>
            </a:r>
            <a:r>
              <a:rPr sz="1400" dirty="0">
                <a:solidFill>
                  <a:srgbClr val="1F2A36"/>
                </a:solidFill>
                <a:latin typeface="Calibri"/>
              </a:rPr>
              <a:t>(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Stichwort</a:t>
            </a:r>
            <a:r>
              <a:rPr sz="1400" dirty="0">
                <a:solidFill>
                  <a:srgbClr val="1F2A36"/>
                </a:solidFill>
                <a:latin typeface="Calibri"/>
              </a:rPr>
              <a:t> „Curb-Cut-</a:t>
            </a:r>
            <a:r>
              <a:rPr sz="1400" dirty="0" err="1">
                <a:solidFill>
                  <a:srgbClr val="1F2A36"/>
                </a:solidFill>
                <a:latin typeface="Calibri"/>
              </a:rPr>
              <a:t>Effekt</a:t>
            </a:r>
            <a:r>
              <a:rPr sz="1400" dirty="0">
                <a:solidFill>
                  <a:srgbClr val="1F2A36"/>
                </a:solidFill>
                <a:latin typeface="Calibri"/>
              </a:rPr>
              <a:t>“).</a:t>
            </a:r>
            <a:endParaRPr lang="de-DE" sz="1400" dirty="0">
              <a:solidFill>
                <a:srgbClr val="1F2A36"/>
              </a:solidFill>
              <a:latin typeface="Calibri"/>
            </a:endParaRP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lang="de-DE" sz="1400" b="1" dirty="0">
                <a:solidFill>
                  <a:srgbClr val="C8102E"/>
                </a:solidFill>
              </a:rPr>
              <a:t>•  </a:t>
            </a:r>
            <a:r>
              <a:rPr lang="de-DE" sz="1400" dirty="0">
                <a:solidFill>
                  <a:srgbClr val="1F2A36"/>
                </a:solidFill>
              </a:rPr>
              <a:t>BFSG, EU-Web­barriere­freiheits­richtlinie, BITV 2.0 verlangen Nachweise.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endParaRPr sz="140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333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 dirty="0">
                <a:solidFill>
                  <a:srgbClr val="1F2A36"/>
                </a:solidFill>
                <a:latin typeface="Calibri"/>
              </a:rPr>
              <a:t>Was </a:t>
            </a:r>
            <a:r>
              <a:rPr sz="2000" b="1" i="0" dirty="0" err="1">
                <a:solidFill>
                  <a:srgbClr val="1F2A36"/>
                </a:solidFill>
                <a:latin typeface="Calibri"/>
              </a:rPr>
              <a:t>prüfen</a:t>
            </a:r>
            <a:r>
              <a:rPr sz="2000" b="1" i="0" dirty="0">
                <a:solidFill>
                  <a:srgbClr val="1F2A36"/>
                </a:solidFill>
                <a:latin typeface="Calibri"/>
              </a:rPr>
              <a:t>? – WCAG-</a:t>
            </a:r>
            <a:r>
              <a:rPr sz="2000" b="1" i="0" dirty="0" err="1">
                <a:solidFill>
                  <a:srgbClr val="1F2A36"/>
                </a:solidFill>
                <a:latin typeface="Calibri"/>
              </a:rPr>
              <a:t>Prinzipien</a:t>
            </a:r>
            <a:endParaRPr sz="20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9" name="Oval 8"/>
          <p:cNvSpPr/>
          <p:nvPr/>
        </p:nvSpPr>
        <p:spPr>
          <a:xfrm>
            <a:off x="6400800" y="2240280"/>
            <a:ext cx="548640" cy="54864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2194560"/>
            <a:ext cx="5029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400" b="1" dirty="0"/>
              <a:t>Wahrnehmbar</a:t>
            </a:r>
            <a:endParaRPr sz="1400" b="1" i="0" dirty="0"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086600" y="2514600"/>
            <a:ext cx="50292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dirty="0" err="1">
                <a:solidFill>
                  <a:srgbClr val="5A6470"/>
                </a:solidFill>
                <a:latin typeface="Calibri"/>
              </a:rPr>
              <a:t>Textalternativen</a:t>
            </a:r>
            <a:r>
              <a:rPr sz="1200" b="0" i="0" dirty="0">
                <a:solidFill>
                  <a:srgbClr val="5A6470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5A6470"/>
                </a:solidFill>
                <a:latin typeface="Calibri"/>
              </a:rPr>
              <a:t>Kontrast</a:t>
            </a:r>
            <a:r>
              <a:rPr sz="1200" b="0" i="0" dirty="0">
                <a:solidFill>
                  <a:srgbClr val="5A6470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5A6470"/>
                </a:solidFill>
                <a:latin typeface="Calibri"/>
              </a:rPr>
              <a:t>Struktur</a:t>
            </a:r>
            <a:r>
              <a:rPr sz="1200" b="0" i="0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3108960"/>
            <a:ext cx="548640" cy="54864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3063240"/>
            <a:ext cx="5029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400" b="1" dirty="0"/>
              <a:t>Bedienbar</a:t>
            </a:r>
            <a:endParaRPr sz="1400" b="1" i="0" dirty="0"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86600" y="3383280"/>
            <a:ext cx="50292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dirty="0" err="1">
                <a:solidFill>
                  <a:srgbClr val="5A6470"/>
                </a:solidFill>
                <a:latin typeface="Calibri"/>
              </a:rPr>
              <a:t>Tastatur</a:t>
            </a:r>
            <a:r>
              <a:rPr sz="1200" b="0" i="0" dirty="0">
                <a:solidFill>
                  <a:srgbClr val="5A6470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5A6470"/>
                </a:solidFill>
                <a:latin typeface="Calibri"/>
              </a:rPr>
              <a:t>Fokus</a:t>
            </a:r>
            <a:r>
              <a:rPr sz="1200" b="0" i="0" dirty="0">
                <a:solidFill>
                  <a:srgbClr val="5A6470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5A6470"/>
                </a:solidFill>
                <a:latin typeface="Calibri"/>
              </a:rPr>
              <a:t>ausreichend</a:t>
            </a:r>
            <a:r>
              <a:rPr sz="1200" b="0" i="0" dirty="0">
                <a:solidFill>
                  <a:srgbClr val="5A6470"/>
                </a:solidFill>
                <a:latin typeface="Calibri"/>
              </a:rPr>
              <a:t> Zeit.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3977640"/>
            <a:ext cx="548640" cy="54864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931920"/>
            <a:ext cx="50292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400" b="1" dirty="0"/>
              <a:t>Verständlich</a:t>
            </a:r>
            <a:endParaRPr sz="1400" b="1" i="0" dirty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86600" y="4251960"/>
            <a:ext cx="50292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dirty="0" err="1">
                <a:solidFill>
                  <a:srgbClr val="5A6470"/>
                </a:solidFill>
                <a:latin typeface="Calibri"/>
              </a:rPr>
              <a:t>klare</a:t>
            </a:r>
            <a:r>
              <a:rPr sz="1200" b="0" i="0" dirty="0">
                <a:solidFill>
                  <a:srgbClr val="5A647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A6470"/>
                </a:solidFill>
                <a:latin typeface="Calibri"/>
              </a:rPr>
              <a:t>Sprache</a:t>
            </a:r>
            <a:r>
              <a:rPr sz="1200" b="0" i="0" dirty="0">
                <a:solidFill>
                  <a:srgbClr val="5A6470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5A6470"/>
                </a:solidFill>
                <a:latin typeface="Calibri"/>
              </a:rPr>
              <a:t>Fehler­meldungen</a:t>
            </a:r>
            <a:r>
              <a:rPr sz="1200" b="0" i="0" dirty="0">
                <a:solidFill>
                  <a:srgbClr val="5A6470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5A6470"/>
                </a:solidFill>
                <a:latin typeface="Calibri"/>
              </a:rPr>
              <a:t>Hilfen</a:t>
            </a:r>
            <a:r>
              <a:rPr sz="1200" b="0" i="0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4846320"/>
            <a:ext cx="548640" cy="54864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48006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>
                <a:solidFill>
                  <a:srgbClr val="1F2A36"/>
                </a:solidFill>
                <a:latin typeface="Calibri"/>
              </a:rPr>
              <a:t>Robust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5120640"/>
            <a:ext cx="50292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dirty="0" err="1">
                <a:solidFill>
                  <a:srgbClr val="5A6470"/>
                </a:solidFill>
                <a:latin typeface="Calibri"/>
              </a:rPr>
              <a:t>semantisches</a:t>
            </a:r>
            <a:r>
              <a:rPr sz="1200" b="0" i="0" dirty="0">
                <a:solidFill>
                  <a:srgbClr val="5A6470"/>
                </a:solidFill>
                <a:latin typeface="Calibri"/>
              </a:rPr>
              <a:t> Markup, ARIA, UI Automation.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1 · Prüfen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C8102E"/>
                </a:solidFill>
                <a:latin typeface="Calibri"/>
              </a:rPr>
              <a:t>Wie prüfen? – Drei sich ergänzende Ebenen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3657600" cy="457200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3657600" cy="10972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F2A36"/>
                </a:solidFill>
                <a:latin typeface="Calibri"/>
              </a:rPr>
              <a:t>Mit Tastatur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C8102E"/>
                </a:solidFill>
                <a:latin typeface="Calibri"/>
              </a:rPr>
              <a:t>Maus weg!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71800"/>
            <a:ext cx="3108960" cy="14687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lang="de-DE" sz="1200" dirty="0">
                <a:solidFill>
                  <a:srgbClr val="1F2A36"/>
                </a:solidFill>
                <a:latin typeface="Calibri"/>
              </a:rPr>
              <a:t>Navigieren mit Ta</a:t>
            </a:r>
            <a:r>
              <a:rPr sz="1200" dirty="0">
                <a:solidFill>
                  <a:srgbClr val="1F2A36"/>
                </a:solidFill>
                <a:latin typeface="Calibri"/>
              </a:rPr>
              <a:t>b /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Shift+Tab</a:t>
            </a:r>
            <a:r>
              <a:rPr sz="1200" dirty="0">
                <a:solidFill>
                  <a:srgbClr val="1F2A36"/>
                </a:solidFill>
                <a:latin typeface="Calibri"/>
              </a:rPr>
              <a:t> </a:t>
            </a:r>
            <a:r>
              <a:rPr lang="de-DE" sz="1200" dirty="0">
                <a:solidFill>
                  <a:srgbClr val="1F2A36"/>
                </a:solidFill>
                <a:latin typeface="Calibri"/>
              </a:rPr>
              <a:t>über die GUI</a:t>
            </a:r>
            <a:r>
              <a:rPr sz="1200" dirty="0">
                <a:solidFill>
                  <a:srgbClr val="1F2A36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Fokus</a:t>
            </a:r>
            <a:r>
              <a:rPr sz="1200" dirty="0">
                <a:solidFill>
                  <a:srgbClr val="1F2A36"/>
                </a:solidFill>
                <a:latin typeface="Calibri"/>
              </a:rPr>
              <a:t> immer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sichtbar</a:t>
            </a:r>
            <a:r>
              <a:rPr sz="1200" dirty="0">
                <a:solidFill>
                  <a:srgbClr val="1F2A36"/>
                </a:solidFill>
                <a:latin typeface="Calibri"/>
              </a:rPr>
              <a:t>?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Logische</a:t>
            </a:r>
            <a:r>
              <a:rPr sz="1200" dirty="0">
                <a:solidFill>
                  <a:srgbClr val="1F2A36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Reihenfolge</a:t>
            </a:r>
            <a:r>
              <a:rPr sz="1200" dirty="0">
                <a:solidFill>
                  <a:srgbClr val="1F2A36"/>
                </a:solidFill>
                <a:latin typeface="Calibri"/>
              </a:rPr>
              <a:t>?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lang="de-DE" sz="1200" dirty="0">
                <a:solidFill>
                  <a:srgbClr val="1F2A36"/>
                </a:solidFill>
                <a:latin typeface="Calibri"/>
              </a:rPr>
              <a:t>Alles erreichbar, k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eine</a:t>
            </a:r>
            <a:r>
              <a:rPr sz="1200" dirty="0">
                <a:solidFill>
                  <a:srgbClr val="1F2A36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Tastatur­fallen</a:t>
            </a:r>
            <a:r>
              <a:rPr sz="1200" dirty="0">
                <a:solidFill>
                  <a:srgbClr val="1F2A36"/>
                </a:solidFill>
                <a:latin typeface="Calibri"/>
              </a:rPr>
              <a:t> </a:t>
            </a:r>
            <a:br>
              <a:rPr lang="de-DE" sz="1200" dirty="0">
                <a:solidFill>
                  <a:srgbClr val="1F2A36"/>
                </a:solidFill>
                <a:latin typeface="Calibri"/>
              </a:rPr>
            </a:br>
            <a:r>
              <a:rPr lang="de-DE" sz="1200" dirty="0">
                <a:solidFill>
                  <a:srgbClr val="1F2A36"/>
                </a:solidFill>
                <a:latin typeface="Calibri"/>
              </a:rPr>
              <a:t>	</a:t>
            </a:r>
            <a:r>
              <a:rPr sz="1200" dirty="0">
                <a:solidFill>
                  <a:srgbClr val="1F2A36"/>
                </a:solidFill>
                <a:latin typeface="Calibri"/>
              </a:rPr>
              <a:t>(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Modale</a:t>
            </a:r>
            <a:r>
              <a:rPr sz="1200" dirty="0">
                <a:solidFill>
                  <a:srgbClr val="1F2A36"/>
                </a:solidFill>
                <a:latin typeface="Calibri"/>
              </a:rPr>
              <a:t>, Custom-Controls).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200" dirty="0">
                <a:solidFill>
                  <a:srgbClr val="1F2A36"/>
                </a:solidFill>
                <a:latin typeface="Calibri"/>
              </a:rPr>
              <a:t>Enter / Space / Escape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funktionieren</a:t>
            </a:r>
            <a:r>
              <a:rPr lang="de-DE" sz="1200" dirty="0">
                <a:solidFill>
                  <a:srgbClr val="1F2A36"/>
                </a:solidFill>
                <a:latin typeface="Calibri"/>
              </a:rPr>
              <a:t> wie 	erwartet</a:t>
            </a:r>
            <a:r>
              <a:rPr sz="1200" dirty="0">
                <a:solidFill>
                  <a:srgbClr val="1F2A36"/>
                </a:solidFill>
                <a:latin typeface="Calibri"/>
              </a:rPr>
              <a:t>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1737360"/>
            <a:ext cx="3657600" cy="457200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61688" y="1737360"/>
            <a:ext cx="3657600" cy="10972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01168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F2A36"/>
                </a:solidFill>
                <a:latin typeface="Calibri"/>
              </a:rPr>
              <a:t>Mit Screenreader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5146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C8102E"/>
                </a:solidFill>
                <a:latin typeface="Calibri"/>
              </a:rPr>
              <a:t>NVDA + JAWS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971800"/>
            <a:ext cx="3108960" cy="1741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Vorlesen</a:t>
            </a:r>
            <a:r>
              <a:rPr sz="1200" dirty="0">
                <a:solidFill>
                  <a:srgbClr val="1F2A36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jedes</a:t>
            </a:r>
            <a:r>
              <a:rPr sz="1200" dirty="0">
                <a:solidFill>
                  <a:srgbClr val="1F2A36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interaktiven</a:t>
            </a:r>
            <a:r>
              <a:rPr sz="1200" dirty="0">
                <a:solidFill>
                  <a:srgbClr val="1F2A36"/>
                </a:solidFill>
                <a:latin typeface="Calibri"/>
              </a:rPr>
              <a:t> Elements: </a:t>
            </a:r>
            <a:br>
              <a:rPr lang="de-DE" sz="1200" dirty="0">
                <a:solidFill>
                  <a:srgbClr val="1F2A36"/>
                </a:solidFill>
                <a:latin typeface="Calibri"/>
              </a:rPr>
            </a:br>
            <a:r>
              <a:rPr lang="de-DE" sz="1200" dirty="0">
                <a:solidFill>
                  <a:srgbClr val="1F2A36"/>
                </a:solidFill>
                <a:latin typeface="Calibri"/>
              </a:rPr>
              <a:t>	</a:t>
            </a:r>
            <a:r>
              <a:rPr sz="1200" dirty="0">
                <a:solidFill>
                  <a:srgbClr val="1F2A36"/>
                </a:solidFill>
                <a:latin typeface="Calibri"/>
              </a:rPr>
              <a:t>Name, Rolle, Wert.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200" dirty="0">
                <a:solidFill>
                  <a:srgbClr val="1F2A36"/>
                </a:solidFill>
                <a:latin typeface="Calibri"/>
              </a:rPr>
              <a:t>Browse-/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Fokus</a:t>
            </a:r>
            <a:r>
              <a:rPr sz="1200" dirty="0">
                <a:solidFill>
                  <a:srgbClr val="1F2A36"/>
                </a:solidFill>
                <a:latin typeface="Calibri"/>
              </a:rPr>
              <a:t>-Modus (Web)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bzw</a:t>
            </a:r>
            <a:r>
              <a:rPr sz="1200" dirty="0">
                <a:solidFill>
                  <a:srgbClr val="1F2A36"/>
                </a:solidFill>
                <a:latin typeface="Calibri"/>
              </a:rPr>
              <a:t>. </a:t>
            </a:r>
            <a:endParaRPr lang="de-DE" sz="1200" dirty="0">
              <a:solidFill>
                <a:srgbClr val="1F2A36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de-DE" sz="1200" dirty="0">
                <a:solidFill>
                  <a:srgbClr val="1F2A36"/>
                </a:solidFill>
                <a:latin typeface="Calibri"/>
              </a:rPr>
              <a:t>	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Objekt­navigation</a:t>
            </a:r>
            <a:r>
              <a:rPr sz="1200" dirty="0">
                <a:solidFill>
                  <a:srgbClr val="1F2A36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testen</a:t>
            </a:r>
            <a:r>
              <a:rPr sz="1200" dirty="0">
                <a:solidFill>
                  <a:srgbClr val="1F2A36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200" dirty="0">
                <a:solidFill>
                  <a:srgbClr val="1F2A36"/>
                </a:solidFill>
                <a:latin typeface="Calibri"/>
              </a:rPr>
              <a:t>Live-Regions,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Statusmeldungen</a:t>
            </a:r>
            <a:r>
              <a:rPr sz="1200" dirty="0">
                <a:solidFill>
                  <a:srgbClr val="1F2A36"/>
                </a:solidFill>
                <a:latin typeface="Calibri"/>
              </a:rPr>
              <a:t>, </a:t>
            </a:r>
            <a:r>
              <a:rPr lang="de-DE" sz="1200" dirty="0">
                <a:solidFill>
                  <a:srgbClr val="1F2A36"/>
                </a:solidFill>
                <a:latin typeface="Calibri"/>
              </a:rPr>
              <a:t>	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Fehlerausgaben</a:t>
            </a:r>
            <a:r>
              <a:rPr sz="1200" dirty="0">
                <a:solidFill>
                  <a:srgbClr val="1F2A36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200" dirty="0">
                <a:solidFill>
                  <a:srgbClr val="1F2A36"/>
                </a:solidFill>
                <a:latin typeface="Calibri"/>
              </a:rPr>
              <a:t>NVDA Speech-Viewer</a:t>
            </a:r>
            <a:r>
              <a:rPr lang="de-DE" sz="1200" dirty="0">
                <a:solidFill>
                  <a:srgbClr val="1F2A36"/>
                </a:solidFill>
                <a:latin typeface="Calibri"/>
              </a:rPr>
              <a:t>, JAWS </a:t>
            </a:r>
            <a:r>
              <a:rPr lang="de-DE" sz="1200" dirty="0" err="1">
                <a:solidFill>
                  <a:srgbClr val="1F2A36"/>
                </a:solidFill>
                <a:latin typeface="Calibri"/>
              </a:rPr>
              <a:t>Braillebetrachter</a:t>
            </a:r>
            <a:r>
              <a:rPr lang="de-DE" sz="1200" dirty="0">
                <a:solidFill>
                  <a:srgbClr val="1F2A36"/>
                </a:solidFill>
                <a:latin typeface="Calibri"/>
              </a:rPr>
              <a:t>…</a:t>
            </a:r>
            <a:endParaRPr sz="120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266176" y="1737360"/>
            <a:ext cx="3657600" cy="457200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66176" y="1737360"/>
            <a:ext cx="3657600" cy="10972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40496" y="201168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F2A36"/>
                </a:solidFill>
                <a:latin typeface="Calibri"/>
              </a:rPr>
              <a:t>Mit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5146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 dirty="0" err="1">
                <a:solidFill>
                  <a:srgbClr val="C8102E"/>
                </a:solidFill>
                <a:latin typeface="Calibri"/>
              </a:rPr>
              <a:t>Schnellprüfung</a:t>
            </a:r>
            <a:r>
              <a:rPr sz="1300" b="0" i="1" dirty="0">
                <a:solidFill>
                  <a:srgbClr val="C8102E"/>
                </a:solidFill>
                <a:latin typeface="Calibri"/>
              </a:rPr>
              <a:t> &amp; Reports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971800"/>
            <a:ext cx="3108960" cy="23387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200" dirty="0">
                <a:solidFill>
                  <a:srgbClr val="1F2A36"/>
                </a:solidFill>
                <a:latin typeface="Calibri"/>
              </a:rPr>
              <a:t>Browser: axe DevTools, WAVE, Lighthouse.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Kontraste</a:t>
            </a:r>
            <a:r>
              <a:rPr sz="1200" dirty="0">
                <a:solidFill>
                  <a:srgbClr val="1F2A36"/>
                </a:solidFill>
                <a:latin typeface="Calibri"/>
              </a:rPr>
              <a:t>: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Colour</a:t>
            </a:r>
            <a:r>
              <a:rPr sz="1200" dirty="0">
                <a:solidFill>
                  <a:srgbClr val="1F2A36"/>
                </a:solidFill>
                <a:latin typeface="Calibri"/>
              </a:rPr>
              <a:t> Contrast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Analyser</a:t>
            </a:r>
            <a:r>
              <a:rPr sz="1200" dirty="0">
                <a:solidFill>
                  <a:srgbClr val="1F2A36"/>
                </a:solidFill>
                <a:latin typeface="Calibri"/>
              </a:rPr>
              <a:t> (CCA).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200" dirty="0">
                <a:solidFill>
                  <a:srgbClr val="1F2A36"/>
                </a:solidFill>
                <a:latin typeface="Calibri"/>
              </a:rPr>
              <a:t>Windows-Apps: Accessibility Insights for Windows.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200" dirty="0">
                <a:solidFill>
                  <a:srgbClr val="1F2A36"/>
                </a:solidFill>
                <a:latin typeface="Calibri"/>
              </a:rPr>
              <a:t>PDFs: PAC 2024 / Adobe Pro </a:t>
            </a:r>
            <a:r>
              <a:rPr sz="1200" dirty="0" err="1">
                <a:solidFill>
                  <a:srgbClr val="1F2A36"/>
                </a:solidFill>
                <a:latin typeface="Calibri"/>
              </a:rPr>
              <a:t>Vollprüfung</a:t>
            </a:r>
            <a:r>
              <a:rPr sz="1200" dirty="0">
                <a:solidFill>
                  <a:srgbClr val="1F2A36"/>
                </a:solidFill>
                <a:latin typeface="Calibri"/>
              </a:rPr>
              <a:t>.</a:t>
            </a:r>
            <a:endParaRPr lang="de-DE" sz="1200" dirty="0">
              <a:solidFill>
                <a:srgbClr val="1F2A36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endParaRPr lang="de-DE" sz="1200" dirty="0">
              <a:solidFill>
                <a:srgbClr val="1F2A36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endParaRPr lang="de-DE" sz="1200" dirty="0">
              <a:solidFill>
                <a:srgbClr val="1F2A36"/>
              </a:solidFill>
              <a:latin typeface="Calibri"/>
            </a:endParaRP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lang="de-DE" sz="1200" b="1" dirty="0">
                <a:solidFill>
                  <a:srgbClr val="C8102E"/>
                </a:solidFill>
              </a:rPr>
              <a:t>•  </a:t>
            </a:r>
            <a:r>
              <a:rPr lang="de-DE" sz="1200" dirty="0">
                <a:solidFill>
                  <a:srgbClr val="1F2A36"/>
                </a:solidFill>
              </a:rPr>
              <a:t>BIT Inklusiv Tests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lang="de-DE" sz="1200" b="1" dirty="0">
                <a:solidFill>
                  <a:srgbClr val="C8102E"/>
                </a:solidFill>
              </a:rPr>
              <a:t>•  </a:t>
            </a:r>
            <a:r>
              <a:rPr lang="de-DE" sz="1200" dirty="0">
                <a:solidFill>
                  <a:srgbClr val="1F2A36"/>
                </a:solidFill>
              </a:rPr>
              <a:t>BITV Test</a:t>
            </a:r>
            <a:endParaRPr sz="120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1 · Prüfen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5 / 18</a:t>
            </a:r>
          </a:p>
        </p:txBody>
      </p:sp>
      <p:sp>
        <p:nvSpPr>
          <p:cNvPr id="24" name="TextBox 18">
            <a:extLst>
              <a:ext uri="{FF2B5EF4-FFF2-40B4-BE49-F238E27FC236}">
                <a16:creationId xmlns:a16="http://schemas.microsoft.com/office/drawing/2014/main" id="{26BFD4B4-C209-FBDC-2A1B-F07D3250F48A}"/>
              </a:ext>
            </a:extLst>
          </p:cNvPr>
          <p:cNvSpPr txBox="1"/>
          <p:nvPr/>
        </p:nvSpPr>
        <p:spPr>
          <a:xfrm>
            <a:off x="8540496" y="4450474"/>
            <a:ext cx="3108960" cy="216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300" b="0" i="1" dirty="0">
                <a:solidFill>
                  <a:srgbClr val="C8102E"/>
                </a:solidFill>
                <a:latin typeface="Calibri"/>
              </a:rPr>
              <a:t>Vollständige Tests</a:t>
            </a:r>
            <a:endParaRPr sz="1300" b="0" i="1" dirty="0">
              <a:solidFill>
                <a:srgbClr val="C8102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8288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0" b="1" i="0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011680"/>
            <a:ext cx="8686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Anpassen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3291840"/>
            <a:ext cx="8686800" cy="333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 dirty="0" err="1">
                <a:solidFill>
                  <a:srgbClr val="E9ECEF"/>
                </a:solidFill>
                <a:latin typeface="Calibri"/>
              </a:rPr>
              <a:t>Screenreader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-Anpassungen für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 NVDA &amp; JAWS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420624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C8102E"/>
                </a:solidFill>
                <a:latin typeface="Calibri"/>
              </a:rPr>
              <a:t>Screenreader-Anpassungen · JAWS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(Welt-)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Marktführer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im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Business-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Umfeld</a:t>
            </a:r>
            <a:endParaRPr sz="1400" b="0" i="1" dirty="0">
              <a:solidFill>
                <a:srgbClr val="5A647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2A36"/>
                </a:solidFill>
                <a:latin typeface="Calibri"/>
              </a:rPr>
              <a:t>Wichtige Einstellungen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06040"/>
            <a:ext cx="54864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Stimme: Vocalizer Expert (z.B. „Anna“) ~280–320 Worte/Min.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Tastatur-Layout: Desktop (JAWS-Key = Einf) oder Laptop (Caps).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Ausführlichkeit: „Mittel“; Symbole „Manche“.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Modus „Schneller Datei-Zugriff“ + Smart-Navigation an.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Tutor-Meldungen für die Demo abschalten (Insert + V).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Settings Center pro Anwendung anpassbar (z.B. Word, Outlook, Browser).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031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2A36"/>
                </a:solidFill>
                <a:latin typeface="Calibri"/>
              </a:rPr>
              <a:t>Spezialitäten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606040"/>
            <a:ext cx="54864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JAWS-Cursor / PC-Cursor / virtuelles Cursor-Modell (Insert + Z bzw. +).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JAWS Inspect (Freedom Scientific) für automatisierte Reports.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Skripting in JSS für firmenspezifische Anwendungen.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Picture Smart (KI-Bildbeschreibung) seit JAWS 2023.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Convenient OCR für Bild-Texte und gescannte PDFs.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Pro-Tipp: Mit NVDA gegentesten – beide nutzen MSAA/UIA unterschiedlich.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2 · Anpassen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C8102E"/>
                </a:solidFill>
                <a:latin typeface="Calibri"/>
              </a:rPr>
              <a:t>Screenreader-Anpassungen · NVDA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>
                <a:solidFill>
                  <a:srgbClr val="5A6470"/>
                </a:solidFill>
                <a:latin typeface="Calibri"/>
              </a:rPr>
              <a:t>Open-Source-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Screenreader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, ideal für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Entwickler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-Tests</a:t>
            </a: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, Demos und als wachsende Alternative in allen Bereichen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2A36"/>
                </a:solidFill>
                <a:latin typeface="Calibri"/>
              </a:rPr>
              <a:t>Wichtige Einstellungen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06040"/>
            <a:ext cx="54864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Stimme: eSpeak-NG für klare Demo; Sprech­geschwindigkeit ~25–30 %.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Tastatur-Layout: Desktop (NVDA = Einf) oder Laptop (NVDA = Caps).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Spracherkennung von Symbolen: „Manche“ (für Vorträge angenehmer).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Maus-Verfolgung aus, Fokus-Verfolgung an.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Modus „Strukturzeichen“ wechseln: NVDA+P (Punkte / Wörter / alle).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Calibri"/>
              </a:rPr>
              <a:t>•  </a:t>
            </a:r>
            <a:r>
              <a:rPr sz="1300">
                <a:solidFill>
                  <a:srgbClr val="1F2A36"/>
                </a:solidFill>
                <a:latin typeface="Calibri"/>
              </a:rPr>
              <a:t>Add-ons: NVDA Remote, Tony's Add-Ons, Speech History.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031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2A36"/>
                </a:solidFill>
                <a:latin typeface="Calibri"/>
              </a:rPr>
              <a:t>Hilfen für die Demonstration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606040"/>
            <a:ext cx="54864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300" dirty="0">
                <a:solidFill>
                  <a:srgbClr val="1F2A36"/>
                </a:solidFill>
                <a:latin typeface="Calibri"/>
              </a:rPr>
              <a:t>Speech Viewer (NVDA-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Menü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→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Werkzeuge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→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Sprach­anzeige</a:t>
            </a:r>
            <a:r>
              <a:rPr sz="1300" dirty="0">
                <a:solidFill>
                  <a:srgbClr val="1F2A36"/>
                </a:solidFill>
                <a:latin typeface="Calibri"/>
              </a:rPr>
              <a:t>) –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Publikum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liest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mit</a:t>
            </a:r>
            <a:r>
              <a:rPr sz="1300" dirty="0">
                <a:solidFill>
                  <a:srgbClr val="1F2A36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Eingabe-Hilfe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(NVDA+1):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zeigt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jede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Taste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mit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Funktion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an.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300" dirty="0">
                <a:solidFill>
                  <a:srgbClr val="1F2A36"/>
                </a:solidFill>
                <a:latin typeface="Calibri"/>
              </a:rPr>
              <a:t>Log-Viewer (NVDA+F1) für Debugging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fehlerhafter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ARIA-Bindings.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300" dirty="0">
                <a:solidFill>
                  <a:srgbClr val="1F2A36"/>
                </a:solidFill>
                <a:latin typeface="Calibri"/>
              </a:rPr>
              <a:t>Browser-Modus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mit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NVDA+Leertaste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umschalten</a:t>
            </a:r>
            <a:r>
              <a:rPr sz="1300" dirty="0">
                <a:solidFill>
                  <a:srgbClr val="1F2A36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300" dirty="0">
                <a:solidFill>
                  <a:srgbClr val="1F2A36"/>
                </a:solidFill>
                <a:latin typeface="Calibri"/>
              </a:rPr>
              <a:t>Schnelle Navigation: H für Headings, F für Felder, B für Buttons.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 dirty="0">
                <a:solidFill>
                  <a:srgbClr val="C8102E"/>
                </a:solidFill>
                <a:latin typeface="Calibri"/>
              </a:rPr>
              <a:t>• 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Konfigurationsprofile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pro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Anwendung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möglich</a:t>
            </a:r>
            <a:r>
              <a:rPr sz="1300" dirty="0">
                <a:solidFill>
                  <a:srgbClr val="1F2A36"/>
                </a:solidFill>
                <a:latin typeface="Calibr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2 · Anpassen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8288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0" b="1" i="0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011680"/>
            <a:ext cx="8686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Entwickeln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3291840"/>
            <a:ext cx="8686800" cy="68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 dirty="0" err="1">
                <a:solidFill>
                  <a:srgbClr val="E9ECEF"/>
                </a:solidFill>
                <a:latin typeface="Calibri"/>
              </a:rPr>
              <a:t>Barrierefreie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E9ECEF"/>
                </a:solidFill>
                <a:latin typeface="Calibri"/>
              </a:rPr>
              <a:t>Anwendungen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 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am Beispiel einer W</a:t>
            </a:r>
            <a:r>
              <a:rPr sz="2000" b="0" i="1" dirty="0" err="1">
                <a:solidFill>
                  <a:srgbClr val="E9ECEF"/>
                </a:solidFill>
                <a:latin typeface="Calibri"/>
              </a:rPr>
              <a:t>eb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-App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,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 einer </a:t>
            </a:r>
            <a:r>
              <a:rPr lang="de-DE" sz="2000" b="0" i="1" dirty="0" err="1">
                <a:solidFill>
                  <a:srgbClr val="E9ECEF"/>
                </a:solidFill>
                <a:latin typeface="Calibri"/>
              </a:rPr>
              <a:t>WinUI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-App und </a:t>
            </a:r>
            <a:br>
              <a:rPr lang="de-DE" sz="2000" b="0" i="1" dirty="0">
                <a:solidFill>
                  <a:srgbClr val="E9ECEF"/>
                </a:solidFill>
                <a:latin typeface="Calibri"/>
              </a:rPr>
            </a:b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zwei </a:t>
            </a:r>
            <a:r>
              <a:rPr lang="de-DE" sz="2000" b="0" i="1" dirty="0" err="1">
                <a:solidFill>
                  <a:srgbClr val="E9ECEF"/>
                </a:solidFill>
                <a:latin typeface="Calibri"/>
              </a:rPr>
              <a:t>klassichen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 Windows Anwendungen (Python und 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WPF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)</a:t>
            </a:r>
            <a:endParaRPr sz="2000" b="0" i="1" dirty="0">
              <a:solidFill>
                <a:srgbClr val="E9ECE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108960" y="420624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C8102E"/>
                </a:solidFill>
                <a:latin typeface="Calibri"/>
              </a:rPr>
              <a:t>Barrierefrei entwickeln – Leitplanken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 err="1">
                <a:solidFill>
                  <a:srgbClr val="5A6470"/>
                </a:solidFill>
                <a:latin typeface="Calibri"/>
              </a:rPr>
              <a:t>Plattform­unabhängige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Grundregeln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, die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sich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auf Web, </a:t>
            </a: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Python GUIs, 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WPF,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WinUI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und </a:t>
            </a: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weitere (MAUI…)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gleichermaßen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anwenden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lassen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331720"/>
            <a:ext cx="411480" cy="4114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2A36"/>
                </a:solidFill>
                <a:latin typeface="Calibri"/>
              </a:rPr>
              <a:t>Name, Rolle, Wert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470"/>
                </a:solidFill>
                <a:latin typeface="Calibri"/>
              </a:rPr>
              <a:t>Jedes interaktive Element braucht einen zugänglichen Namen (was), eine Rolle (welche Art) und einen Wert (Zustand).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2331720"/>
            <a:ext cx="411480" cy="4114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2860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2A36"/>
                </a:solidFill>
                <a:latin typeface="Calibri"/>
              </a:rPr>
              <a:t>Tastatur zuerst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97480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470"/>
                </a:solidFill>
                <a:latin typeface="Calibri"/>
              </a:rPr>
              <a:t>Tab-Reihenfolge logisch, Fokus immer sichtbar, keine Maus-only-Interaktionen. Disabled nur, wenn Inhalt wirklich nicht relevant ist.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2A36"/>
                </a:solidFill>
                <a:latin typeface="Calibri"/>
              </a:rPr>
              <a:t>Struktur und Semantik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470"/>
                </a:solidFill>
                <a:latin typeface="Calibri"/>
              </a:rPr>
              <a:t>Überschriften-Hierarchien, Landmarks (header, main, nav), Tabellen mit echten Headern – nicht nur optisch nachbauen.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657600"/>
            <a:ext cx="411480" cy="4114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61188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2A36"/>
                </a:solidFill>
                <a:latin typeface="Calibri"/>
              </a:rPr>
              <a:t>Kontrast und Größe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023360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470"/>
                </a:solidFill>
                <a:latin typeface="Calibri"/>
              </a:rPr>
              <a:t>WCAG 2.2 AA: 4,5:1 für Text, 3:1 für UI-Komponenten. Mindest-Klickfläche 24 × 24 CSS-Pixel.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983480"/>
            <a:ext cx="411480" cy="4114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3776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2A36"/>
                </a:solidFill>
                <a:latin typeface="Calibri"/>
              </a:rPr>
              <a:t>Status­meldungen ansprechen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49240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470"/>
                </a:solidFill>
                <a:latin typeface="Calibri"/>
              </a:rPr>
              <a:t>Erfolgs- und Fehlermeldungen über Live-Regions / AutomationProperty.LiveSetting bekanntgeben.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C8102E"/>
                </a:solidFill>
                <a:latin typeface="Calibri"/>
              </a:rPr>
              <a:t>Plattformen &amp; Barrierefreiheits-APIs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2286000" cy="50292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02996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920240"/>
            <a:ext cx="2743200" cy="50292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360" y="2029968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API-Schicht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920240"/>
            <a:ext cx="6400800" cy="50292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23560" y="2029968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Wichtigste Konstrukte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2286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59" y="2532888"/>
            <a:ext cx="2102457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dirty="0">
                <a:solidFill>
                  <a:srgbClr val="1F2A36"/>
                </a:solidFill>
                <a:latin typeface="Calibri"/>
              </a:rPr>
              <a:t>Web (</a:t>
            </a:r>
            <a:r>
              <a:rPr lang="de-DE" sz="1200" b="0" i="0" dirty="0">
                <a:solidFill>
                  <a:srgbClr val="1F2A36"/>
                </a:solidFill>
                <a:latin typeface="Calibri"/>
              </a:rPr>
              <a:t>React / Bootstrap, </a:t>
            </a:r>
            <a:r>
              <a:rPr sz="1200" b="0" i="0" dirty="0">
                <a:solidFill>
                  <a:srgbClr val="1F2A36"/>
                </a:solidFill>
                <a:latin typeface="Calibri"/>
              </a:rPr>
              <a:t>Blazor</a:t>
            </a:r>
            <a:r>
              <a:rPr lang="de-DE" sz="1200" b="0" i="0" dirty="0">
                <a:solidFill>
                  <a:srgbClr val="1F2A36"/>
                </a:solidFill>
                <a:latin typeface="Calibri"/>
              </a:rPr>
              <a:t>…</a:t>
            </a:r>
            <a:r>
              <a:rPr sz="1200" b="0" i="0" dirty="0">
                <a:solidFill>
                  <a:srgbClr val="1F2A36"/>
                </a:solidFill>
                <a:latin typeface="Calibri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42316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880360" y="2532888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A36"/>
                </a:solidFill>
                <a:latin typeface="Calibri"/>
              </a:rPr>
              <a:t>ARIA + WAI-ARIA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2423160"/>
            <a:ext cx="64008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23560" y="2532888"/>
            <a:ext cx="6126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A36"/>
                </a:solidFill>
                <a:latin typeface="Calibri"/>
              </a:rPr>
              <a:t>&lt;label for&gt;, role="…", aria-label, aria-labelledby, aria-describedby, semantische HTML-Elemente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91840"/>
            <a:ext cx="22860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3401568"/>
            <a:ext cx="201168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dirty="0">
                <a:solidFill>
                  <a:srgbClr val="1F2A36"/>
                </a:solidFill>
                <a:latin typeface="Calibri"/>
              </a:rPr>
              <a:t>WPF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3291840"/>
            <a:ext cx="27432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80360" y="3401568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A36"/>
                </a:solidFill>
                <a:latin typeface="Calibri"/>
              </a:rPr>
              <a:t>MSAA + UI Automation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3291840"/>
            <a:ext cx="64008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23560" y="3401568"/>
            <a:ext cx="6126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A36"/>
                </a:solidFill>
                <a:latin typeface="Calibri"/>
              </a:rPr>
              <a:t>AutomationProperties.Name / .HelpText / .LabeledBy, Label-Target + AccessText, IsReadOnly statt IsEnabled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160520"/>
            <a:ext cx="2286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4270248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A36"/>
                </a:solidFill>
                <a:latin typeface="Calibri"/>
              </a:rPr>
              <a:t>WinUI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416052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880360" y="4270248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A36"/>
                </a:solidFill>
                <a:latin typeface="Calibri"/>
              </a:rPr>
              <a:t>UI Automation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4160520"/>
            <a:ext cx="64008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4270248"/>
            <a:ext cx="6126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A36"/>
                </a:solidFill>
                <a:latin typeface="Calibri"/>
              </a:rPr>
              <a:t>AutomationProperties.* (analog WPF), TextBox.Header, ToolTipService.ToolTip, NavigationView-Semantik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29200"/>
            <a:ext cx="22860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60" y="5138928"/>
            <a:ext cx="201168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200" dirty="0">
                <a:solidFill>
                  <a:srgbClr val="1F2A36"/>
                </a:solidFill>
              </a:rPr>
              <a:t>Andere Plattformen wie MAUI</a:t>
            </a:r>
            <a:endParaRPr sz="1200" b="0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2743200" y="5029200"/>
            <a:ext cx="27432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880360" y="5138928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dirty="0" err="1">
                <a:solidFill>
                  <a:srgbClr val="1F2A36"/>
                </a:solidFill>
                <a:latin typeface="Calibri"/>
              </a:rPr>
              <a:t>Plattform-Brücken</a:t>
            </a:r>
            <a:r>
              <a:rPr sz="12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F2A36"/>
                </a:solidFill>
                <a:latin typeface="Calibri"/>
              </a:rPr>
              <a:t>zu</a:t>
            </a:r>
            <a:r>
              <a:rPr sz="1200" b="0" i="0" dirty="0">
                <a:solidFill>
                  <a:srgbClr val="1F2A36"/>
                </a:solidFill>
                <a:latin typeface="Calibri"/>
              </a:rPr>
              <a:t> UIA, </a:t>
            </a:r>
            <a:r>
              <a:rPr sz="1200" b="0" i="0" dirty="0" err="1">
                <a:solidFill>
                  <a:srgbClr val="1F2A36"/>
                </a:solidFill>
                <a:latin typeface="Calibri"/>
              </a:rPr>
              <a:t>AccessibilityNodeInfo</a:t>
            </a:r>
            <a:r>
              <a:rPr sz="1200" b="0" i="0" dirty="0">
                <a:solidFill>
                  <a:srgbClr val="1F2A36"/>
                </a:solidFill>
                <a:latin typeface="Calibri"/>
              </a:rPr>
              <a:t>, </a:t>
            </a:r>
            <a:r>
              <a:rPr sz="1200" b="0" i="0" dirty="0" err="1">
                <a:solidFill>
                  <a:srgbClr val="1F2A36"/>
                </a:solidFill>
                <a:latin typeface="Calibri"/>
              </a:rPr>
              <a:t>UIAccessibility</a:t>
            </a:r>
            <a:endParaRPr sz="1200" b="0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486400" y="5029200"/>
            <a:ext cx="64008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23560" y="5138928"/>
            <a:ext cx="6126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A36"/>
                </a:solidFill>
                <a:latin typeface="Calibri"/>
              </a:rPr>
              <a:t>SemanticProperties.Description / .Hint / .HeadingLevel, SemanticScreenReader.Announce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A6470"/>
                </a:solidFill>
                <a:latin typeface="Calibri"/>
              </a:rPr>
              <a:t>Gemeinsamer Nenner: jede Plattform bietet einen Mechanismus, einem Control Name, Rolle und Wert zuzuweisen.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Fünf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typische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Barrieren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– und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ihre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Lösung</a:t>
            </a:r>
            <a:endParaRPr sz="30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 err="1">
                <a:solidFill>
                  <a:srgbClr val="5A6470"/>
                </a:solidFill>
                <a:latin typeface="Calibri"/>
              </a:rPr>
              <a:t>Diese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fünf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Fälle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sind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in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allen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Beispiel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-Apps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identisch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umgesetzt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457200" cy="4572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274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965960"/>
            <a:ext cx="4572000" cy="4572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057400"/>
            <a:ext cx="43891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Barriere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965960"/>
            <a:ext cx="6400800" cy="4572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23560" y="2057400"/>
            <a:ext cx="62179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Lösung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23160"/>
            <a:ext cx="4572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743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2423160"/>
            <a:ext cx="4572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2587752"/>
            <a:ext cx="43891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 dirty="0" err="1">
                <a:solidFill>
                  <a:srgbClr val="1F2A36"/>
                </a:solidFill>
                <a:latin typeface="Calibri"/>
              </a:rPr>
              <a:t>Eingabefeld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ohne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Beschriftung</a:t>
            </a:r>
            <a:endParaRPr sz="1300" b="0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486400" y="2423160"/>
            <a:ext cx="64008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23560" y="2587752"/>
            <a:ext cx="62179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A36"/>
                </a:solidFill>
                <a:latin typeface="Calibri"/>
              </a:rPr>
              <a:t>label/aria-label/Header bzw. AutomationProperties.LabeledBy oder SemanticProperties.Description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00400"/>
            <a:ext cx="45720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364992"/>
            <a:ext cx="2743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200400"/>
            <a:ext cx="457200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" y="3364992"/>
            <a:ext cx="43891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 dirty="0">
                <a:solidFill>
                  <a:srgbClr val="1F2A36"/>
                </a:solidFill>
                <a:latin typeface="Calibri"/>
              </a:rPr>
              <a:t>Feld disabled /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IsEnabled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=False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statt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readonly</a:t>
            </a:r>
            <a:endParaRPr sz="1300" b="0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486400" y="3200400"/>
            <a:ext cx="640080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23560" y="3364992"/>
            <a:ext cx="62179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A36"/>
                </a:solidFill>
                <a:latin typeface="Calibri"/>
              </a:rPr>
              <a:t>readonly / IsReadOnly=true – Fokus und Vorlesbarkeit bleiben erhalten.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977640"/>
            <a:ext cx="4572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4142232"/>
            <a:ext cx="2743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3977640"/>
            <a:ext cx="4572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51560" y="4142232"/>
            <a:ext cx="43891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 dirty="0" err="1">
                <a:solidFill>
                  <a:srgbClr val="1F2A36"/>
                </a:solidFill>
                <a:latin typeface="Calibri"/>
              </a:rPr>
              <a:t>Diagramm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fokussierbar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aber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ohne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 Namen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3977640"/>
            <a:ext cx="64008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23560" y="4142232"/>
            <a:ext cx="62179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A36"/>
                </a:solidFill>
                <a:latin typeface="Calibri"/>
              </a:rPr>
              <a:t>role=img + aria-labelledby/-describedby bzw. AutomationProperties.Name + HelpText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754880"/>
            <a:ext cx="45720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4360" y="4919472"/>
            <a:ext cx="2743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102E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4754880"/>
            <a:ext cx="457200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51560" y="4919472"/>
            <a:ext cx="43891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 dirty="0" err="1">
                <a:solidFill>
                  <a:srgbClr val="1F2A36"/>
                </a:solidFill>
                <a:latin typeface="Calibri"/>
              </a:rPr>
              <a:t>Schaltfläche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mit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zu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schwachem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Kontrast</a:t>
            </a:r>
            <a:endParaRPr sz="1300" b="0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486400" y="4754880"/>
            <a:ext cx="640080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23560" y="4919472"/>
            <a:ext cx="62179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A36"/>
                </a:solidFill>
                <a:latin typeface="Calibri"/>
              </a:rPr>
              <a:t>WCAG-AA-Kontrast ≥ 4,5:1 (Text) bzw. ≥ 3:1 (Komponenten) sicherstellen.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532120"/>
            <a:ext cx="4572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4360" y="5696712"/>
            <a:ext cx="2743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102E"/>
                </a:solidFill>
                <a:latin typeface="Calibri"/>
              </a:rPr>
              <a:t>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5532120"/>
            <a:ext cx="45720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51560" y="5696712"/>
            <a:ext cx="43891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 dirty="0">
                <a:solidFill>
                  <a:srgbClr val="1F2A36"/>
                </a:solidFill>
                <a:latin typeface="Calibri"/>
              </a:rPr>
              <a:t>Icon-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Schaltfläche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ohne</a:t>
            </a:r>
            <a:r>
              <a:rPr sz="1300" b="0" i="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F2A36"/>
                </a:solidFill>
                <a:latin typeface="Calibri"/>
              </a:rPr>
              <a:t>Beschriftung</a:t>
            </a:r>
            <a:endParaRPr sz="1300" b="0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486400" y="5532120"/>
            <a:ext cx="64008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23560" y="5696712"/>
            <a:ext cx="621792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A36"/>
                </a:solidFill>
                <a:latin typeface="Calibri"/>
              </a:rPr>
              <a:t>aria-label / AutomationProperties.Name / SemanticProperties.Description + Tooltip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99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Beispiel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Web (</a:t>
            </a:r>
            <a:r>
              <a:rPr lang="de-DE" sz="3000" b="1" i="0" dirty="0" err="1">
                <a:solidFill>
                  <a:srgbClr val="C8102E"/>
                </a:solidFill>
                <a:latin typeface="Calibri"/>
              </a:rPr>
              <a:t>ReactJS</a:t>
            </a:r>
            <a:r>
              <a:rPr lang="de-DE" sz="3000" b="1" i="0" dirty="0">
                <a:solidFill>
                  <a:srgbClr val="C8102E"/>
                </a:solidFill>
                <a:latin typeface="Calibri"/>
              </a:rPr>
              <a:t> + Bootstrap / 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Blazor Server)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>
                <a:solidFill>
                  <a:srgbClr val="5A6470"/>
                </a:solidFill>
                <a:latin typeface="Calibri"/>
              </a:rPr>
              <a:t>Standard-HTML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mit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ARIA –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funktioniert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in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jedem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Browser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mit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jedem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Screenreader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8102E"/>
                </a:solidFill>
                <a:latin typeface="Calibri"/>
              </a:rPr>
              <a:t>Barriere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470"/>
                </a:solidFill>
                <a:latin typeface="Calibri"/>
              </a:rPr>
              <a:t>Unbeschriftet, disabled, ohne Rolle/Name, kontrastarm, ohne Label.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80360"/>
            <a:ext cx="5486400" cy="352044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512064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&lt;input type="text"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&lt;input type="text" value="K-4711" disabled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&lt;div class="chart" tabindex="0"&gt;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&lt;svg&gt;…Balken…&lt;/svg&gt;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&lt;/div&gt;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 style="color:#CCC"&gt;Speichern&lt;/button&gt;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&lt;button&gt;&lt;svg&gt;…Müll-Icon…&lt;/svg&gt;&lt;/button&gt;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031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E7D32"/>
                </a:solidFill>
                <a:latin typeface="Calibri"/>
              </a:rPr>
              <a:t>Lösung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470"/>
                </a:solidFill>
                <a:latin typeface="Calibri"/>
              </a:rPr>
              <a:t>Label/for, readonly, role="img" + aria-*, ausreichender Kontrast, aria-label.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880360"/>
            <a:ext cx="5486400" cy="352044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12064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&lt;label for="name"&gt;Vor- und Nachname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&lt;input id="name" type="text" /&gt;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&lt;/label&gt;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&lt;input value="K-4711" readonly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&lt;div role="img" tabindex="0"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 aria-labelledby="t" aria-describedby="d"&gt;…&lt;/div&gt;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 class="primary"&gt;Speichern&lt;/button&gt;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 aria-label="Eintrag löschen"&gt;…&lt;/button&gt;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99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Beispiel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WPF (.NET 9, net9.0-windows)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6470"/>
                </a:solidFill>
                <a:latin typeface="Calibri"/>
              </a:rPr>
              <a:t>Klassische Desktop-Apps – über UI Automation an NVDA/JAWS angebunden.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8102E"/>
                </a:solidFill>
                <a:latin typeface="Calibri"/>
              </a:rPr>
              <a:t>Barriere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470"/>
                </a:solidFill>
                <a:latin typeface="Calibri"/>
              </a:rPr>
              <a:t>Unbeschriftete TextBox, IsEnabled=False entzieht den Fokus, kein Name.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80360"/>
            <a:ext cx="5486400" cy="352044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512064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&lt;TextBox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&lt;TextBox Text="K-4711" IsEnabled="False"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&lt;Border Focusable="True"&gt;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&lt;!-- Balken-Canvas --&gt;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&lt;/Border&gt;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 Foreground="#CCC" Background="White"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    Content="Speichern"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&lt;Button&gt;&lt;Path … /&gt;&lt;/Button&gt;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031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E7D32"/>
                </a:solidFill>
                <a:latin typeface="Calibri"/>
              </a:rPr>
              <a:t>Lösung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470"/>
                </a:solidFill>
                <a:latin typeface="Calibri"/>
              </a:rPr>
              <a:t>Label.Target + AccessText, AutomationProperties.LabeledBy, IsReadOnly.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880360"/>
            <a:ext cx="5486400" cy="352044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12064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&lt;Label x:Name="LblName" Target="{Binding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ElementName=TxtName}"&gt;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&lt;AccessText Text="_Vor- und Nachname" /&gt;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&lt;/Label&gt;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&lt;TextBox x:Name="TxtName"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AutomationProperties.LabeledBy="{Binding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ElementName=LblName}"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&lt;TextBox Text="K-4711" IsReadOnly="True"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&lt;Border Focusable="True"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AutomationProperties.Name="Umsätze Q1-Q5"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AutomationProperties.HelpText="Q1 30, …" /&gt;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DC54B-9750-316D-04A1-4E5DA6A44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46A003A4-B220-8E4D-7E28-D1776628B854}"/>
              </a:ext>
            </a:extLst>
          </p:cNvPr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788C40-F8C2-25FA-8F49-2C8C7E19CC04}"/>
              </a:ext>
            </a:extLst>
          </p:cNvPr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E71199-A5B7-CBB8-2056-7ECAED51CCA4}"/>
              </a:ext>
            </a:extLst>
          </p:cNvPr>
          <p:cNvSpPr txBox="1"/>
          <p:nvPr/>
        </p:nvSpPr>
        <p:spPr>
          <a:xfrm>
            <a:off x="457200" y="822960"/>
            <a:ext cx="10972800" cy="499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Beispiel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</a:t>
            </a:r>
            <a:r>
              <a:rPr lang="de-DE" sz="3000" b="1" i="0" dirty="0" err="1">
                <a:solidFill>
                  <a:srgbClr val="C8102E"/>
                </a:solidFill>
                <a:latin typeface="Calibri"/>
              </a:rPr>
              <a:t>wxPython</a:t>
            </a:r>
            <a:endParaRPr sz="30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4626A0-8E7D-BD28-7C0A-8C06C1EADB6F}"/>
              </a:ext>
            </a:extLst>
          </p:cNvPr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D3A3D-68D6-A8BC-F6DE-81F27E81A7A0}"/>
              </a:ext>
            </a:extLst>
          </p:cNvPr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 err="1">
                <a:solidFill>
                  <a:srgbClr val="5A6470"/>
                </a:solidFill>
                <a:latin typeface="Calibri"/>
              </a:rPr>
              <a:t>Klassische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Desktop-Apps –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über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UI Automation an NVDA/JAWS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angebunden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FAA85C-FAD0-1D0C-6584-82B45EFB1A7F}"/>
              </a:ext>
            </a:extLst>
          </p:cNvPr>
          <p:cNvSpPr txBox="1"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8102E"/>
                </a:solidFill>
                <a:latin typeface="Calibri"/>
              </a:rPr>
              <a:t>Barriere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0A1034-B209-89D1-9A9D-05AD28AF4D68}"/>
              </a:ext>
            </a:extLst>
          </p:cNvPr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470"/>
                </a:solidFill>
                <a:latin typeface="Calibri"/>
              </a:rPr>
              <a:t>Unbeschriftete TextBox, IsEnabled=False entzieht den Fokus, kein Name.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035D87-D8D5-DBF2-AB7F-948AA51614CA}"/>
              </a:ext>
            </a:extLst>
          </p:cNvPr>
          <p:cNvSpPr/>
          <p:nvPr/>
        </p:nvSpPr>
        <p:spPr>
          <a:xfrm>
            <a:off x="457200" y="2880360"/>
            <a:ext cx="5486400" cy="352044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CC2079-3EFB-1B47-7AB8-65DC39C37B5C}"/>
              </a:ext>
            </a:extLst>
          </p:cNvPr>
          <p:cNvSpPr txBox="1"/>
          <p:nvPr/>
        </p:nvSpPr>
        <p:spPr>
          <a:xfrm>
            <a:off x="640080" y="3017520"/>
            <a:ext cx="512064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&lt;TextBox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&lt;TextBox Text="K-4711" IsEnabled="False"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&lt;Border Focusable="True"&gt;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&lt;!-- Balken-Canvas --&gt;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&lt;/Border&gt;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 Foreground="#CCC" Background="White"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    Content="Speichern"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&lt;Button&gt;&lt;Path … /&gt;&lt;/Button&gt;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E97AA9-F73E-85BC-4A65-A8B830E37A37}"/>
              </a:ext>
            </a:extLst>
          </p:cNvPr>
          <p:cNvSpPr txBox="1"/>
          <p:nvPr/>
        </p:nvSpPr>
        <p:spPr>
          <a:xfrm>
            <a:off x="6217920" y="21031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E7D32"/>
                </a:solidFill>
                <a:latin typeface="Calibri"/>
              </a:rPr>
              <a:t>Lösung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0EBF76-D9A4-407C-C197-71DB93A0F045}"/>
              </a:ext>
            </a:extLst>
          </p:cNvPr>
          <p:cNvSpPr txBox="1"/>
          <p:nvPr/>
        </p:nvSpPr>
        <p:spPr>
          <a:xfrm>
            <a:off x="6217920" y="2468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470"/>
                </a:solidFill>
                <a:latin typeface="Calibri"/>
              </a:rPr>
              <a:t>Label.Target + AccessText, AutomationProperties.LabeledBy, IsReadOnly.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09EB86-1EE4-8972-B1A1-3F94CD84772D}"/>
              </a:ext>
            </a:extLst>
          </p:cNvPr>
          <p:cNvSpPr/>
          <p:nvPr/>
        </p:nvSpPr>
        <p:spPr>
          <a:xfrm>
            <a:off x="6217920" y="2880360"/>
            <a:ext cx="5486400" cy="352044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74A4E9-AFD1-D75C-89A1-A91FB6C22F42}"/>
              </a:ext>
            </a:extLst>
          </p:cNvPr>
          <p:cNvSpPr txBox="1"/>
          <p:nvPr/>
        </p:nvSpPr>
        <p:spPr>
          <a:xfrm>
            <a:off x="6400800" y="3017520"/>
            <a:ext cx="512064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&lt;Label x:Name="LblName" Target="{Binding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ElementName=TxtName}"&gt;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&lt;AccessText Text="_Vor- und Nachname" /&gt;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&lt;/Label&gt;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&lt;TextBox x:Name="TxtName"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AutomationProperties.LabeledBy="{Binding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ElementName=LblName}"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&lt;TextBox Text="K-4711" IsReadOnly="True"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&lt;Border Focusable="True"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AutomationProperties.Name="Umsätze Q1-Q5"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AutomationProperties.HelpText="Q1 30, …" /&gt;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F89DB4-4FD5-F51C-DFD1-D04D14BE38D5}"/>
              </a:ext>
            </a:extLst>
          </p:cNvPr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B0E921-6AD9-ECE6-DECE-D49EA879762F}"/>
              </a:ext>
            </a:extLst>
          </p:cNvPr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4BF769-F57B-0B07-6E09-BBFE2AD90930}"/>
              </a:ext>
            </a:extLst>
          </p:cNvPr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3849211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C8102E"/>
                </a:solidFill>
                <a:latin typeface="Calibri"/>
              </a:rPr>
              <a:t>Beispiel · WinUI 3 (Windows App SDK 1.6)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6470"/>
                </a:solidFill>
                <a:latin typeface="Calibri"/>
              </a:rPr>
              <a:t>Modernes Windows-UI – APIs analog zu WPF, etwas knapper.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8102E"/>
                </a:solidFill>
                <a:latin typeface="Calibri"/>
              </a:rPr>
              <a:t>Barriere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470"/>
                </a:solidFill>
                <a:latin typeface="Calibri"/>
              </a:rPr>
              <a:t>TextBox ohne Header, IsEnabled=False, IconButton ohne Namen.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80360"/>
            <a:ext cx="5486400" cy="352044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512064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&lt;TextBox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&lt;TextBox Text="K-4711" IsEnabled="False"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&lt;Border IsTabStop="True"&gt;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&lt;!-- Diagramm --&gt;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&lt;/Border&gt;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 Foreground="#CCC"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    Content="Speichern"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&lt;Button&gt;&lt;SymbolIcon Symbol="Delete"/&gt;&lt;/Button&gt;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031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E7D32"/>
                </a:solidFill>
                <a:latin typeface="Calibri"/>
              </a:rPr>
              <a:t>Lösung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470"/>
                </a:solidFill>
                <a:latin typeface="Calibri"/>
              </a:rPr>
              <a:t>TextBox.Header, AutomationProperties.LabeledBy / .Name / .HelpText.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880360"/>
            <a:ext cx="5486400" cy="352044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12064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&lt;TextBox Header="Vor- und Nachname"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AutomationProperties.LabeledBy="{Binding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ElementName=LblName}"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&lt;TextBox Header="Kundennummer"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     Text="K-4711" IsReadOnly="True"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&lt;Border IsTabStop="True"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AutomationProperties.Name="Umsätze Q1-Q5"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AutomationProperties.HelpText="Q1 30, …"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 AutomationProperties.Name="Eintrag löschen"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ToolTipService.ToolTip="Eintrag löschen"&gt;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&lt;SymbolIcon Symbol="Delete"/&gt;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&lt;/Button&gt;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Beispiel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.NET MAUI (Windows · Android · iOS · Mac Catalyst)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6470"/>
                </a:solidFill>
                <a:latin typeface="Calibri"/>
              </a:rPr>
              <a:t>Eine Codebasis, vier Plattformen – Semantic-Properties werden plattformgerecht übersetzt.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8102E"/>
                </a:solidFill>
                <a:latin typeface="Calibri"/>
              </a:rPr>
              <a:t>Barriere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470"/>
                </a:solidFill>
                <a:latin typeface="Calibri"/>
              </a:rPr>
              <a:t>Entry / Frame ohne semantische Annotation, IsEnabled statt IsReadOnly.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80360"/>
            <a:ext cx="5486400" cy="352044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512064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&lt;Entry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&lt;Entry Text="K-4711" IsEnabled="False"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&lt;Frame&gt;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&lt;GraphicsView … /&gt;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&lt;/Frame&gt;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 Text="Speichern"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    TextColor="#CCC"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    BackgroundColor="White"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 Text="🗑" /&gt;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031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E7D32"/>
                </a:solidFill>
                <a:latin typeface="Calibri"/>
              </a:rPr>
              <a:t>Lösung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470"/>
                </a:solidFill>
                <a:latin typeface="Calibri"/>
              </a:rPr>
              <a:t>SemanticProperties.Description + .Hint, IsReadOnly, klare Button-Namen.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880360"/>
            <a:ext cx="5486400" cy="352044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12064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&lt;Entry SemanticProperties.Description=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     "Vor- und Nachname"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   SemanticProperties.Hint="Pflichtfeld"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&lt;Entry Text="K-4711" IsReadOnly="True"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&lt;Frame SemanticProperties.Description=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     "Umsätze Q1 bis Q5"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   SemanticProperties.Hint="Q1 30, …"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 Style="{StaticResource PrimaryButton}"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      Text="Speichern" /&gt;</a:t>
            </a:r>
          </a:p>
          <a:p>
            <a:pPr algn="l">
              <a:lnSpc>
                <a:spcPct val="120000"/>
              </a:lnSpc>
            </a:pPr>
            <a:endParaRPr sz="1100" b="0" i="0">
              <a:solidFill>
                <a:srgbClr val="9BD89C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&lt;Button Text="🗑"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BD89C"/>
                </a:solidFill>
                <a:latin typeface="Consolas"/>
              </a:rPr>
              <a:t>  SemanticProperties.Description="Eintrag löschen" /&gt;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D1350-1FDD-382A-AFB7-1C3F17E2A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2ABFB729-F1D7-4C66-F40D-01995C763B1B}"/>
              </a:ext>
            </a:extLst>
          </p:cNvPr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9B5411-3B83-F6C6-E22F-6F4044FD392A}"/>
              </a:ext>
            </a:extLst>
          </p:cNvPr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682EE-7120-73D4-368A-396F96B82C9A}"/>
              </a:ext>
            </a:extLst>
          </p:cNvPr>
          <p:cNvSpPr txBox="1"/>
          <p:nvPr/>
        </p:nvSpPr>
        <p:spPr>
          <a:xfrm>
            <a:off x="457200" y="822960"/>
            <a:ext cx="10972800" cy="499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Beispiel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</a:t>
            </a:r>
            <a:r>
              <a:rPr lang="de-DE" sz="3000" b="1" i="0" dirty="0">
                <a:solidFill>
                  <a:srgbClr val="C8102E"/>
                </a:solidFill>
                <a:latin typeface="Calibri"/>
              </a:rPr>
              <a:t>KI-Entwicklung</a:t>
            </a:r>
            <a:endParaRPr sz="30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FB812E-9BE3-5CE5-8A02-A288E405236B}"/>
              </a:ext>
            </a:extLst>
          </p:cNvPr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66BD96-67CC-4610-3378-09BBB59D6CF8}"/>
              </a:ext>
            </a:extLst>
          </p:cNvPr>
          <p:cNvSpPr txBox="1"/>
          <p:nvPr/>
        </p:nvSpPr>
        <p:spPr>
          <a:xfrm>
            <a:off x="457200" y="1554480"/>
            <a:ext cx="10972800" cy="7287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Grundsätzlich können aktuellen Coding-Agenten die Barrierefreiheitsstandards beachten, wenn man ihnen es sagt, es muss trotzdem immer wieder nachgebessert werden bzw. besser Richtlinien-Dateien als Basis in jeden Projektordner, in dem die Anforderungen in dem Bereich genau ausformuliert sind.</a:t>
            </a:r>
            <a:endParaRPr sz="1400" b="0" i="1" dirty="0">
              <a:solidFill>
                <a:srgbClr val="5A6470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8BA848-EC0E-3FCB-CCBF-429A1727F24A}"/>
              </a:ext>
            </a:extLst>
          </p:cNvPr>
          <p:cNvSpPr txBox="1"/>
          <p:nvPr/>
        </p:nvSpPr>
        <p:spPr>
          <a:xfrm>
            <a:off x="457199" y="2393385"/>
            <a:ext cx="5486400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600" b="1" dirty="0">
                <a:solidFill>
                  <a:srgbClr val="C8102E"/>
                </a:solidFill>
              </a:rPr>
              <a:t>Beispiel für </a:t>
            </a:r>
          </a:p>
          <a:p>
            <a:pPr>
              <a:lnSpc>
                <a:spcPct val="115000"/>
              </a:lnSpc>
            </a:pPr>
            <a:r>
              <a:rPr lang="de-DE" sz="1600" b="1" i="0" dirty="0">
                <a:solidFill>
                  <a:srgbClr val="C8102E"/>
                </a:solidFill>
                <a:latin typeface="Calibri"/>
              </a:rPr>
              <a:t>Nachbesserungsbedarf</a:t>
            </a:r>
          </a:p>
          <a:p>
            <a:pPr algn="l">
              <a:lnSpc>
                <a:spcPct val="115000"/>
              </a:lnSpc>
            </a:pPr>
            <a:endParaRPr sz="16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7C31FC-EFDC-0140-EF66-2588402E1E4D}"/>
              </a:ext>
            </a:extLst>
          </p:cNvPr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9BB53F-E7B5-A852-50FF-9960107FF528}"/>
              </a:ext>
            </a:extLst>
          </p:cNvPr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4FE399-1BD1-A195-DAAD-E31D3785350B}"/>
              </a:ext>
            </a:extLst>
          </p:cNvPr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17 / 18</a:t>
            </a:r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F6BA36B8-3827-5FBE-E025-39D0C2D06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988" y="2382266"/>
            <a:ext cx="6301031" cy="394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721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6400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Take-aways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68680" y="2103120"/>
            <a:ext cx="502920" cy="50292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0116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Testen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23160"/>
            <a:ext cx="100584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 err="1">
                <a:solidFill>
                  <a:srgbClr val="E9ECEF"/>
                </a:solidFill>
                <a:latin typeface="Calibri"/>
              </a:rPr>
              <a:t>Tastatur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E9ECEF"/>
                </a:solidFill>
                <a:latin typeface="Calibri"/>
              </a:rPr>
              <a:t>Screenreader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 und Tool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s nutzen</a:t>
            </a:r>
            <a:endParaRPr sz="1400" b="0" i="0" dirty="0">
              <a:solidFill>
                <a:srgbClr val="E9ECEF"/>
              </a:solidFill>
              <a:latin typeface="Calibri"/>
            </a:endParaRPr>
          </a:p>
        </p:txBody>
      </p:sp>
      <p:sp>
        <p:nvSpPr>
          <p:cNvPr id="9" name="Oval 8"/>
          <p:cNvSpPr/>
          <p:nvPr/>
        </p:nvSpPr>
        <p:spPr>
          <a:xfrm>
            <a:off x="868680" y="2971800"/>
            <a:ext cx="502920" cy="50292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8803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Anpassen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54480" y="3291840"/>
            <a:ext cx="100584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E9ECEF"/>
                </a:solidFill>
                <a:latin typeface="Calibri"/>
              </a:rPr>
              <a:t>NVDA und JAWS 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können über </a:t>
            </a:r>
            <a:r>
              <a:rPr lang="de-DE" sz="1400" b="0" i="0" dirty="0" err="1">
                <a:solidFill>
                  <a:srgbClr val="E9ECEF"/>
                </a:solidFill>
                <a:latin typeface="Calibri"/>
              </a:rPr>
              <a:t>Skripting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-Schnittstellen oder mit DL® </a:t>
            </a:r>
            <a:r>
              <a:rPr lang="de-DE" sz="1400" b="0" i="0" dirty="0" err="1">
                <a:solidFill>
                  <a:srgbClr val="E9ECEF"/>
                </a:solidFill>
                <a:latin typeface="Calibri"/>
              </a:rPr>
              <a:t>XTab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 angepasst werden</a:t>
            </a:r>
            <a:endParaRPr sz="1400" b="0" i="0" dirty="0">
              <a:solidFill>
                <a:srgbClr val="E9ECEF"/>
              </a:solidFill>
              <a:latin typeface="Calibri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868680" y="3840480"/>
            <a:ext cx="502920" cy="50292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749040"/>
            <a:ext cx="10058400" cy="333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2000" b="1" i="0" dirty="0">
                <a:solidFill>
                  <a:srgbClr val="FFFFFF"/>
                </a:solidFill>
                <a:latin typeface="Calibri"/>
              </a:rPr>
              <a:t>Barrierefrei/zugänglich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Entwickeln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54480" y="4160520"/>
            <a:ext cx="10058400" cy="4809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E9ECEF"/>
                </a:solidFill>
                <a:latin typeface="Calibri"/>
              </a:rPr>
              <a:t>Name, Rolle, Wert für </a:t>
            </a:r>
            <a:r>
              <a:rPr sz="1400" b="0" i="0" dirty="0" err="1">
                <a:solidFill>
                  <a:srgbClr val="E9ECEF"/>
                </a:solidFill>
                <a:latin typeface="Calibri"/>
              </a:rPr>
              <a:t>jedes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 Control. </a:t>
            </a:r>
            <a:r>
              <a:rPr sz="1400" b="0" i="0" dirty="0" err="1">
                <a:solidFill>
                  <a:srgbClr val="E9ECEF"/>
                </a:solidFill>
                <a:latin typeface="Calibri"/>
              </a:rPr>
              <a:t>readonly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E9ECEF"/>
                </a:solidFill>
                <a:latin typeface="Calibri"/>
              </a:rPr>
              <a:t>statt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 disabled. </a:t>
            </a:r>
            <a:r>
              <a:rPr sz="1400" b="0" i="0" dirty="0" err="1">
                <a:solidFill>
                  <a:srgbClr val="E9ECEF"/>
                </a:solidFill>
                <a:latin typeface="Calibri"/>
              </a:rPr>
              <a:t>Kontrast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 ≥ 4,5:1.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 – </a:t>
            </a:r>
            <a:br>
              <a:rPr lang="de-DE" sz="1400" b="0" i="0" dirty="0">
                <a:solidFill>
                  <a:srgbClr val="E9ECEF"/>
                </a:solidFill>
                <a:latin typeface="Calibri"/>
              </a:rPr>
            </a:b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	auch KI-Coding-Agenten können zugänglichen Code produzieren, wenn man sie genau instruiert</a:t>
            </a:r>
            <a:endParaRPr sz="1400" b="0" i="0" dirty="0">
              <a:solidFill>
                <a:srgbClr val="E9ECEF"/>
              </a:solidFill>
              <a:latin typeface="Calibri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868680" y="4854932"/>
            <a:ext cx="502920" cy="50292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770118"/>
            <a:ext cx="10058400" cy="333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2000" b="1" i="0" dirty="0">
                <a:solidFill>
                  <a:srgbClr val="FFFFFF"/>
                </a:solidFill>
                <a:latin typeface="Calibri"/>
              </a:rPr>
              <a:t>Mitdenken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554480" y="5181598"/>
            <a:ext cx="100584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 err="1">
                <a:solidFill>
                  <a:srgbClr val="E9ECEF"/>
                </a:solidFill>
                <a:latin typeface="Calibri"/>
              </a:rPr>
              <a:t>Barrierefreie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 Software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-Oberflächen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sind </a:t>
            </a:r>
            <a:r>
              <a:rPr sz="1400" b="0" i="0" dirty="0" err="1">
                <a:solidFill>
                  <a:srgbClr val="E9ECEF"/>
                </a:solidFill>
                <a:latin typeface="Calibri"/>
              </a:rPr>
              <a:t>Voraussetzung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 für </a:t>
            </a:r>
            <a:r>
              <a:rPr sz="1400" b="0" i="0" dirty="0" err="1">
                <a:solidFill>
                  <a:srgbClr val="E9ECEF"/>
                </a:solidFill>
                <a:latin typeface="Calibri"/>
              </a:rPr>
              <a:t>berufliche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E9ECEF"/>
                </a:solidFill>
                <a:latin typeface="Calibri"/>
              </a:rPr>
              <a:t>Teilhabe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 – nicht </a:t>
            </a:r>
            <a:r>
              <a:rPr sz="1400" b="0" i="0" dirty="0" err="1">
                <a:solidFill>
                  <a:srgbClr val="E9ECEF"/>
                </a:solidFill>
                <a:latin typeface="Calibri"/>
              </a:rPr>
              <a:t>Kür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5897880"/>
            <a:ext cx="10424160" cy="25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100584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Rainer Brell und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Ernst Heßdörfer · 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BFW Würzburg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·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lang="de-DE" sz="1400" b="0" i="0" dirty="0">
                <a:solidFill>
                  <a:schemeClr val="bg1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rainer.brell@bfw-wuerzburg.de</a:t>
            </a:r>
            <a:r>
              <a:rPr lang="de-DE" sz="1400" b="0" i="0" dirty="0">
                <a:solidFill>
                  <a:schemeClr val="bg1"/>
                </a:solidFill>
                <a:latin typeface="Calibri"/>
              </a:rPr>
              <a:t> und </a:t>
            </a:r>
            <a:r>
              <a:rPr sz="1400" b="0" i="0" dirty="0">
                <a:solidFill>
                  <a:schemeClr val="bg1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it.leitung@bfw-wuerzburg.de</a:t>
            </a:r>
            <a:r>
              <a:rPr lang="de-DE" sz="1400" b="0" i="0" dirty="0">
                <a:solidFill>
                  <a:schemeClr val="bg1"/>
                </a:solidFill>
                <a:latin typeface="Calibri"/>
              </a:rPr>
              <a:t> </a:t>
            </a:r>
            <a:endParaRPr sz="14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" y="63550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BBBBB"/>
                </a:solidFill>
                <a:latin typeface="Calibri"/>
              </a:rPr>
              <a:t>BFW Würzburg gGmbH · Bildungszentrum für Blinde und Sehbehinderte · www.bfw-wuerzburg.de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2345</Words>
  <Application>Microsoft Office PowerPoint</Application>
  <PresentationFormat>Breitbild</PresentationFormat>
  <Paragraphs>382</Paragraphs>
  <Slides>19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Ernst Heßdörfer</cp:lastModifiedBy>
  <cp:revision>43</cp:revision>
  <dcterms:created xsi:type="dcterms:W3CDTF">2013-01-27T09:14:16Z</dcterms:created>
  <dcterms:modified xsi:type="dcterms:W3CDTF">2026-05-21T14:07:23Z</dcterms:modified>
  <cp:category/>
</cp:coreProperties>
</file>