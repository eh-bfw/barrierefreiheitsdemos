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76" r:id="rId9"/>
    <p:sldId id="262" r:id="rId10"/>
    <p:sldId id="265" r:id="rId11"/>
    <p:sldId id="266" r:id="rId12"/>
    <p:sldId id="270" r:id="rId13"/>
    <p:sldId id="269" r:id="rId14"/>
    <p:sldId id="267" r:id="rId15"/>
    <p:sldId id="275" r:id="rId16"/>
    <p:sldId id="273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178" autoAdjust="0"/>
  </p:normalViewPr>
  <p:slideViewPr>
    <p:cSldViewPr snapToGrid="0" snapToObjects="1">
      <p:cViewPr varScale="1">
        <p:scale>
          <a:sx n="85" d="100"/>
          <a:sy n="85" d="100"/>
        </p:scale>
        <p:origin x="570" y="4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CB3C0-C4D2-4443-94B7-511EA8E27017}" type="datetimeFigureOut">
              <a:rPr lang="de-DE" smtClean="0"/>
              <a:t>08.06.2026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AEE88-1FAD-4B99-B45F-DFF552009D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6296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Mein Kollege Rainer Brell und ich möchten in den nächsten Minuten, dafür sensibilisieren, wie man Software-Anwendungen prüfen, anpassen und barrierefrei entwickeln kann.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AEE88-1FAD-4B99-B45F-DFF552009D3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4079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Vorab eine Warnung: Das wird jetzt aus Zeitgründen </a:t>
            </a:r>
            <a:r>
              <a:rPr lang="de-DE"/>
              <a:t>ein etwas wilder </a:t>
            </a:r>
            <a:r>
              <a:rPr lang="de-DE" dirty="0"/>
              <a:t>Ritt durch die 3 Themengebiete – keine Angst, alle Infos, Codes und einiges mehr gibt es im Web unter der Adresse am Ende der Präsentation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AEE88-1FAD-4B99-B45F-DFF552009D3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02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Curb-Cut-Effekt: Maßnahmen, die ursprünglich für eine bestimmte benachteiligte Gruppe entwickelt wurden, kommen später vielen anderen Menschen zugute. Beispiele:</a:t>
            </a:r>
          </a:p>
          <a:p>
            <a:r>
              <a:rPr lang="de-DE" dirty="0"/>
              <a:t>Untertitel in Videos→ gedacht für gehörlose Personen, genutzt auch in lauter Umgebung oder beim Sprachenlernen </a:t>
            </a:r>
            <a:br>
              <a:rPr lang="de-DE" dirty="0"/>
            </a:br>
            <a:r>
              <a:rPr lang="de-DE" dirty="0"/>
              <a:t>Spracherkennung (z. B. Siri, Alexa)→ entwickelt zur Unterstützung von Menschen mit Einschränkungen, heute Alltagsfunktion</a:t>
            </a:r>
            <a:br>
              <a:rPr lang="de-DE" dirty="0"/>
            </a:br>
            <a:r>
              <a:rPr lang="de-DE" dirty="0"/>
              <a:t>Automatische Türen→ hilfreich für Menschen mit Behinderungen, aber auch für alle mit vollen Händen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AEE88-1FAD-4B99-B45F-DFF552009D3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7879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AEE88-1FAD-4B99-B45F-DFF552009D3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5640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AEE88-1FAD-4B99-B45F-DFF552009D3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5394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de-DE" dirty="0"/>
              <a:t>Praxis: ohne Skript, Skript, mit Skript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AEE88-1FAD-4B99-B45F-DFF552009D32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6577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Entwickeln…</a:t>
            </a:r>
          </a:p>
          <a:p>
            <a:r>
              <a:rPr lang="de-DE" dirty="0"/>
              <a:t>Nicht versuchen alles im Detail mitzudenken… Es geht uns dabei darum zu zeigen, dass der Unterschied zwischen dem Code von zugänglichen und nicht zugänglichen Software-Oberflächen für viele Standard-Barrieren sehr gering ist und damit der Aufwand diese Barrieren zu beseitigen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AEE88-1FAD-4B99-B45F-DFF552009D32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1797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AEE88-1FAD-4B99-B45F-DFF552009D3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411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AEE88-1FAD-4B99-B45F-DFF552009D32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6482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tdhealth.com/insights/the-true-cost-of-accessibility-why-adding-accessibility-later-can-cost-10x-mor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it.leitung@bfw-wuerzburg.de" TargetMode="External"/><Relationship Id="rId2" Type="http://schemas.openxmlformats.org/officeDocument/2006/relationships/hyperlink" Target="mailto:rainer.brell@bfw-wuerzburg.de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rainer.brell@bfw-wuerzburg.de" TargetMode="External"/><Relationship Id="rId7" Type="http://schemas.openxmlformats.org/officeDocument/2006/relationships/hyperlink" Target="https://github.com/EH-BFW/BarrierefreiheitsDemo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hyperlink" Target="mailto:it.leitung@bfw-wuerzburg.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79" y="2011303"/>
            <a:ext cx="11217303" cy="2582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 dirty="0" err="1">
                <a:solidFill>
                  <a:srgbClr val="FFFFFF"/>
                </a:solidFill>
                <a:latin typeface="Calibri"/>
              </a:rPr>
              <a:t>Anwendungen</a:t>
            </a:r>
            <a:r>
              <a:rPr sz="5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5400" b="1" i="0" dirty="0" err="1">
                <a:solidFill>
                  <a:srgbClr val="FFFFFF"/>
                </a:solidFill>
                <a:latin typeface="Calibri"/>
              </a:rPr>
              <a:t>prüfen</a:t>
            </a:r>
            <a:r>
              <a:rPr sz="5400" b="1" i="0" dirty="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l">
              <a:lnSpc>
                <a:spcPct val="105000"/>
              </a:lnSpc>
            </a:pPr>
            <a:r>
              <a:rPr sz="5400" b="1" i="0" dirty="0" err="1">
                <a:solidFill>
                  <a:srgbClr val="FFFFFF"/>
                </a:solidFill>
                <a:latin typeface="Calibri"/>
              </a:rPr>
              <a:t>anpassen</a:t>
            </a:r>
            <a:r>
              <a:rPr sz="5400" b="1" i="0" dirty="0">
                <a:solidFill>
                  <a:srgbClr val="FFFFFF"/>
                </a:solidFill>
                <a:latin typeface="Calibri"/>
              </a:rPr>
              <a:t> und </a:t>
            </a:r>
            <a:r>
              <a:rPr sz="5400" b="1" i="0" dirty="0" err="1">
                <a:solidFill>
                  <a:srgbClr val="FFFFFF"/>
                </a:solidFill>
                <a:latin typeface="Calibri"/>
              </a:rPr>
              <a:t>barrierefrei</a:t>
            </a:r>
            <a:endParaRPr sz="5400" b="1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05000"/>
              </a:lnSpc>
            </a:pPr>
            <a:r>
              <a:rPr sz="5400" b="1" i="0" dirty="0" err="1">
                <a:solidFill>
                  <a:srgbClr val="FFFFFF"/>
                </a:solidFill>
                <a:latin typeface="Calibri"/>
              </a:rPr>
              <a:t>entwickeln</a:t>
            </a:r>
            <a:endParaRPr sz="5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4572000"/>
            <a:ext cx="1097280" cy="50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777379"/>
            <a:ext cx="10972800" cy="4122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dirty="0" err="1">
                <a:solidFill>
                  <a:srgbClr val="E9ECEF"/>
                </a:solidFill>
                <a:latin typeface="Calibri"/>
              </a:rPr>
              <a:t>Veranstaltung</a:t>
            </a:r>
            <a:r>
              <a:rPr sz="2200" b="0" i="0" dirty="0">
                <a:solidFill>
                  <a:srgbClr val="E9ECEF"/>
                </a:solidFill>
                <a:latin typeface="Calibri"/>
              </a:rPr>
              <a:t> „</a:t>
            </a:r>
            <a:r>
              <a:rPr sz="2200" b="0" i="0" dirty="0" err="1">
                <a:solidFill>
                  <a:srgbClr val="E9ECEF"/>
                </a:solidFill>
                <a:latin typeface="Calibri"/>
              </a:rPr>
              <a:t>Gemeinsam</a:t>
            </a:r>
            <a:r>
              <a:rPr sz="2200" b="0" i="0" dirty="0">
                <a:solidFill>
                  <a:srgbClr val="E9ECEF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E9ECEF"/>
                </a:solidFill>
                <a:latin typeface="Calibri"/>
              </a:rPr>
              <a:t>mehr</a:t>
            </a:r>
            <a:r>
              <a:rPr sz="2200" b="0" i="0" dirty="0">
                <a:solidFill>
                  <a:srgbClr val="E9ECEF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E9ECEF"/>
                </a:solidFill>
                <a:latin typeface="Calibri"/>
              </a:rPr>
              <a:t>Barrierefreiheit</a:t>
            </a:r>
            <a:r>
              <a:rPr sz="2200" b="0" i="0" dirty="0">
                <a:solidFill>
                  <a:srgbClr val="E9ECEF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E9ECEF"/>
                </a:solidFill>
                <a:latin typeface="Calibri"/>
              </a:rPr>
              <a:t>erreichen</a:t>
            </a:r>
            <a:r>
              <a:rPr sz="2200" b="0" i="0" dirty="0">
                <a:solidFill>
                  <a:srgbClr val="E9ECEF"/>
                </a:solidFill>
                <a:latin typeface="Calibri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49240"/>
            <a:ext cx="10972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de-DE" sz="1400" b="0" i="0" dirty="0">
                <a:solidFill>
                  <a:srgbClr val="E9ECEF"/>
                </a:solidFill>
                <a:latin typeface="Calibri"/>
              </a:rPr>
              <a:t>Rainer Brell und </a:t>
            </a:r>
            <a:r>
              <a:rPr sz="1400" b="0" i="0" dirty="0">
                <a:solidFill>
                  <a:srgbClr val="E9ECEF"/>
                </a:solidFill>
                <a:latin typeface="Calibri"/>
              </a:rPr>
              <a:t>Ernst Heßdörfer  ·  BFW Würzburg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60720"/>
            <a:ext cx="10972800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de-DE" sz="1200" b="0" i="1" dirty="0">
                <a:solidFill>
                  <a:srgbClr val="BBBBBB"/>
                </a:solidFill>
                <a:latin typeface="Calibri"/>
              </a:rPr>
              <a:t>Juni</a:t>
            </a:r>
            <a:r>
              <a:rPr sz="1200" b="0" i="1" dirty="0">
                <a:solidFill>
                  <a:srgbClr val="BBBBBB"/>
                </a:solidFill>
                <a:latin typeface="Calibri"/>
              </a:rPr>
              <a:t> 2026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0FEF0B6-469E-046D-8848-6AF3EDF30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652" y="640475"/>
            <a:ext cx="2902228" cy="9394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16200000">
            <a:off x="457200" y="384048"/>
            <a:ext cx="201168" cy="201168"/>
          </a:xfrm>
          <a:prstGeom prst="rtTriangl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A36"/>
                </a:solidFill>
                <a:latin typeface="Calibri"/>
              </a:rPr>
              <a:t>BFW Würzburg  ·  Barrierefreiheit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C8102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A6470"/>
                </a:solidFill>
                <a:latin typeface="Calibri"/>
              </a:rPr>
              <a:t>Drei </a:t>
            </a:r>
            <a:r>
              <a:rPr lang="de-DE" sz="1600" b="0" i="1" dirty="0">
                <a:solidFill>
                  <a:srgbClr val="5A6470"/>
                </a:solidFill>
                <a:latin typeface="Calibri"/>
              </a:rPr>
              <a:t>Prozesse,</a:t>
            </a:r>
            <a:r>
              <a:rPr sz="1600" b="0" i="1" dirty="0">
                <a:solidFill>
                  <a:srgbClr val="5A6470"/>
                </a:solidFill>
                <a:latin typeface="Calibri"/>
              </a:rPr>
              <a:t> </a:t>
            </a:r>
            <a:r>
              <a:rPr lang="de-DE" sz="1600" b="0" i="1" dirty="0">
                <a:solidFill>
                  <a:srgbClr val="5A6470"/>
                </a:solidFill>
                <a:latin typeface="Calibri"/>
              </a:rPr>
              <a:t>um gemeinsam mehr barrierefreie </a:t>
            </a:r>
            <a:r>
              <a:rPr sz="1600" b="0" i="1" dirty="0">
                <a:solidFill>
                  <a:srgbClr val="5A6470"/>
                </a:solidFill>
                <a:latin typeface="Calibri"/>
              </a:rPr>
              <a:t>Software</a:t>
            </a:r>
            <a:r>
              <a:rPr lang="de-DE" sz="1600" b="0" i="1" dirty="0">
                <a:solidFill>
                  <a:srgbClr val="5A6470"/>
                </a:solidFill>
                <a:latin typeface="Calibri"/>
              </a:rPr>
              <a:t> zu erreichen</a:t>
            </a:r>
            <a:endParaRPr sz="1600" b="0" i="1" dirty="0">
              <a:solidFill>
                <a:srgbClr val="5A6470"/>
              </a:solidFill>
              <a:latin typeface="Calibri"/>
            </a:endParaRP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27124136-5996-187E-710E-63C04C8FD330}"/>
              </a:ext>
            </a:extLst>
          </p:cNvPr>
          <p:cNvGrpSpPr/>
          <p:nvPr/>
        </p:nvGrpSpPr>
        <p:grpSpPr>
          <a:xfrm>
            <a:off x="457200" y="2331720"/>
            <a:ext cx="3657600" cy="3840480"/>
            <a:chOff x="457200" y="2331720"/>
            <a:chExt cx="3657600" cy="3840480"/>
          </a:xfrm>
        </p:grpSpPr>
        <p:sp>
          <p:nvSpPr>
            <p:cNvPr id="6" name="Rectangle 5"/>
            <p:cNvSpPr/>
            <p:nvPr/>
          </p:nvSpPr>
          <p:spPr>
            <a:xfrm>
              <a:off x="457200" y="2331720"/>
              <a:ext cx="3657600" cy="3840480"/>
            </a:xfrm>
            <a:prstGeom prst="rect">
              <a:avLst/>
            </a:prstGeom>
            <a:solidFill>
              <a:srgbClr val="F5F6F8"/>
            </a:solidFill>
            <a:ln w="9525">
              <a:solidFill>
                <a:srgbClr val="E9EC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457200" y="2331720"/>
              <a:ext cx="3657600" cy="109728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31520" y="2651760"/>
              <a:ext cx="137160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200" b="1" i="0" dirty="0">
                  <a:solidFill>
                    <a:srgbClr val="C8102E"/>
                  </a:solidFill>
                  <a:latin typeface="Calibri"/>
                </a:rPr>
                <a:t>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31520" y="3794760"/>
              <a:ext cx="310896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400" b="1" i="0">
                  <a:solidFill>
                    <a:srgbClr val="1F2A36"/>
                  </a:solidFill>
                  <a:latin typeface="Calibri"/>
                </a:rPr>
                <a:t>Prüfen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1520" y="4389120"/>
              <a:ext cx="3108960" cy="4809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400" b="0" i="0" dirty="0">
                  <a:solidFill>
                    <a:srgbClr val="1F2A36"/>
                  </a:solidFill>
                  <a:latin typeface="Calibri"/>
                </a:rPr>
                <a:t>Anwendungen </a:t>
              </a:r>
              <a:r>
                <a:rPr sz="1400" b="0" i="0" dirty="0" err="1">
                  <a:solidFill>
                    <a:srgbClr val="1F2A36"/>
                  </a:solidFill>
                  <a:latin typeface="Calibri"/>
                </a:rPr>
                <a:t>systematisch</a:t>
              </a:r>
              <a:r>
                <a:rPr sz="1400" b="0" i="0" dirty="0">
                  <a:solidFill>
                    <a:srgbClr val="1F2A36"/>
                  </a:solidFill>
                  <a:latin typeface="Calibri"/>
                </a:rPr>
                <a:t> auf </a:t>
              </a:r>
              <a:r>
                <a:rPr sz="1400" b="0" i="0" dirty="0" err="1">
                  <a:solidFill>
                    <a:srgbClr val="1F2A36"/>
                  </a:solidFill>
                  <a:latin typeface="Calibri"/>
                </a:rPr>
                <a:t>Barrierefreiheit</a:t>
              </a:r>
              <a:r>
                <a:rPr sz="1400" b="0" i="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400" b="0" i="0" dirty="0" err="1">
                  <a:solidFill>
                    <a:srgbClr val="1F2A36"/>
                  </a:solidFill>
                  <a:latin typeface="Calibri"/>
                </a:rPr>
                <a:t>testen</a:t>
              </a:r>
              <a:endParaRPr sz="1400" b="0" i="0" dirty="0">
                <a:solidFill>
                  <a:srgbClr val="1F2A36"/>
                </a:solidFill>
                <a:latin typeface="Calibri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31520" y="5669280"/>
              <a:ext cx="3108960" cy="199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1" dirty="0">
                  <a:solidFill>
                    <a:srgbClr val="5A6470"/>
                  </a:solidFill>
                  <a:latin typeface="Calibri"/>
                </a:rPr>
                <a:t>≈ </a:t>
              </a:r>
              <a:r>
                <a:rPr lang="de-DE" sz="1200" b="0" i="1" dirty="0">
                  <a:solidFill>
                    <a:srgbClr val="5A6470"/>
                  </a:solidFill>
                  <a:latin typeface="Calibri"/>
                </a:rPr>
                <a:t>5</a:t>
              </a:r>
              <a:r>
                <a:rPr sz="1200" b="0" i="1" dirty="0">
                  <a:solidFill>
                    <a:srgbClr val="5A6470"/>
                  </a:solidFill>
                  <a:latin typeface="Calibri"/>
                </a:rPr>
                <a:t> Min.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DB7028D9-279F-5969-AB72-8AA61C5ED8C5}"/>
              </a:ext>
            </a:extLst>
          </p:cNvPr>
          <p:cNvGrpSpPr/>
          <p:nvPr/>
        </p:nvGrpSpPr>
        <p:grpSpPr>
          <a:xfrm>
            <a:off x="4361688" y="2331720"/>
            <a:ext cx="3657600" cy="3840480"/>
            <a:chOff x="4361688" y="2331720"/>
            <a:chExt cx="3657600" cy="3840480"/>
          </a:xfrm>
        </p:grpSpPr>
        <p:sp>
          <p:nvSpPr>
            <p:cNvPr id="12" name="Rectangle 11"/>
            <p:cNvSpPr/>
            <p:nvPr/>
          </p:nvSpPr>
          <p:spPr>
            <a:xfrm>
              <a:off x="4361688" y="2331720"/>
              <a:ext cx="3657600" cy="3840480"/>
            </a:xfrm>
            <a:prstGeom prst="rect">
              <a:avLst/>
            </a:prstGeom>
            <a:solidFill>
              <a:srgbClr val="F5F6F8"/>
            </a:solidFill>
            <a:ln w="9525">
              <a:solidFill>
                <a:srgbClr val="E9EC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361688" y="2331720"/>
              <a:ext cx="3657600" cy="109728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36008" y="2651760"/>
              <a:ext cx="137160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200" b="1" i="0">
                  <a:solidFill>
                    <a:srgbClr val="C8102E"/>
                  </a:solidFill>
                  <a:latin typeface="Calibri"/>
                </a:rPr>
                <a:t>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636008" y="3794760"/>
              <a:ext cx="310896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400" b="1" i="0">
                  <a:solidFill>
                    <a:srgbClr val="1F2A36"/>
                  </a:solidFill>
                  <a:latin typeface="Calibri"/>
                </a:rPr>
                <a:t>Anpassen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636008" y="4389120"/>
              <a:ext cx="3108960" cy="97648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lang="de-DE" sz="1400" b="0" i="0" dirty="0">
                  <a:solidFill>
                    <a:srgbClr val="1F2A36"/>
                  </a:solidFill>
                  <a:latin typeface="Calibri"/>
                </a:rPr>
                <a:t>Nich</a:t>
              </a:r>
              <a:r>
                <a:rPr lang="de-DE" sz="1400" dirty="0">
                  <a:solidFill>
                    <a:srgbClr val="1F2A36"/>
                  </a:solidFill>
                  <a:latin typeface="Calibri"/>
                </a:rPr>
                <a:t>t so nachhaltig, aber oft nötig:</a:t>
              </a:r>
              <a:endParaRPr lang="de-DE" sz="1400" b="0" i="0" dirty="0">
                <a:solidFill>
                  <a:srgbClr val="1F2A36"/>
                </a:solidFill>
                <a:latin typeface="Calibri"/>
              </a:endParaRPr>
            </a:p>
            <a:p>
              <a:pPr algn="l">
                <a:lnSpc>
                  <a:spcPct val="115000"/>
                </a:lnSpc>
              </a:pPr>
              <a:r>
                <a:rPr sz="1400" b="0" i="0" dirty="0" err="1">
                  <a:solidFill>
                    <a:srgbClr val="1F2A36"/>
                  </a:solidFill>
                  <a:latin typeface="Calibri"/>
                </a:rPr>
                <a:t>Screenreader</a:t>
              </a:r>
              <a:r>
                <a:rPr lang="de-DE" sz="1400" b="0" i="0" dirty="0">
                  <a:solidFill>
                    <a:srgbClr val="1F2A36"/>
                  </a:solidFill>
                  <a:latin typeface="Calibri"/>
                </a:rPr>
                <a:t>-Anpassungen/</a:t>
              </a:r>
              <a:r>
                <a:rPr lang="de-DE" sz="1400" b="0" i="0" dirty="0" err="1">
                  <a:solidFill>
                    <a:srgbClr val="1F2A36"/>
                  </a:solidFill>
                  <a:latin typeface="Calibri"/>
                </a:rPr>
                <a:t>Skripting</a:t>
              </a:r>
              <a:r>
                <a:rPr lang="de-DE" sz="1400" b="0" i="0" dirty="0">
                  <a:solidFill>
                    <a:srgbClr val="1F2A36"/>
                  </a:solidFill>
                  <a:latin typeface="Calibri"/>
                </a:rPr>
                <a:t> für</a:t>
              </a:r>
              <a:r>
                <a:rPr sz="1400" b="0" i="0" dirty="0">
                  <a:solidFill>
                    <a:srgbClr val="1F2A36"/>
                  </a:solidFill>
                  <a:latin typeface="Calibri"/>
                </a:rPr>
                <a:t> NVDA</a:t>
              </a:r>
              <a:r>
                <a:rPr lang="de-DE" sz="1400" b="0" i="0" dirty="0">
                  <a:solidFill>
                    <a:srgbClr val="1F2A36"/>
                  </a:solidFill>
                  <a:latin typeface="Calibri"/>
                </a:rPr>
                <a:t> und</a:t>
              </a:r>
              <a:r>
                <a:rPr sz="1400" b="0" i="0" dirty="0">
                  <a:solidFill>
                    <a:srgbClr val="1F2A36"/>
                  </a:solidFill>
                  <a:latin typeface="Calibri"/>
                </a:rPr>
                <a:t> JAWS</a:t>
              </a:r>
              <a:r>
                <a:rPr lang="de-DE" sz="1400" b="0" i="0" dirty="0">
                  <a:solidFill>
                    <a:srgbClr val="1F2A36"/>
                  </a:solidFill>
                  <a:latin typeface="Calibri"/>
                </a:rPr>
                <a:t>, oder Screenreader-unabhängig mit DL </a:t>
              </a:r>
              <a:r>
                <a:rPr lang="de-DE" sz="1400" b="0" i="0" dirty="0" err="1">
                  <a:solidFill>
                    <a:srgbClr val="1F2A36"/>
                  </a:solidFill>
                  <a:latin typeface="Calibri"/>
                </a:rPr>
                <a:t>X</a:t>
              </a:r>
              <a:r>
                <a:rPr lang="de-DE" sz="1400" dirty="0" err="1">
                  <a:solidFill>
                    <a:srgbClr val="1F2A36"/>
                  </a:solidFill>
                  <a:latin typeface="Calibri"/>
                </a:rPr>
                <a:t>T</a:t>
              </a:r>
              <a:r>
                <a:rPr lang="de-DE" sz="1400" b="0" i="0" dirty="0" err="1">
                  <a:solidFill>
                    <a:srgbClr val="1F2A36"/>
                  </a:solidFill>
                  <a:latin typeface="Calibri"/>
                </a:rPr>
                <a:t>ab</a:t>
              </a:r>
              <a:r>
                <a:rPr lang="de-DE" sz="1400" b="0" i="0" dirty="0">
                  <a:solidFill>
                    <a:srgbClr val="1F2A36"/>
                  </a:solidFill>
                  <a:latin typeface="Calibri"/>
                </a:rPr>
                <a:t> </a:t>
              </a:r>
              <a:endParaRPr sz="1400" b="0" i="0" dirty="0">
                <a:solidFill>
                  <a:srgbClr val="1F2A36"/>
                </a:solidFill>
                <a:latin typeface="Calibri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636008" y="5669280"/>
              <a:ext cx="3108960" cy="199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1" dirty="0">
                  <a:solidFill>
                    <a:srgbClr val="5A6470"/>
                  </a:solidFill>
                  <a:latin typeface="Calibri"/>
                </a:rPr>
                <a:t>≈ </a:t>
              </a:r>
              <a:r>
                <a:rPr lang="de-DE" sz="1200" b="0" i="1" dirty="0">
                  <a:solidFill>
                    <a:srgbClr val="5A6470"/>
                  </a:solidFill>
                  <a:latin typeface="Calibri"/>
                </a:rPr>
                <a:t>10</a:t>
              </a:r>
              <a:r>
                <a:rPr sz="1200" b="0" i="1" dirty="0">
                  <a:solidFill>
                    <a:srgbClr val="5A6470"/>
                  </a:solidFill>
                  <a:latin typeface="Calibri"/>
                </a:rPr>
                <a:t> Min.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8602B9FC-B935-F508-3DDB-53EAE036A2D0}"/>
              </a:ext>
            </a:extLst>
          </p:cNvPr>
          <p:cNvGrpSpPr/>
          <p:nvPr/>
        </p:nvGrpSpPr>
        <p:grpSpPr>
          <a:xfrm>
            <a:off x="8266176" y="2331720"/>
            <a:ext cx="3657600" cy="3840480"/>
            <a:chOff x="8266176" y="2331720"/>
            <a:chExt cx="3657600" cy="3840480"/>
          </a:xfrm>
        </p:grpSpPr>
        <p:sp>
          <p:nvSpPr>
            <p:cNvPr id="18" name="Rectangle 17"/>
            <p:cNvSpPr/>
            <p:nvPr/>
          </p:nvSpPr>
          <p:spPr>
            <a:xfrm>
              <a:off x="8266176" y="2331720"/>
              <a:ext cx="3657600" cy="3840480"/>
            </a:xfrm>
            <a:prstGeom prst="rect">
              <a:avLst/>
            </a:prstGeom>
            <a:solidFill>
              <a:srgbClr val="F5F6F8"/>
            </a:solidFill>
            <a:ln w="9525">
              <a:solidFill>
                <a:srgbClr val="E9EC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266176" y="2331720"/>
              <a:ext cx="3657600" cy="109728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540496" y="2651760"/>
              <a:ext cx="137160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200" b="1" i="0">
                  <a:solidFill>
                    <a:srgbClr val="C8102E"/>
                  </a:solidFill>
                  <a:latin typeface="Calibri"/>
                </a:rPr>
                <a:t>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540496" y="3794760"/>
              <a:ext cx="310896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400" b="1" i="0">
                  <a:solidFill>
                    <a:srgbClr val="1F2A36"/>
                  </a:solidFill>
                  <a:latin typeface="Calibri"/>
                </a:rPr>
                <a:t>Entwickeln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540496" y="4389120"/>
              <a:ext cx="3108960" cy="97648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lang="de-DE" sz="1400" b="0" i="0" dirty="0">
                  <a:solidFill>
                    <a:srgbClr val="1F2A36"/>
                  </a:solidFill>
                  <a:latin typeface="Calibri"/>
                </a:rPr>
                <a:t>Die nachhaltige Lösung:</a:t>
              </a:r>
            </a:p>
            <a:p>
              <a:pPr algn="l">
                <a:lnSpc>
                  <a:spcPct val="115000"/>
                </a:lnSpc>
              </a:pPr>
              <a:r>
                <a:rPr sz="1400" b="0" i="0" dirty="0" err="1">
                  <a:solidFill>
                    <a:srgbClr val="1F2A36"/>
                  </a:solidFill>
                  <a:latin typeface="Calibri"/>
                </a:rPr>
                <a:t>Barrierefrei</a:t>
              </a:r>
              <a:r>
                <a:rPr sz="1400" b="0" i="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400" b="0" i="0" dirty="0" err="1">
                  <a:solidFill>
                    <a:srgbClr val="1F2A36"/>
                  </a:solidFill>
                  <a:latin typeface="Calibri"/>
                </a:rPr>
                <a:t>programmieren</a:t>
              </a:r>
              <a:r>
                <a:rPr sz="1400" b="0" i="0" dirty="0">
                  <a:solidFill>
                    <a:srgbClr val="1F2A36"/>
                  </a:solidFill>
                  <a:latin typeface="Calibri"/>
                </a:rPr>
                <a:t> – </a:t>
              </a:r>
              <a:br>
                <a:rPr lang="de-DE" sz="1400" b="0" i="0" dirty="0">
                  <a:solidFill>
                    <a:srgbClr val="1F2A36"/>
                  </a:solidFill>
                  <a:latin typeface="Calibri"/>
                </a:rPr>
              </a:br>
              <a:r>
                <a:rPr sz="1400" b="0" i="0" dirty="0" err="1">
                  <a:solidFill>
                    <a:srgbClr val="1F2A36"/>
                  </a:solidFill>
                  <a:latin typeface="Calibri"/>
                </a:rPr>
                <a:t>mit</a:t>
              </a:r>
              <a:r>
                <a:rPr sz="1400" b="0" i="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400" b="0" i="0" dirty="0" err="1">
                  <a:solidFill>
                    <a:srgbClr val="1F2A36"/>
                  </a:solidFill>
                  <a:latin typeface="Calibri"/>
                </a:rPr>
                <a:t>Beispielen</a:t>
              </a:r>
              <a:r>
                <a:rPr sz="1400" b="0" i="0" dirty="0">
                  <a:solidFill>
                    <a:srgbClr val="1F2A36"/>
                  </a:solidFill>
                  <a:latin typeface="Calibri"/>
                </a:rPr>
                <a:t> für Web, WPF, </a:t>
              </a:r>
              <a:r>
                <a:rPr lang="de-DE" sz="1400" b="0" i="0" dirty="0">
                  <a:solidFill>
                    <a:srgbClr val="1F2A36"/>
                  </a:solidFill>
                  <a:latin typeface="Calibri"/>
                </a:rPr>
                <a:t>Python,</a:t>
              </a:r>
            </a:p>
            <a:p>
              <a:pPr algn="l">
                <a:lnSpc>
                  <a:spcPct val="115000"/>
                </a:lnSpc>
              </a:pPr>
              <a:r>
                <a:rPr sz="1400" b="0" i="0" dirty="0" err="1">
                  <a:solidFill>
                    <a:srgbClr val="1F2A36"/>
                  </a:solidFill>
                  <a:latin typeface="Calibri"/>
                </a:rPr>
                <a:t>WinUI</a:t>
              </a:r>
              <a:r>
                <a:rPr sz="1400" b="0" i="0" dirty="0">
                  <a:solidFill>
                    <a:srgbClr val="1F2A36"/>
                  </a:solidFill>
                  <a:latin typeface="Calibri"/>
                </a:rPr>
                <a:t> und MAUI.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540496" y="5669280"/>
              <a:ext cx="3108960" cy="199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1" dirty="0">
                  <a:solidFill>
                    <a:srgbClr val="5A6470"/>
                  </a:solidFill>
                  <a:latin typeface="Calibri"/>
                </a:rPr>
                <a:t>≈ </a:t>
              </a:r>
              <a:r>
                <a:rPr lang="de-DE" sz="1200" i="1" dirty="0">
                  <a:solidFill>
                    <a:srgbClr val="5A6470"/>
                  </a:solidFill>
                  <a:latin typeface="Calibri"/>
                </a:rPr>
                <a:t>8</a:t>
              </a:r>
              <a:r>
                <a:rPr sz="1200" b="0" i="1" dirty="0">
                  <a:solidFill>
                    <a:srgbClr val="5A6470"/>
                  </a:solidFill>
                  <a:latin typeface="Calibri"/>
                </a:rPr>
                <a:t> Min.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65562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A6470"/>
                </a:solidFill>
                <a:latin typeface="Calibri"/>
              </a:rPr>
              <a:t>Agenda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5562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470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834641"/>
            <a:ext cx="1828800" cy="1021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0" b="1" i="0" dirty="0">
                <a:solidFill>
                  <a:srgbClr val="C8102E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263879"/>
            <a:ext cx="8686800" cy="619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 dirty="0" err="1">
                <a:solidFill>
                  <a:srgbClr val="FFFFFF"/>
                </a:solidFill>
                <a:latin typeface="Calibri"/>
              </a:rPr>
              <a:t>Prüfen</a:t>
            </a:r>
            <a:endParaRPr sz="5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08960" y="3513070"/>
            <a:ext cx="8686800" cy="681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 dirty="0" err="1">
                <a:solidFill>
                  <a:srgbClr val="E9ECEF"/>
                </a:solidFill>
                <a:latin typeface="Calibri"/>
              </a:rPr>
              <a:t>Anwendungen</a:t>
            </a:r>
            <a:r>
              <a:rPr sz="2000" b="0" i="1" dirty="0">
                <a:solidFill>
                  <a:srgbClr val="E9ECEF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E9ECEF"/>
                </a:solidFill>
                <a:latin typeface="Calibri"/>
              </a:rPr>
              <a:t>systematisch</a:t>
            </a:r>
            <a:r>
              <a:rPr sz="2000" b="0" i="1" dirty="0">
                <a:solidFill>
                  <a:srgbClr val="E9ECEF"/>
                </a:solidFill>
                <a:latin typeface="Calibri"/>
              </a:rPr>
              <a:t> auf </a:t>
            </a:r>
            <a:r>
              <a:rPr sz="2000" b="0" i="1" dirty="0" err="1">
                <a:solidFill>
                  <a:srgbClr val="E9ECEF"/>
                </a:solidFill>
                <a:latin typeface="Calibri"/>
              </a:rPr>
              <a:t>Barrierefreiheit</a:t>
            </a:r>
            <a:r>
              <a:rPr sz="2000" b="0" i="1" dirty="0">
                <a:solidFill>
                  <a:srgbClr val="E9ECEF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E9ECEF"/>
                </a:solidFill>
                <a:latin typeface="Calibri"/>
              </a:rPr>
              <a:t>testen</a:t>
            </a:r>
            <a:endParaRPr sz="2000" b="0" i="1" dirty="0">
              <a:solidFill>
                <a:srgbClr val="E9ECE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08960" y="4206240"/>
            <a:ext cx="914400" cy="50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4E7B15-594B-CE8E-7D86-A24EE601E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0652" y="640475"/>
            <a:ext cx="2902228" cy="9394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16200000">
            <a:off x="457200" y="384048"/>
            <a:ext cx="201168" cy="201168"/>
          </a:xfrm>
          <a:prstGeom prst="rtTriangl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7315200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 dirty="0">
                <a:solidFill>
                  <a:srgbClr val="1F2A36"/>
                </a:solidFill>
                <a:latin typeface="Calibri"/>
              </a:rPr>
              <a:t>BFW Würzburg  ·  </a:t>
            </a:r>
            <a:r>
              <a:rPr sz="1100" b="1" i="0" dirty="0" err="1">
                <a:solidFill>
                  <a:srgbClr val="1F2A36"/>
                </a:solidFill>
                <a:latin typeface="Calibri"/>
              </a:rPr>
              <a:t>Barrierefreiheit</a:t>
            </a:r>
            <a:r>
              <a:rPr lang="de-DE" sz="1100" b="1" dirty="0">
                <a:solidFill>
                  <a:srgbClr val="1F2A36"/>
                </a:solidFill>
              </a:rPr>
              <a:t> - Prüfen</a:t>
            </a:r>
            <a:endParaRPr sz="1100" b="1" i="0" dirty="0">
              <a:solidFill>
                <a:srgbClr val="1F2A3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C8102E"/>
                </a:solidFill>
                <a:latin typeface="Calibri"/>
              </a:rPr>
              <a:t>Anwendungen</a:t>
            </a:r>
            <a:r>
              <a:rPr sz="3000" b="1" i="0" dirty="0">
                <a:solidFill>
                  <a:srgbClr val="C8102E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C8102E"/>
                </a:solidFill>
                <a:latin typeface="Calibri"/>
              </a:rPr>
              <a:t>prüfen</a:t>
            </a:r>
            <a:r>
              <a:rPr sz="3000" b="1" i="0" dirty="0">
                <a:solidFill>
                  <a:srgbClr val="C8102E"/>
                </a:solidFill>
                <a:latin typeface="Calibri"/>
              </a:rPr>
              <a:t> – </a:t>
            </a:r>
            <a:r>
              <a:rPr sz="3000" b="1" i="0" dirty="0" err="1">
                <a:solidFill>
                  <a:srgbClr val="C8102E"/>
                </a:solidFill>
                <a:latin typeface="Calibri"/>
              </a:rPr>
              <a:t>Warum</a:t>
            </a:r>
            <a:r>
              <a:rPr sz="3000" b="1" i="0" dirty="0">
                <a:solidFill>
                  <a:srgbClr val="C8102E"/>
                </a:solidFill>
                <a:latin typeface="Calibri"/>
              </a:rPr>
              <a:t> und was?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8F4557D3-3396-3793-E227-6EC83761ADCC}"/>
              </a:ext>
            </a:extLst>
          </p:cNvPr>
          <p:cNvGrpSpPr/>
          <p:nvPr/>
        </p:nvGrpSpPr>
        <p:grpSpPr>
          <a:xfrm>
            <a:off x="457200" y="1691640"/>
            <a:ext cx="5486400" cy="4356029"/>
            <a:chOff x="457200" y="1691640"/>
            <a:chExt cx="5486400" cy="4356029"/>
          </a:xfrm>
        </p:grpSpPr>
        <p:sp>
          <p:nvSpPr>
            <p:cNvPr id="6" name="TextBox 5"/>
            <p:cNvSpPr txBox="1"/>
            <p:nvPr/>
          </p:nvSpPr>
          <p:spPr>
            <a:xfrm>
              <a:off x="457200" y="1691640"/>
              <a:ext cx="54864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 i="0" dirty="0" err="1">
                  <a:solidFill>
                    <a:srgbClr val="1F2A36"/>
                  </a:solidFill>
                  <a:latin typeface="Calibri"/>
                </a:rPr>
                <a:t>Warum</a:t>
              </a:r>
              <a:r>
                <a:rPr sz="2000" b="1" i="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2000" b="1" i="0" dirty="0" err="1">
                  <a:solidFill>
                    <a:srgbClr val="1F2A36"/>
                  </a:solidFill>
                  <a:latin typeface="Calibri"/>
                </a:rPr>
                <a:t>prüfen</a:t>
              </a:r>
              <a:r>
                <a:rPr sz="2000" b="1" i="0" dirty="0">
                  <a:solidFill>
                    <a:srgbClr val="1F2A36"/>
                  </a:solidFill>
                  <a:latin typeface="Calibri"/>
                </a:rPr>
                <a:t>?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7200" y="2240280"/>
              <a:ext cx="5486400" cy="380738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1400" b="1" dirty="0">
                  <a:solidFill>
                    <a:srgbClr val="C8102E"/>
                  </a:solidFill>
                  <a:latin typeface="Calibri"/>
                </a:rPr>
                <a:t>•  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Blinde</a:t>
              </a:r>
              <a:r>
                <a:rPr lang="de-DE" sz="1400" dirty="0">
                  <a:solidFill>
                    <a:srgbClr val="1F2A36"/>
                  </a:solidFill>
                  <a:latin typeface="Calibri"/>
                </a:rPr>
                <a:t> und stark seheingeschränkte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Mitarbeitende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stoßen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 </a:t>
              </a:r>
              <a:br>
                <a:rPr lang="de-DE" sz="1400" dirty="0">
                  <a:solidFill>
                    <a:srgbClr val="1F2A36"/>
                  </a:solidFill>
                  <a:latin typeface="Calibri"/>
                </a:rPr>
              </a:br>
              <a:r>
                <a:rPr lang="de-DE" sz="1400" dirty="0">
                  <a:solidFill>
                    <a:srgbClr val="1F2A36"/>
                  </a:solidFill>
                  <a:latin typeface="Calibri"/>
                </a:rPr>
                <a:t>    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sonst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täglich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 auf 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Hürden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 – </a:t>
              </a:r>
              <a:r>
                <a:rPr lang="de-DE" sz="1400" dirty="0">
                  <a:solidFill>
                    <a:srgbClr val="1F2A36"/>
                  </a:solidFill>
                  <a:latin typeface="Calibri"/>
                </a:rPr>
                <a:t>P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raktika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lang="de-DE" sz="1400" dirty="0">
                  <a:solidFill>
                    <a:srgbClr val="1F2A36"/>
                  </a:solidFill>
                  <a:latin typeface="Calibri"/>
                </a:rPr>
                <a:t>und Arbeitsplätze 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scheitern</a:t>
              </a:r>
              <a:br>
                <a:rPr lang="de-DE" sz="1400" dirty="0">
                  <a:solidFill>
                    <a:srgbClr val="1F2A36"/>
                  </a:solidFill>
                  <a:latin typeface="Calibri"/>
                </a:rPr>
              </a:br>
              <a:endParaRPr sz="1400" dirty="0">
                <a:solidFill>
                  <a:srgbClr val="1F2A36"/>
                </a:solidFill>
                <a:latin typeface="Calibri"/>
              </a:endParaRPr>
            </a:p>
            <a:p>
              <a:pPr>
                <a:lnSpc>
                  <a:spcPct val="120000"/>
                </a:lnSpc>
                <a:spcAft>
                  <a:spcPts val="400"/>
                </a:spcAft>
              </a:pPr>
              <a:r>
                <a:rPr sz="1400" b="1" dirty="0">
                  <a:solidFill>
                    <a:srgbClr val="C8102E"/>
                  </a:solidFill>
                  <a:latin typeface="Calibri"/>
                </a:rPr>
                <a:t>• </a:t>
              </a:r>
              <a:r>
                <a:rPr lang="de-DE" sz="1400" b="1" dirty="0">
                  <a:solidFill>
                    <a:srgbClr val="C8102E"/>
                  </a:solidFill>
                  <a:latin typeface="Calibri"/>
                </a:rPr>
                <a:t> 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Funde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lang="de-DE" sz="1400" dirty="0">
                  <a:solidFill>
                    <a:srgbClr val="1F2A36"/>
                  </a:solidFill>
                  <a:latin typeface="Calibri"/>
                </a:rPr>
                <a:t>während der Entwicklung 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sind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lang="de-DE" sz="1400" dirty="0">
                  <a:solidFill>
                    <a:srgbClr val="1F2A36"/>
                  </a:solidFill>
                  <a:latin typeface="Calibri"/>
                </a:rPr>
                <a:t>deutlich 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billiger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als</a:t>
              </a:r>
              <a:br>
                <a:rPr lang="de-DE" sz="1400" dirty="0">
                  <a:solidFill>
                    <a:srgbClr val="1F2A36"/>
                  </a:solidFill>
                  <a:latin typeface="Calibri"/>
                </a:rPr>
              </a:br>
              <a:r>
                <a:rPr lang="de-DE" sz="1400" dirty="0">
                  <a:solidFill>
                    <a:srgbClr val="1F2A36"/>
                  </a:solidFill>
                  <a:latin typeface="Calibri"/>
                </a:rPr>
                <a:t>    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Nachbesserungen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im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Betrieb</a:t>
              </a:r>
              <a:r>
                <a:rPr lang="de-DE" sz="1400" dirty="0">
                  <a:solidFill>
                    <a:srgbClr val="1F2A36"/>
                  </a:solidFill>
                  <a:latin typeface="Calibri"/>
                </a:rPr>
                <a:t> - Boehm / IBM </a:t>
              </a:r>
              <a:r>
                <a:rPr lang="de-DE" sz="1400" dirty="0" err="1">
                  <a:solidFill>
                    <a:srgbClr val="1F2A36"/>
                  </a:solidFill>
                  <a:latin typeface="Calibri"/>
                </a:rPr>
                <a:t>Cost</a:t>
              </a:r>
              <a:r>
                <a:rPr lang="de-DE" sz="1400" dirty="0">
                  <a:solidFill>
                    <a:srgbClr val="1F2A36"/>
                  </a:solidFill>
                </a:rPr>
                <a:t>-of-Change und</a:t>
              </a:r>
              <a:br>
                <a:rPr lang="de-DE" sz="1400" dirty="0">
                  <a:solidFill>
                    <a:srgbClr val="1F2A36"/>
                  </a:solidFill>
                </a:rPr>
              </a:br>
              <a:r>
                <a:rPr lang="de-DE" sz="1400" dirty="0">
                  <a:solidFill>
                    <a:srgbClr val="1F2A36"/>
                  </a:solidFill>
                </a:rPr>
                <a:t>    </a:t>
              </a:r>
              <a:r>
                <a:rPr lang="de-DE" sz="1400" dirty="0">
                  <a:solidFill>
                    <a:srgbClr val="1F2A36"/>
                  </a:solidFill>
                  <a:hlinkClick r:id="rId3"/>
                </a:rPr>
                <a:t>https://htdhealth.com/insights/the-true-cost-of-accessibility-why-adding-accessibility-later-can-cost-10x-more/</a:t>
              </a:r>
              <a:r>
                <a:rPr lang="de-DE" sz="1400" dirty="0">
                  <a:solidFill>
                    <a:srgbClr val="1F2A36"/>
                  </a:solidFill>
                </a:rPr>
                <a:t> </a:t>
              </a:r>
              <a:br>
                <a:rPr lang="de-DE" sz="1400" dirty="0">
                  <a:solidFill>
                    <a:srgbClr val="1F2A36"/>
                  </a:solidFill>
                </a:rPr>
              </a:br>
              <a:endParaRPr sz="1400" dirty="0">
                <a:solidFill>
                  <a:srgbClr val="1F2A36"/>
                </a:solidFill>
                <a:latin typeface="Calibri"/>
              </a:endParaRP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1400" b="1" dirty="0">
                  <a:solidFill>
                    <a:srgbClr val="C8102E"/>
                  </a:solidFill>
                  <a:latin typeface="Calibri"/>
                </a:rPr>
                <a:t>•  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Barrierefreiheit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erhöht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generelle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Bedienbarkeit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 </a:t>
              </a:r>
              <a:br>
                <a:rPr lang="de-DE" sz="1400" dirty="0">
                  <a:solidFill>
                    <a:srgbClr val="1F2A36"/>
                  </a:solidFill>
                  <a:latin typeface="Calibri"/>
                </a:rPr>
              </a:br>
              <a:r>
                <a:rPr lang="de-DE" sz="1400" dirty="0">
                  <a:solidFill>
                    <a:srgbClr val="1F2A36"/>
                  </a:solidFill>
                  <a:latin typeface="Calibri"/>
                </a:rPr>
                <a:t>    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(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Stichwort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 „Curb-Cut-</a:t>
              </a:r>
              <a:r>
                <a:rPr sz="1400" dirty="0" err="1">
                  <a:solidFill>
                    <a:srgbClr val="1F2A36"/>
                  </a:solidFill>
                  <a:latin typeface="Calibri"/>
                </a:rPr>
                <a:t>Effekt</a:t>
              </a:r>
              <a:r>
                <a:rPr sz="1400" dirty="0">
                  <a:solidFill>
                    <a:srgbClr val="1F2A36"/>
                  </a:solidFill>
                  <a:latin typeface="Calibri"/>
                </a:rPr>
                <a:t>“)</a:t>
              </a:r>
              <a:br>
                <a:rPr lang="de-DE" sz="1400" dirty="0">
                  <a:solidFill>
                    <a:srgbClr val="1F2A36"/>
                  </a:solidFill>
                  <a:latin typeface="Calibri"/>
                </a:rPr>
              </a:br>
              <a:endParaRPr lang="de-DE" sz="1400" dirty="0">
                <a:solidFill>
                  <a:srgbClr val="1F2A36"/>
                </a:solidFill>
                <a:latin typeface="Calibri"/>
              </a:endParaRPr>
            </a:p>
            <a:p>
              <a:pPr>
                <a:lnSpc>
                  <a:spcPct val="120000"/>
                </a:lnSpc>
                <a:spcAft>
                  <a:spcPts val="400"/>
                </a:spcAft>
              </a:pPr>
              <a:r>
                <a:rPr lang="de-DE" sz="1400" b="1" dirty="0">
                  <a:solidFill>
                    <a:srgbClr val="C8102E"/>
                  </a:solidFill>
                </a:rPr>
                <a:t>•  </a:t>
              </a:r>
              <a:r>
                <a:rPr lang="de-DE" sz="1400" dirty="0">
                  <a:solidFill>
                    <a:srgbClr val="1F2A36"/>
                  </a:solidFill>
                </a:rPr>
                <a:t>BFSG, EU-Web­barriere­freiheits­richtlinie, BITV 2.0 – </a:t>
              </a:r>
              <a:br>
                <a:rPr lang="de-DE" sz="1400" dirty="0">
                  <a:solidFill>
                    <a:srgbClr val="1F2A36"/>
                  </a:solidFill>
                </a:rPr>
              </a:br>
              <a:r>
                <a:rPr lang="de-DE" sz="1400" dirty="0">
                  <a:solidFill>
                    <a:srgbClr val="1F2A36"/>
                  </a:solidFill>
                </a:rPr>
                <a:t>    Arbeitnehmendenrechte, Nachweispflicht, Ausschreibungskriterien</a:t>
              </a: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endParaRPr sz="1400" dirty="0">
                <a:solidFill>
                  <a:srgbClr val="1F2A36"/>
                </a:solidFill>
                <a:latin typeface="Calibri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6400800" y="1691640"/>
            <a:ext cx="5486400" cy="333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 dirty="0">
                <a:solidFill>
                  <a:srgbClr val="1F2A36"/>
                </a:solidFill>
                <a:latin typeface="Calibri"/>
              </a:rPr>
              <a:t>Was </a:t>
            </a:r>
            <a:r>
              <a:rPr sz="2000" b="1" i="0" dirty="0" err="1">
                <a:solidFill>
                  <a:srgbClr val="1F2A36"/>
                </a:solidFill>
                <a:latin typeface="Calibri"/>
              </a:rPr>
              <a:t>prüfen</a:t>
            </a:r>
            <a:r>
              <a:rPr sz="2000" b="1" i="0" dirty="0">
                <a:solidFill>
                  <a:srgbClr val="1F2A36"/>
                </a:solidFill>
                <a:latin typeface="Calibri"/>
              </a:rPr>
              <a:t>? – WCAG-</a:t>
            </a:r>
            <a:r>
              <a:rPr sz="2000" b="1" i="0" dirty="0" err="1">
                <a:solidFill>
                  <a:srgbClr val="1F2A36"/>
                </a:solidFill>
                <a:latin typeface="Calibri"/>
              </a:rPr>
              <a:t>Prinzipien</a:t>
            </a:r>
            <a:endParaRPr sz="2000" b="1" i="0" dirty="0">
              <a:solidFill>
                <a:srgbClr val="1F2A36"/>
              </a:solidFill>
              <a:latin typeface="Calibri"/>
            </a:endParaRP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72E6E2BA-8468-493E-8E18-74A2DAFB91A8}"/>
              </a:ext>
            </a:extLst>
          </p:cNvPr>
          <p:cNvGrpSpPr/>
          <p:nvPr/>
        </p:nvGrpSpPr>
        <p:grpSpPr>
          <a:xfrm>
            <a:off x="6400800" y="2194560"/>
            <a:ext cx="5715000" cy="594360"/>
            <a:chOff x="6400800" y="2194560"/>
            <a:chExt cx="5715000" cy="594360"/>
          </a:xfrm>
        </p:grpSpPr>
        <p:sp>
          <p:nvSpPr>
            <p:cNvPr id="9" name="Oval 8"/>
            <p:cNvSpPr/>
            <p:nvPr/>
          </p:nvSpPr>
          <p:spPr>
            <a:xfrm>
              <a:off x="6400800" y="2240280"/>
              <a:ext cx="548640" cy="54864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Calibri"/>
                </a:rPr>
                <a:t>P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086600" y="2194560"/>
              <a:ext cx="5029200" cy="23320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de-DE" sz="1400" b="1" dirty="0"/>
                <a:t>Wahrnehmbar</a:t>
              </a:r>
              <a:endParaRPr sz="1400" b="1" i="0" dirty="0">
                <a:latin typeface="Calibri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086600" y="2514600"/>
              <a:ext cx="5029200" cy="199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Textalternativen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,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Kontrast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,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Struktur</a:t>
              </a:r>
              <a:endParaRPr sz="1200" b="0" i="0" dirty="0">
                <a:solidFill>
                  <a:srgbClr val="5A6470"/>
                </a:solidFill>
                <a:latin typeface="Calibri"/>
              </a:endParaRP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5F47464C-E37B-C195-A795-55AC8F0C14CE}"/>
              </a:ext>
            </a:extLst>
          </p:cNvPr>
          <p:cNvGrpSpPr/>
          <p:nvPr/>
        </p:nvGrpSpPr>
        <p:grpSpPr>
          <a:xfrm>
            <a:off x="6400800" y="3063240"/>
            <a:ext cx="5715000" cy="594360"/>
            <a:chOff x="6400800" y="3063240"/>
            <a:chExt cx="5715000" cy="594360"/>
          </a:xfrm>
        </p:grpSpPr>
        <p:sp>
          <p:nvSpPr>
            <p:cNvPr id="12" name="Oval 11"/>
            <p:cNvSpPr/>
            <p:nvPr/>
          </p:nvSpPr>
          <p:spPr>
            <a:xfrm>
              <a:off x="6400800" y="3108960"/>
              <a:ext cx="548640" cy="54864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800" b="1" dirty="0">
                  <a:solidFill>
                    <a:srgbClr val="FFFFFF"/>
                  </a:solidFill>
                  <a:latin typeface="Calibri"/>
                </a:rPr>
                <a:t>O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086600" y="3063240"/>
              <a:ext cx="5029200" cy="23320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de-DE" sz="1400" b="1" dirty="0"/>
                <a:t>Bedienbar</a:t>
              </a:r>
              <a:endParaRPr sz="1400" b="1" i="0" dirty="0">
                <a:latin typeface="Calibri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86600" y="3383280"/>
              <a:ext cx="5029200" cy="199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Tastatur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,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Fokus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,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ausreichend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Zeit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79923733-59FF-80B7-FE7C-004D77E58DCE}"/>
              </a:ext>
            </a:extLst>
          </p:cNvPr>
          <p:cNvGrpSpPr/>
          <p:nvPr/>
        </p:nvGrpSpPr>
        <p:grpSpPr>
          <a:xfrm>
            <a:off x="6400800" y="3931920"/>
            <a:ext cx="5715000" cy="594360"/>
            <a:chOff x="6400800" y="3931920"/>
            <a:chExt cx="5715000" cy="594360"/>
          </a:xfrm>
        </p:grpSpPr>
        <p:sp>
          <p:nvSpPr>
            <p:cNvPr id="15" name="Oval 14"/>
            <p:cNvSpPr/>
            <p:nvPr/>
          </p:nvSpPr>
          <p:spPr>
            <a:xfrm>
              <a:off x="6400800" y="3977640"/>
              <a:ext cx="548640" cy="54864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800" b="1" dirty="0">
                  <a:solidFill>
                    <a:srgbClr val="FFFFFF"/>
                  </a:solidFill>
                  <a:latin typeface="Calibri"/>
                </a:rPr>
                <a:t>U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086600" y="3931920"/>
              <a:ext cx="5029200" cy="23320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de-DE" sz="1400" b="1" dirty="0"/>
                <a:t>Verständlich</a:t>
              </a:r>
              <a:endParaRPr sz="1400" b="1" i="0" dirty="0">
                <a:latin typeface="Calibri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086600" y="4251960"/>
              <a:ext cx="5029200" cy="199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klare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Sprache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,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Fehler­meldungen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,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Hilfen</a:t>
              </a:r>
              <a:endParaRPr sz="1200" b="0" i="0" dirty="0">
                <a:solidFill>
                  <a:srgbClr val="5A6470"/>
                </a:solidFill>
                <a:latin typeface="Calibri"/>
              </a:endParaRP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DE1239BA-FD2B-0E9D-AF1D-72F141D990E5}"/>
              </a:ext>
            </a:extLst>
          </p:cNvPr>
          <p:cNvGrpSpPr/>
          <p:nvPr/>
        </p:nvGrpSpPr>
        <p:grpSpPr>
          <a:xfrm>
            <a:off x="6400800" y="4800600"/>
            <a:ext cx="5715000" cy="594360"/>
            <a:chOff x="6400800" y="4800600"/>
            <a:chExt cx="5715000" cy="594360"/>
          </a:xfrm>
        </p:grpSpPr>
        <p:sp>
          <p:nvSpPr>
            <p:cNvPr id="18" name="Oval 17"/>
            <p:cNvSpPr/>
            <p:nvPr/>
          </p:nvSpPr>
          <p:spPr>
            <a:xfrm>
              <a:off x="6400800" y="4846320"/>
              <a:ext cx="548640" cy="54864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800" b="1" dirty="0">
                  <a:solidFill>
                    <a:srgbClr val="FFFFFF"/>
                  </a:solidFill>
                  <a:latin typeface="Calibri"/>
                </a:rPr>
                <a:t>R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086600" y="4800600"/>
              <a:ext cx="502920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400" b="1" i="0" dirty="0">
                  <a:solidFill>
                    <a:srgbClr val="1F2A36"/>
                  </a:solidFill>
                  <a:latin typeface="Calibri"/>
                </a:rPr>
                <a:t>Robust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086600" y="5120640"/>
              <a:ext cx="5029200" cy="199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semantisches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Markup, ARIA, UI Automation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5562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A6470"/>
                </a:solidFill>
                <a:latin typeface="Calibri"/>
              </a:rPr>
              <a:t>1 · Prüfen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5562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470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16200000">
            <a:off x="457200" y="384048"/>
            <a:ext cx="201168" cy="201168"/>
          </a:xfrm>
          <a:prstGeom prst="rtTriangl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7315200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 dirty="0">
                <a:solidFill>
                  <a:srgbClr val="1F2A36"/>
                </a:solidFill>
                <a:latin typeface="Calibri"/>
              </a:rPr>
              <a:t>BFW Würzburg  ·  </a:t>
            </a:r>
            <a:r>
              <a:rPr sz="1100" b="1" i="0" dirty="0" err="1">
                <a:solidFill>
                  <a:srgbClr val="1F2A36"/>
                </a:solidFill>
                <a:latin typeface="Calibri"/>
              </a:rPr>
              <a:t>Barrierefreiheit</a:t>
            </a:r>
            <a:r>
              <a:rPr lang="de-DE" sz="1100" b="1" dirty="0">
                <a:solidFill>
                  <a:srgbClr val="1F2A36"/>
                </a:solidFill>
              </a:rPr>
              <a:t> - Prüfen</a:t>
            </a:r>
            <a:endParaRPr sz="1100" b="1" i="0" dirty="0">
              <a:solidFill>
                <a:srgbClr val="1F2A3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C8102E"/>
                </a:solidFill>
                <a:latin typeface="Calibri"/>
              </a:rPr>
              <a:t>Wie </a:t>
            </a:r>
            <a:r>
              <a:rPr sz="3000" b="1" i="0" dirty="0" err="1">
                <a:solidFill>
                  <a:srgbClr val="C8102E"/>
                </a:solidFill>
                <a:latin typeface="Calibri"/>
              </a:rPr>
              <a:t>prüfen</a:t>
            </a:r>
            <a:r>
              <a:rPr sz="3000" b="1" i="0" dirty="0">
                <a:solidFill>
                  <a:srgbClr val="C8102E"/>
                </a:solidFill>
                <a:latin typeface="Calibri"/>
              </a:rPr>
              <a:t>? – Drei </a:t>
            </a:r>
            <a:r>
              <a:rPr sz="3000" b="1" i="0" dirty="0" err="1">
                <a:solidFill>
                  <a:srgbClr val="C8102E"/>
                </a:solidFill>
                <a:latin typeface="Calibri"/>
              </a:rPr>
              <a:t>sich</a:t>
            </a:r>
            <a:r>
              <a:rPr sz="3000" b="1" i="0" dirty="0">
                <a:solidFill>
                  <a:srgbClr val="C8102E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C8102E"/>
                </a:solidFill>
                <a:latin typeface="Calibri"/>
              </a:rPr>
              <a:t>ergänzende</a:t>
            </a:r>
            <a:r>
              <a:rPr sz="3000" b="1" i="0" dirty="0">
                <a:solidFill>
                  <a:srgbClr val="C8102E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C8102E"/>
                </a:solidFill>
                <a:latin typeface="Calibri"/>
              </a:rPr>
              <a:t>Ebenen</a:t>
            </a:r>
            <a:endParaRPr sz="3000" b="1" i="0" dirty="0">
              <a:solidFill>
                <a:srgbClr val="C8102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771D0249-9228-64A5-A568-3670A57B8196}"/>
              </a:ext>
            </a:extLst>
          </p:cNvPr>
          <p:cNvGrpSpPr/>
          <p:nvPr/>
        </p:nvGrpSpPr>
        <p:grpSpPr>
          <a:xfrm>
            <a:off x="457200" y="1737360"/>
            <a:ext cx="3657600" cy="4572000"/>
            <a:chOff x="457200" y="1737360"/>
            <a:chExt cx="3657600" cy="4572000"/>
          </a:xfrm>
        </p:grpSpPr>
        <p:sp>
          <p:nvSpPr>
            <p:cNvPr id="6" name="Rectangle 5"/>
            <p:cNvSpPr/>
            <p:nvPr/>
          </p:nvSpPr>
          <p:spPr>
            <a:xfrm>
              <a:off x="457200" y="1737360"/>
              <a:ext cx="3657600" cy="4572000"/>
            </a:xfrm>
            <a:prstGeom prst="rect">
              <a:avLst/>
            </a:prstGeom>
            <a:solidFill>
              <a:srgbClr val="F5F6F8"/>
            </a:solidFill>
            <a:ln w="9525">
              <a:solidFill>
                <a:srgbClr val="E9EC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457200" y="1737360"/>
              <a:ext cx="3657600" cy="109728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31520" y="2011680"/>
              <a:ext cx="31089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 i="0">
                  <a:solidFill>
                    <a:srgbClr val="1F2A36"/>
                  </a:solidFill>
                  <a:latin typeface="Calibri"/>
                </a:rPr>
                <a:t>Mit Tastatur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31520" y="2514600"/>
              <a:ext cx="310896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0" i="1">
                  <a:solidFill>
                    <a:srgbClr val="C8102E"/>
                  </a:solidFill>
                  <a:latin typeface="Calibri"/>
                </a:rPr>
                <a:t>Maus weg!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1520" y="2971800"/>
              <a:ext cx="3108960" cy="14687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1200" b="1" dirty="0">
                  <a:solidFill>
                    <a:srgbClr val="C8102E"/>
                  </a:solidFill>
                  <a:latin typeface="Calibri"/>
                </a:rPr>
                <a:t>•  </a:t>
              </a:r>
              <a:r>
                <a:rPr lang="de-DE" sz="1200" dirty="0">
                  <a:solidFill>
                    <a:srgbClr val="1F2A36"/>
                  </a:solidFill>
                  <a:latin typeface="Calibri"/>
                </a:rPr>
                <a:t>Navigieren mit Ta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b / </a:t>
              </a:r>
              <a:r>
                <a:rPr sz="1200" dirty="0" err="1">
                  <a:solidFill>
                    <a:srgbClr val="1F2A36"/>
                  </a:solidFill>
                  <a:latin typeface="Calibri"/>
                </a:rPr>
                <a:t>Shift+Tab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lang="de-DE" sz="1200" dirty="0">
                  <a:solidFill>
                    <a:srgbClr val="1F2A36"/>
                  </a:solidFill>
                  <a:latin typeface="Calibri"/>
                </a:rPr>
                <a:t>über die GUI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.</a:t>
              </a: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1200" b="1" dirty="0">
                  <a:solidFill>
                    <a:srgbClr val="C8102E"/>
                  </a:solidFill>
                  <a:latin typeface="Calibri"/>
                </a:rPr>
                <a:t>•  </a:t>
              </a:r>
              <a:r>
                <a:rPr sz="1200" dirty="0" err="1">
                  <a:solidFill>
                    <a:srgbClr val="1F2A36"/>
                  </a:solidFill>
                  <a:latin typeface="Calibri"/>
                </a:rPr>
                <a:t>Fokus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 immer </a:t>
              </a:r>
              <a:r>
                <a:rPr sz="1200" dirty="0" err="1">
                  <a:solidFill>
                    <a:srgbClr val="1F2A36"/>
                  </a:solidFill>
                  <a:latin typeface="Calibri"/>
                </a:rPr>
                <a:t>sichtbar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? </a:t>
              </a:r>
              <a:r>
                <a:rPr sz="1200" dirty="0" err="1">
                  <a:solidFill>
                    <a:srgbClr val="1F2A36"/>
                  </a:solidFill>
                  <a:latin typeface="Calibri"/>
                </a:rPr>
                <a:t>Logische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200" dirty="0" err="1">
                  <a:solidFill>
                    <a:srgbClr val="1F2A36"/>
                  </a:solidFill>
                  <a:latin typeface="Calibri"/>
                </a:rPr>
                <a:t>Reihenfolge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?</a:t>
              </a: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1200" b="1" dirty="0">
                  <a:solidFill>
                    <a:srgbClr val="C8102E"/>
                  </a:solidFill>
                  <a:latin typeface="Calibri"/>
                </a:rPr>
                <a:t>•  </a:t>
              </a:r>
              <a:r>
                <a:rPr lang="de-DE" sz="1200" dirty="0">
                  <a:solidFill>
                    <a:srgbClr val="1F2A36"/>
                  </a:solidFill>
                  <a:latin typeface="Calibri"/>
                </a:rPr>
                <a:t>Alles erreichbar, k</a:t>
              </a:r>
              <a:r>
                <a:rPr sz="1200" dirty="0" err="1">
                  <a:solidFill>
                    <a:srgbClr val="1F2A36"/>
                  </a:solidFill>
                  <a:latin typeface="Calibri"/>
                </a:rPr>
                <a:t>eine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200" dirty="0" err="1">
                  <a:solidFill>
                    <a:srgbClr val="1F2A36"/>
                  </a:solidFill>
                  <a:latin typeface="Calibri"/>
                </a:rPr>
                <a:t>Tastatur­fallen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 </a:t>
              </a:r>
              <a:br>
                <a:rPr lang="de-DE" sz="1200" dirty="0">
                  <a:solidFill>
                    <a:srgbClr val="1F2A36"/>
                  </a:solidFill>
                  <a:latin typeface="Calibri"/>
                </a:rPr>
              </a:br>
              <a:r>
                <a:rPr lang="de-DE" sz="1200" dirty="0">
                  <a:solidFill>
                    <a:srgbClr val="1F2A36"/>
                  </a:solidFill>
                  <a:latin typeface="Calibri"/>
                </a:rPr>
                <a:t>	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(</a:t>
              </a:r>
              <a:r>
                <a:rPr sz="1200" dirty="0" err="1">
                  <a:solidFill>
                    <a:srgbClr val="1F2A36"/>
                  </a:solidFill>
                  <a:latin typeface="Calibri"/>
                </a:rPr>
                <a:t>Modale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, Custom-Controls).</a:t>
              </a: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1200" b="1" dirty="0">
                  <a:solidFill>
                    <a:srgbClr val="C8102E"/>
                  </a:solidFill>
                  <a:latin typeface="Calibri"/>
                </a:rPr>
                <a:t>•  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Enter / Space / Escape </a:t>
              </a:r>
              <a:r>
                <a:rPr sz="1200" dirty="0" err="1">
                  <a:solidFill>
                    <a:srgbClr val="1F2A36"/>
                  </a:solidFill>
                  <a:latin typeface="Calibri"/>
                </a:rPr>
                <a:t>funktionieren</a:t>
              </a:r>
              <a:r>
                <a:rPr lang="de-DE" sz="1200" dirty="0">
                  <a:solidFill>
                    <a:srgbClr val="1F2A36"/>
                  </a:solidFill>
                  <a:latin typeface="Calibri"/>
                </a:rPr>
                <a:t> wie 	erwartet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?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0E71658C-5A31-8134-3703-74B92CE22B1C}"/>
              </a:ext>
            </a:extLst>
          </p:cNvPr>
          <p:cNvGrpSpPr/>
          <p:nvPr/>
        </p:nvGrpSpPr>
        <p:grpSpPr>
          <a:xfrm>
            <a:off x="8092440" y="1737360"/>
            <a:ext cx="3657600" cy="4572000"/>
            <a:chOff x="4361688" y="1737360"/>
            <a:chExt cx="3657600" cy="4572000"/>
          </a:xfrm>
        </p:grpSpPr>
        <p:sp>
          <p:nvSpPr>
            <p:cNvPr id="11" name="Rectangle 10"/>
            <p:cNvSpPr/>
            <p:nvPr/>
          </p:nvSpPr>
          <p:spPr>
            <a:xfrm>
              <a:off x="4361688" y="1737360"/>
              <a:ext cx="3657600" cy="4572000"/>
            </a:xfrm>
            <a:prstGeom prst="rect">
              <a:avLst/>
            </a:prstGeom>
            <a:solidFill>
              <a:srgbClr val="F5F6F8"/>
            </a:solidFill>
            <a:ln w="9525">
              <a:solidFill>
                <a:srgbClr val="E9EC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361688" y="1737360"/>
              <a:ext cx="3657600" cy="109728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636008" y="2011680"/>
              <a:ext cx="31089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 i="0">
                  <a:solidFill>
                    <a:srgbClr val="1F2A36"/>
                  </a:solidFill>
                  <a:latin typeface="Calibri"/>
                </a:rPr>
                <a:t>Mit Screenreader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36008" y="2514600"/>
              <a:ext cx="310896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0" i="1">
                  <a:solidFill>
                    <a:srgbClr val="C8102E"/>
                  </a:solidFill>
                  <a:latin typeface="Calibri"/>
                </a:rPr>
                <a:t>NVDA + JAWS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636008" y="2971800"/>
              <a:ext cx="3108960" cy="97424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1200" b="1" dirty="0">
                  <a:solidFill>
                    <a:srgbClr val="C8102E"/>
                  </a:solidFill>
                  <a:latin typeface="Calibri"/>
                </a:rPr>
                <a:t>•  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NVDA Speech-Viewer</a:t>
              </a:r>
              <a:r>
                <a:rPr lang="de-DE" sz="1200" dirty="0">
                  <a:solidFill>
                    <a:srgbClr val="1F2A36"/>
                  </a:solidFill>
                  <a:latin typeface="Calibri"/>
                </a:rPr>
                <a:t>, JAWS </a:t>
              </a:r>
              <a:r>
                <a:rPr lang="de-DE" sz="1200" dirty="0" err="1">
                  <a:solidFill>
                    <a:srgbClr val="1F2A36"/>
                  </a:solidFill>
                  <a:latin typeface="Calibri"/>
                </a:rPr>
                <a:t>Braillebetrachter</a:t>
              </a:r>
              <a:r>
                <a:rPr lang="de-DE" sz="1200" dirty="0">
                  <a:solidFill>
                    <a:srgbClr val="1F2A36"/>
                  </a:solidFill>
                  <a:latin typeface="Calibri"/>
                </a:rPr>
                <a:t>…</a:t>
              </a: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endParaRPr lang="de-DE" sz="1200" dirty="0">
                <a:solidFill>
                  <a:srgbClr val="1F2A36"/>
                </a:solidFill>
                <a:latin typeface="Calibri"/>
              </a:endParaRPr>
            </a:p>
            <a:p>
              <a:pPr>
                <a:lnSpc>
                  <a:spcPct val="120000"/>
                </a:lnSpc>
                <a:spcAft>
                  <a:spcPts val="400"/>
                </a:spcAft>
              </a:pPr>
              <a:r>
                <a:rPr lang="de-DE" sz="1200" b="1" dirty="0">
                  <a:solidFill>
                    <a:srgbClr val="C8102E"/>
                  </a:solidFill>
                </a:rPr>
                <a:t>• PRAXIS-VORFÜHRUNG</a:t>
              </a:r>
              <a:br>
                <a:rPr lang="de-DE" sz="1200" dirty="0">
                  <a:solidFill>
                    <a:srgbClr val="1F2A36"/>
                  </a:solidFill>
                  <a:latin typeface="Calibri"/>
                </a:rPr>
              </a:br>
              <a:endParaRPr lang="de-DE" sz="1200" dirty="0">
                <a:solidFill>
                  <a:srgbClr val="1F2A36"/>
                </a:solidFill>
                <a:latin typeface="Calibri"/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5562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A6470"/>
                </a:solidFill>
                <a:latin typeface="Calibri"/>
              </a:rPr>
              <a:t>1 · Prüfen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5562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470"/>
                </a:solidFill>
                <a:latin typeface="Calibri"/>
              </a:rPr>
              <a:t>5 / 18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FC064692-DBAC-B3B6-AB69-25D9B1FEBD48}"/>
              </a:ext>
            </a:extLst>
          </p:cNvPr>
          <p:cNvGrpSpPr/>
          <p:nvPr/>
        </p:nvGrpSpPr>
        <p:grpSpPr>
          <a:xfrm>
            <a:off x="4267047" y="1737360"/>
            <a:ext cx="3657600" cy="4572000"/>
            <a:chOff x="8266176" y="1737360"/>
            <a:chExt cx="3657600" cy="4572000"/>
          </a:xfrm>
        </p:grpSpPr>
        <p:sp>
          <p:nvSpPr>
            <p:cNvPr id="16" name="Rectangle 15"/>
            <p:cNvSpPr/>
            <p:nvPr/>
          </p:nvSpPr>
          <p:spPr>
            <a:xfrm>
              <a:off x="8266176" y="1737360"/>
              <a:ext cx="3657600" cy="4572000"/>
            </a:xfrm>
            <a:prstGeom prst="rect">
              <a:avLst/>
            </a:prstGeom>
            <a:solidFill>
              <a:srgbClr val="F5F6F8"/>
            </a:solidFill>
            <a:ln w="9525">
              <a:solidFill>
                <a:srgbClr val="E9EC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266176" y="1737360"/>
              <a:ext cx="3657600" cy="109728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540496" y="2011680"/>
              <a:ext cx="31089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 i="0">
                  <a:solidFill>
                    <a:srgbClr val="1F2A36"/>
                  </a:solidFill>
                  <a:latin typeface="Calibri"/>
                </a:rPr>
                <a:t>Mit Tools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540496" y="2514600"/>
              <a:ext cx="310896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0" i="1" dirty="0" err="1">
                  <a:solidFill>
                    <a:srgbClr val="C8102E"/>
                  </a:solidFill>
                  <a:latin typeface="Calibri"/>
                </a:rPr>
                <a:t>Schnellprüfung</a:t>
              </a:r>
              <a:r>
                <a:rPr sz="1300" b="0" i="1" dirty="0">
                  <a:solidFill>
                    <a:srgbClr val="C8102E"/>
                  </a:solidFill>
                  <a:latin typeface="Calibri"/>
                </a:rPr>
                <a:t> &amp; Reports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540496" y="2971800"/>
              <a:ext cx="3108960" cy="23387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1200" b="1" dirty="0">
                  <a:solidFill>
                    <a:srgbClr val="C8102E"/>
                  </a:solidFill>
                  <a:latin typeface="Calibri"/>
                </a:rPr>
                <a:t>•  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Browser: axe DevTools, WAVE, Lighthouse.</a:t>
              </a: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1200" b="1" dirty="0">
                  <a:solidFill>
                    <a:srgbClr val="C8102E"/>
                  </a:solidFill>
                  <a:latin typeface="Calibri"/>
                </a:rPr>
                <a:t>•  </a:t>
              </a:r>
              <a:r>
                <a:rPr sz="1200" dirty="0" err="1">
                  <a:solidFill>
                    <a:srgbClr val="1F2A36"/>
                  </a:solidFill>
                  <a:latin typeface="Calibri"/>
                </a:rPr>
                <a:t>Kontraste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: </a:t>
              </a:r>
              <a:r>
                <a:rPr sz="1200" dirty="0" err="1">
                  <a:solidFill>
                    <a:srgbClr val="1F2A36"/>
                  </a:solidFill>
                  <a:latin typeface="Calibri"/>
                </a:rPr>
                <a:t>Colour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 Contrast </a:t>
              </a:r>
              <a:r>
                <a:rPr sz="1200" dirty="0" err="1">
                  <a:solidFill>
                    <a:srgbClr val="1F2A36"/>
                  </a:solidFill>
                  <a:latin typeface="Calibri"/>
                </a:rPr>
                <a:t>Analyser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 (CCA).</a:t>
              </a: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1200" b="1" dirty="0">
                  <a:solidFill>
                    <a:srgbClr val="C8102E"/>
                  </a:solidFill>
                  <a:latin typeface="Calibri"/>
                </a:rPr>
                <a:t>•  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Windows-Apps: </a:t>
              </a:r>
              <a:br>
                <a:rPr lang="de-DE" sz="1200" dirty="0">
                  <a:solidFill>
                    <a:srgbClr val="1F2A36"/>
                  </a:solidFill>
                  <a:latin typeface="Calibri"/>
                </a:rPr>
              </a:br>
              <a:r>
                <a:rPr lang="de-DE" sz="1200" dirty="0">
                  <a:solidFill>
                    <a:srgbClr val="1F2A36"/>
                  </a:solidFill>
                  <a:latin typeface="Calibri"/>
                </a:rPr>
                <a:t>    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Accessibility Insights for Windows</a:t>
              </a: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1200" b="1" dirty="0">
                  <a:solidFill>
                    <a:srgbClr val="C8102E"/>
                  </a:solidFill>
                  <a:latin typeface="Calibri"/>
                </a:rPr>
                <a:t>•  </a:t>
              </a:r>
              <a:r>
                <a:rPr sz="1200" dirty="0">
                  <a:solidFill>
                    <a:srgbClr val="1F2A36"/>
                  </a:solidFill>
                  <a:latin typeface="Calibri"/>
                </a:rPr>
                <a:t>PDFs: PAC 2024 / Adobe Pro Voll</a:t>
              </a:r>
              <a:r>
                <a:rPr lang="de-DE" sz="1200" dirty="0">
                  <a:solidFill>
                    <a:srgbClr val="1F2A36"/>
                  </a:solidFill>
                  <a:latin typeface="Calibri"/>
                </a:rPr>
                <a:t>-P</a:t>
              </a:r>
              <a:r>
                <a:rPr sz="1200" dirty="0" err="1">
                  <a:solidFill>
                    <a:srgbClr val="1F2A36"/>
                  </a:solidFill>
                  <a:latin typeface="Calibri"/>
                </a:rPr>
                <a:t>rüfung</a:t>
              </a:r>
              <a:endParaRPr lang="de-DE" sz="1200" dirty="0">
                <a:solidFill>
                  <a:srgbClr val="1F2A36"/>
                </a:solidFill>
                <a:latin typeface="Calibri"/>
              </a:endParaRP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endParaRPr lang="de-DE" sz="1200" dirty="0">
                <a:solidFill>
                  <a:srgbClr val="1F2A36"/>
                </a:solidFill>
                <a:latin typeface="Calibri"/>
              </a:endParaRP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endParaRPr lang="de-DE" sz="1200" dirty="0">
                <a:solidFill>
                  <a:srgbClr val="1F2A36"/>
                </a:solidFill>
                <a:latin typeface="Calibri"/>
              </a:endParaRPr>
            </a:p>
            <a:p>
              <a:pPr>
                <a:lnSpc>
                  <a:spcPct val="120000"/>
                </a:lnSpc>
                <a:spcAft>
                  <a:spcPts val="400"/>
                </a:spcAft>
              </a:pPr>
              <a:r>
                <a:rPr lang="de-DE" sz="1200" b="1" dirty="0">
                  <a:solidFill>
                    <a:srgbClr val="C8102E"/>
                  </a:solidFill>
                </a:rPr>
                <a:t>•  </a:t>
              </a:r>
              <a:r>
                <a:rPr lang="de-DE" sz="1200" dirty="0">
                  <a:solidFill>
                    <a:srgbClr val="1F2A36"/>
                  </a:solidFill>
                </a:rPr>
                <a:t>BIT Inklusiv Tests</a:t>
              </a:r>
            </a:p>
            <a:p>
              <a:pPr>
                <a:lnSpc>
                  <a:spcPct val="120000"/>
                </a:lnSpc>
                <a:spcAft>
                  <a:spcPts val="400"/>
                </a:spcAft>
              </a:pPr>
              <a:r>
                <a:rPr lang="de-DE" sz="1200" b="1" dirty="0">
                  <a:solidFill>
                    <a:srgbClr val="C8102E"/>
                  </a:solidFill>
                </a:rPr>
                <a:t>•  </a:t>
              </a:r>
              <a:r>
                <a:rPr lang="de-DE" sz="1200" dirty="0">
                  <a:solidFill>
                    <a:srgbClr val="1F2A36"/>
                  </a:solidFill>
                </a:rPr>
                <a:t>BIK BITV Tests</a:t>
              </a:r>
              <a:endParaRPr sz="1200" dirty="0">
                <a:solidFill>
                  <a:srgbClr val="1F2A36"/>
                </a:solidFill>
                <a:latin typeface="Calibri"/>
              </a:endParaRPr>
            </a:p>
          </p:txBody>
        </p:sp>
        <p:sp>
          <p:nvSpPr>
            <p:cNvPr id="24" name="TextBox 18">
              <a:extLst>
                <a:ext uri="{FF2B5EF4-FFF2-40B4-BE49-F238E27FC236}">
                  <a16:creationId xmlns:a16="http://schemas.microsoft.com/office/drawing/2014/main" id="{26BFD4B4-C209-FBDC-2A1B-F07D3250F48A}"/>
                </a:ext>
              </a:extLst>
            </p:cNvPr>
            <p:cNvSpPr txBox="1"/>
            <p:nvPr/>
          </p:nvSpPr>
          <p:spPr>
            <a:xfrm>
              <a:off x="8540496" y="4450474"/>
              <a:ext cx="3108960" cy="21653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lang="de-DE" sz="1300" b="0" i="1" dirty="0">
                  <a:solidFill>
                    <a:srgbClr val="C8102E"/>
                  </a:solidFill>
                  <a:latin typeface="Calibri"/>
                </a:rPr>
                <a:t>Vollständige Tests</a:t>
              </a:r>
              <a:endParaRPr sz="1300" b="0" i="1" dirty="0">
                <a:solidFill>
                  <a:srgbClr val="C8102E"/>
                </a:solidFill>
                <a:latin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775007"/>
            <a:ext cx="1828800" cy="1021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0" b="1" i="0" dirty="0">
                <a:solidFill>
                  <a:srgbClr val="C8102E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219658"/>
            <a:ext cx="8686800" cy="681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Anpassen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3354989"/>
            <a:ext cx="8686800" cy="206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 dirty="0" err="1">
                <a:solidFill>
                  <a:srgbClr val="E9ECEF"/>
                </a:solidFill>
                <a:latin typeface="Calibri"/>
              </a:rPr>
              <a:t>Screenreader</a:t>
            </a:r>
            <a:r>
              <a:rPr lang="de-DE" sz="2000" b="0" i="1" dirty="0">
                <a:solidFill>
                  <a:srgbClr val="E9ECEF"/>
                </a:solidFill>
                <a:latin typeface="Calibri"/>
              </a:rPr>
              <a:t>-Anpassungen für</a:t>
            </a:r>
            <a:r>
              <a:rPr sz="2000" b="0" i="1" dirty="0">
                <a:solidFill>
                  <a:srgbClr val="E9ECEF"/>
                </a:solidFill>
                <a:latin typeface="Calibri"/>
              </a:rPr>
              <a:t> NVDA &amp; JAWS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4206240"/>
            <a:ext cx="914400" cy="50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1D0D7DB-73F1-2705-2B64-93C181635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0652" y="640475"/>
            <a:ext cx="2902228" cy="9394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16200000">
            <a:off x="457200" y="384048"/>
            <a:ext cx="201168" cy="201168"/>
          </a:xfrm>
          <a:prstGeom prst="rtTriangl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7315200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dirty="0">
                <a:solidFill>
                  <a:srgbClr val="1F2A36"/>
                </a:solidFill>
                <a:latin typeface="Calibri"/>
              </a:rPr>
              <a:t>BFW Würzburg  ·  </a:t>
            </a:r>
            <a:r>
              <a:rPr sz="1100" b="1" i="0" dirty="0" err="1">
                <a:solidFill>
                  <a:srgbClr val="1F2A36"/>
                </a:solidFill>
                <a:latin typeface="Calibri"/>
              </a:rPr>
              <a:t>Barrierefreiheit</a:t>
            </a:r>
            <a:r>
              <a:rPr lang="de-DE" sz="1100" b="1" i="0" dirty="0">
                <a:solidFill>
                  <a:srgbClr val="1F2A36"/>
                </a:solidFill>
                <a:latin typeface="Calibri"/>
              </a:rPr>
              <a:t> - Anpassen</a:t>
            </a:r>
            <a:endParaRPr sz="1100" b="1" i="0" dirty="0">
              <a:solidFill>
                <a:srgbClr val="1F2A3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8102E"/>
                </a:solidFill>
                <a:latin typeface="Calibri"/>
              </a:rPr>
              <a:t>Screenreader-Anpassungen · JAWS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de-DE" sz="1400" b="0" i="1" dirty="0">
                <a:solidFill>
                  <a:srgbClr val="5A6470"/>
                </a:solidFill>
                <a:latin typeface="Calibri"/>
              </a:rPr>
              <a:t>(Welt-)</a:t>
            </a:r>
            <a:r>
              <a:rPr sz="1400" b="0" i="1" dirty="0" err="1">
                <a:solidFill>
                  <a:srgbClr val="5A6470"/>
                </a:solidFill>
                <a:latin typeface="Calibri"/>
              </a:rPr>
              <a:t>Marktführer</a:t>
            </a:r>
            <a:r>
              <a:rPr sz="1400" b="0" i="1" dirty="0">
                <a:solidFill>
                  <a:srgbClr val="5A6470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5A6470"/>
                </a:solidFill>
                <a:latin typeface="Calibri"/>
              </a:rPr>
              <a:t>im</a:t>
            </a:r>
            <a:r>
              <a:rPr sz="1400" b="0" i="1" dirty="0">
                <a:solidFill>
                  <a:srgbClr val="5A6470"/>
                </a:solidFill>
                <a:latin typeface="Calibri"/>
              </a:rPr>
              <a:t> </a:t>
            </a:r>
            <a:r>
              <a:rPr lang="de-DE" sz="1400" b="0" i="1" dirty="0">
                <a:solidFill>
                  <a:srgbClr val="5A6470"/>
                </a:solidFill>
                <a:latin typeface="Calibri"/>
              </a:rPr>
              <a:t>Business-</a:t>
            </a:r>
            <a:r>
              <a:rPr sz="1400" b="0" i="1" dirty="0" err="1">
                <a:solidFill>
                  <a:srgbClr val="5A6470"/>
                </a:solidFill>
                <a:latin typeface="Calibri"/>
              </a:rPr>
              <a:t>Umfeld</a:t>
            </a:r>
            <a:endParaRPr sz="1400" b="0" i="1" dirty="0">
              <a:solidFill>
                <a:srgbClr val="5A647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5562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A6470"/>
                </a:solidFill>
                <a:latin typeface="Calibri"/>
              </a:rPr>
              <a:t>2 · Anpassen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562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470"/>
                </a:solidFill>
                <a:latin typeface="Calibri"/>
              </a:rPr>
              <a:t>8 / 18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3D5FE9B6-5F71-17FD-60E9-E71702344099}"/>
              </a:ext>
            </a:extLst>
          </p:cNvPr>
          <p:cNvGrpSpPr/>
          <p:nvPr/>
        </p:nvGrpSpPr>
        <p:grpSpPr>
          <a:xfrm>
            <a:off x="6248402" y="2101194"/>
            <a:ext cx="5571265" cy="3802506"/>
            <a:chOff x="6248402" y="2101194"/>
            <a:chExt cx="5571265" cy="3802506"/>
          </a:xfrm>
        </p:grpSpPr>
        <p:sp>
          <p:nvSpPr>
            <p:cNvPr id="9" name="TextBox 8"/>
            <p:cNvSpPr txBox="1"/>
            <p:nvPr/>
          </p:nvSpPr>
          <p:spPr>
            <a:xfrm>
              <a:off x="6248402" y="2101194"/>
              <a:ext cx="5571265" cy="29982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lang="de-DE" sz="1800" b="1" i="0" dirty="0">
                  <a:solidFill>
                    <a:srgbClr val="1F2A36"/>
                  </a:solidFill>
                  <a:latin typeface="Calibri"/>
                </a:rPr>
                <a:t>Entwickeln mit KI-Assistent (Claude Code)</a:t>
              </a:r>
              <a:endParaRPr sz="1800" b="1" i="0" dirty="0">
                <a:solidFill>
                  <a:srgbClr val="1F2A36"/>
                </a:solidFill>
                <a:latin typeface="Calibri"/>
              </a:endParaRPr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4727BC84-16E6-5A16-CA19-097660B3C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8402" y="2558394"/>
              <a:ext cx="5486093" cy="3345306"/>
            </a:xfrm>
            <a:prstGeom prst="rect">
              <a:avLst/>
            </a:prstGeom>
          </p:spPr>
        </p:pic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49788E1-181D-1146-3CA8-6A9993D142D9}"/>
              </a:ext>
            </a:extLst>
          </p:cNvPr>
          <p:cNvGrpSpPr/>
          <p:nvPr/>
        </p:nvGrpSpPr>
        <p:grpSpPr>
          <a:xfrm>
            <a:off x="457200" y="1976288"/>
            <a:ext cx="5486400" cy="2420157"/>
            <a:chOff x="457200" y="1976288"/>
            <a:chExt cx="5486400" cy="2420157"/>
          </a:xfrm>
        </p:grpSpPr>
        <p:sp>
          <p:nvSpPr>
            <p:cNvPr id="10" name="TextBox 9"/>
            <p:cNvSpPr txBox="1"/>
            <p:nvPr/>
          </p:nvSpPr>
          <p:spPr>
            <a:xfrm>
              <a:off x="457200" y="2526831"/>
              <a:ext cx="5486400" cy="186961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400"/>
                </a:spcAft>
              </a:pPr>
              <a:r>
                <a:rPr lang="de-DE" sz="1300" b="1" dirty="0">
                  <a:solidFill>
                    <a:srgbClr val="C8102E"/>
                  </a:solidFill>
                </a:rPr>
                <a:t>•  </a:t>
              </a:r>
              <a:r>
                <a:rPr lang="de-DE" sz="1300" dirty="0" err="1">
                  <a:solidFill>
                    <a:srgbClr val="1F2A36"/>
                  </a:solidFill>
                </a:rPr>
                <a:t>Skripting</a:t>
              </a:r>
              <a:r>
                <a:rPr lang="de-DE" sz="1300" dirty="0">
                  <a:solidFill>
                    <a:srgbClr val="1F2A36"/>
                  </a:solidFill>
                </a:rPr>
                <a:t> in eigener </a:t>
              </a:r>
              <a:r>
                <a:rPr lang="de-DE" sz="1300" dirty="0" err="1">
                  <a:solidFill>
                    <a:srgbClr val="1F2A36"/>
                  </a:solidFill>
                </a:rPr>
                <a:t>Skripting</a:t>
              </a:r>
              <a:r>
                <a:rPr lang="de-DE" sz="1300" dirty="0">
                  <a:solidFill>
                    <a:srgbClr val="1F2A36"/>
                  </a:solidFill>
                </a:rPr>
                <a:t>-Sprache (JSS-Dateien)</a:t>
              </a:r>
            </a:p>
            <a:p>
              <a:pPr>
                <a:lnSpc>
                  <a:spcPct val="120000"/>
                </a:lnSpc>
                <a:spcAft>
                  <a:spcPts val="400"/>
                </a:spcAft>
              </a:pPr>
              <a:r>
                <a:rPr lang="de-DE" sz="1300" b="1" dirty="0">
                  <a:solidFill>
                    <a:srgbClr val="C8102E"/>
                  </a:solidFill>
                </a:rPr>
                <a:t>•  </a:t>
              </a:r>
              <a:r>
                <a:rPr lang="de-DE" sz="1300" dirty="0">
                  <a:solidFill>
                    <a:srgbClr val="1F2A36"/>
                  </a:solidFill>
                </a:rPr>
                <a:t>Eingebettete OCR für Bild-Texte und gescannte PDFs</a:t>
              </a: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1300" b="1" dirty="0">
                  <a:solidFill>
                    <a:srgbClr val="C8102E"/>
                  </a:solidFill>
                  <a:latin typeface="Calibri"/>
                </a:rPr>
                <a:t>•  </a:t>
              </a:r>
              <a:r>
                <a:rPr lang="de-DE" sz="1300" dirty="0">
                  <a:solidFill>
                    <a:srgbClr val="1F2A36"/>
                  </a:solidFill>
                  <a:latin typeface="Calibri"/>
                </a:rPr>
                <a:t>Sprechendes Bild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 (KI-</a:t>
              </a:r>
              <a:r>
                <a:rPr sz="1300" dirty="0" err="1">
                  <a:solidFill>
                    <a:srgbClr val="1F2A36"/>
                  </a:solidFill>
                  <a:latin typeface="Calibri"/>
                </a:rPr>
                <a:t>Bildbeschreibung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) </a:t>
              </a:r>
              <a:r>
                <a:rPr sz="1300" dirty="0" err="1">
                  <a:solidFill>
                    <a:srgbClr val="1F2A36"/>
                  </a:solidFill>
                  <a:latin typeface="Calibri"/>
                </a:rPr>
                <a:t>seit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 JAWS 202</a:t>
              </a:r>
              <a:r>
                <a:rPr lang="de-DE" sz="1300" dirty="0">
                  <a:solidFill>
                    <a:srgbClr val="1F2A36"/>
                  </a:solidFill>
                  <a:latin typeface="Calibri"/>
                </a:rPr>
                <a:t>4</a:t>
              </a:r>
              <a:endParaRPr sz="1300" dirty="0">
                <a:solidFill>
                  <a:srgbClr val="1F2A36"/>
                </a:solidFill>
                <a:latin typeface="Calibri"/>
              </a:endParaRP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endParaRPr lang="de-DE" sz="1300" b="1" dirty="0">
                <a:solidFill>
                  <a:srgbClr val="C8102E"/>
                </a:solidFill>
                <a:latin typeface="Calibri"/>
              </a:endParaRP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1300" b="1" dirty="0">
                  <a:solidFill>
                    <a:srgbClr val="C8102E"/>
                  </a:solidFill>
                  <a:latin typeface="Calibri"/>
                </a:rPr>
                <a:t>•  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Tipp: Mit NVDA </a:t>
              </a:r>
              <a:r>
                <a:rPr sz="1300" dirty="0" err="1">
                  <a:solidFill>
                    <a:srgbClr val="1F2A36"/>
                  </a:solidFill>
                  <a:latin typeface="Calibri"/>
                </a:rPr>
                <a:t>gegentesten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 – </a:t>
              </a:r>
              <a:r>
                <a:rPr sz="1300" dirty="0" err="1">
                  <a:solidFill>
                    <a:srgbClr val="1F2A36"/>
                  </a:solidFill>
                  <a:latin typeface="Calibri"/>
                </a:rPr>
                <a:t>beide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300" dirty="0" err="1">
                  <a:solidFill>
                    <a:srgbClr val="1F2A36"/>
                  </a:solidFill>
                  <a:latin typeface="Calibri"/>
                </a:rPr>
                <a:t>nutzen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lang="de-DE" sz="1300" dirty="0">
                  <a:solidFill>
                    <a:srgbClr val="1F2A36"/>
                  </a:solidFill>
                  <a:latin typeface="Calibri"/>
                </a:rPr>
                <a:t>zwar v.a. die Accessibility-Schnittstellen 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MSAA/UI</a:t>
              </a:r>
              <a:r>
                <a:rPr lang="de-DE" sz="13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A</a:t>
              </a:r>
              <a:r>
                <a:rPr lang="de-DE" sz="1300" dirty="0" err="1">
                  <a:solidFill>
                    <a:srgbClr val="1F2A36"/>
                  </a:solidFill>
                  <a:latin typeface="Calibri"/>
                </a:rPr>
                <a:t>utomation</a:t>
              </a:r>
              <a:r>
                <a:rPr lang="de-DE" sz="1300" dirty="0">
                  <a:solidFill>
                    <a:srgbClr val="1F2A36"/>
                  </a:solidFill>
                  <a:latin typeface="Calibri"/>
                </a:rPr>
                <a:t>, aber gehen teilweise etwas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300" dirty="0" err="1">
                  <a:solidFill>
                    <a:srgbClr val="1F2A36"/>
                  </a:solidFill>
                  <a:latin typeface="Calibri"/>
                </a:rPr>
                <a:t>unterschiedlich</a:t>
              </a:r>
              <a:r>
                <a:rPr lang="de-DE" sz="1300" dirty="0">
                  <a:solidFill>
                    <a:srgbClr val="1F2A36"/>
                  </a:solidFill>
                  <a:latin typeface="Calibri"/>
                </a:rPr>
                <a:t> mit den Informationen um und haben andere Architektur und Historie</a:t>
              </a:r>
              <a:endParaRPr sz="1300" dirty="0">
                <a:solidFill>
                  <a:srgbClr val="1F2A36"/>
                </a:solidFill>
                <a:latin typeface="Calibri"/>
              </a:endParaRPr>
            </a:p>
          </p:txBody>
        </p:sp>
        <p:sp>
          <p:nvSpPr>
            <p:cNvPr id="16" name="TextBox 8">
              <a:extLst>
                <a:ext uri="{FF2B5EF4-FFF2-40B4-BE49-F238E27FC236}">
                  <a16:creationId xmlns:a16="http://schemas.microsoft.com/office/drawing/2014/main" id="{EC8CF758-0603-D56D-CB69-9A5B657D4C27}"/>
                </a:ext>
              </a:extLst>
            </p:cNvPr>
            <p:cNvSpPr txBox="1"/>
            <p:nvPr/>
          </p:nvSpPr>
          <p:spPr>
            <a:xfrm>
              <a:off x="457200" y="1976288"/>
              <a:ext cx="54864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800" b="1" i="0" dirty="0" err="1">
                  <a:solidFill>
                    <a:srgbClr val="1F2A36"/>
                  </a:solidFill>
                  <a:latin typeface="Calibri"/>
                </a:rPr>
                <a:t>Spezialitäten</a:t>
              </a:r>
              <a:endParaRPr sz="1800" b="1" i="0" dirty="0">
                <a:solidFill>
                  <a:srgbClr val="1F2A36"/>
                </a:solidFill>
                <a:latin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8C106-4324-581C-EB2E-A99ADFD77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364483A3-E1F4-8684-8C05-0146EDAC0BA5}"/>
              </a:ext>
            </a:extLst>
          </p:cNvPr>
          <p:cNvSpPr/>
          <p:nvPr/>
        </p:nvSpPr>
        <p:spPr>
          <a:xfrm rot="16200000">
            <a:off x="457200" y="384048"/>
            <a:ext cx="201168" cy="201168"/>
          </a:xfrm>
          <a:prstGeom prst="rtTriangl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2AC4C-E6B6-75C3-5CF9-83A9A6CEDDE4}"/>
              </a:ext>
            </a:extLst>
          </p:cNvPr>
          <p:cNvSpPr txBox="1"/>
          <p:nvPr/>
        </p:nvSpPr>
        <p:spPr>
          <a:xfrm>
            <a:off x="777240" y="329184"/>
            <a:ext cx="7315200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dirty="0">
                <a:solidFill>
                  <a:srgbClr val="1F2A36"/>
                </a:solidFill>
                <a:latin typeface="Calibri"/>
              </a:rPr>
              <a:t>BFW Würzburg  ·  </a:t>
            </a:r>
            <a:r>
              <a:rPr sz="1100" b="1" i="0" dirty="0" err="1">
                <a:solidFill>
                  <a:srgbClr val="1F2A36"/>
                </a:solidFill>
                <a:latin typeface="Calibri"/>
              </a:rPr>
              <a:t>Barrierefreiheit</a:t>
            </a:r>
            <a:r>
              <a:rPr lang="de-DE" sz="1100" b="1" i="0" dirty="0">
                <a:solidFill>
                  <a:srgbClr val="1F2A36"/>
                </a:solidFill>
                <a:latin typeface="Calibri"/>
              </a:rPr>
              <a:t> - Anpassen</a:t>
            </a:r>
            <a:endParaRPr sz="1100" b="1" i="0" dirty="0">
              <a:solidFill>
                <a:srgbClr val="1F2A36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0D500B-938F-E910-A387-79B728F2202A}"/>
              </a:ext>
            </a:extLst>
          </p:cNvPr>
          <p:cNvSpPr txBox="1"/>
          <p:nvPr/>
        </p:nvSpPr>
        <p:spPr>
          <a:xfrm>
            <a:off x="457200" y="822960"/>
            <a:ext cx="10972800" cy="499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C8102E"/>
                </a:solidFill>
                <a:latin typeface="Calibri"/>
              </a:rPr>
              <a:t>Screenreader-Anpassungen</a:t>
            </a:r>
            <a:r>
              <a:rPr sz="3000" b="1" i="0" dirty="0">
                <a:solidFill>
                  <a:srgbClr val="C8102E"/>
                </a:solidFill>
                <a:latin typeface="Calibri"/>
              </a:rPr>
              <a:t> · JAWS</a:t>
            </a:r>
            <a:r>
              <a:rPr lang="de-DE" sz="3000" b="1" i="0" dirty="0">
                <a:solidFill>
                  <a:srgbClr val="C8102E"/>
                </a:solidFill>
                <a:latin typeface="Calibri"/>
              </a:rPr>
              <a:t> – Anpassung mit KI</a:t>
            </a:r>
            <a:endParaRPr sz="3000" b="1" i="0" dirty="0">
              <a:solidFill>
                <a:srgbClr val="C8102E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6DDB07-3B02-9C37-EC52-1C99E98A363A}"/>
              </a:ext>
            </a:extLst>
          </p:cNvPr>
          <p:cNvSpPr/>
          <p:nvPr/>
        </p:nvSpPr>
        <p:spPr>
          <a:xfrm>
            <a:off x="457200" y="141732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324F14-6C05-8A06-A6D6-0118F6385463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8C2E79-2FF9-6664-6A81-5C059D9EBCF6}"/>
              </a:ext>
            </a:extLst>
          </p:cNvPr>
          <p:cNvSpPr txBox="1"/>
          <p:nvPr/>
        </p:nvSpPr>
        <p:spPr>
          <a:xfrm>
            <a:off x="457200" y="65562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A6470"/>
                </a:solidFill>
                <a:latin typeface="Calibri"/>
              </a:rPr>
              <a:t>2 · Anpassen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ACA1E6-1B40-B09A-022F-34AE0B88CAE8}"/>
              </a:ext>
            </a:extLst>
          </p:cNvPr>
          <p:cNvSpPr txBox="1"/>
          <p:nvPr/>
        </p:nvSpPr>
        <p:spPr>
          <a:xfrm>
            <a:off x="10820095" y="65562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470"/>
                </a:solidFill>
                <a:latin typeface="Calibri"/>
              </a:rPr>
              <a:t>8 / 18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1E4FDAF5-428B-12E1-AE85-F1C16E7E5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06" y="1840576"/>
            <a:ext cx="5563993" cy="146499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EA9D790-E8C9-8121-D6A0-FD0D95B7D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38276"/>
            <a:ext cx="5564300" cy="267760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10B9F374-63B7-960A-731C-433C58468A49}"/>
              </a:ext>
            </a:extLst>
          </p:cNvPr>
          <p:cNvSpPr txBox="1"/>
          <p:nvPr/>
        </p:nvSpPr>
        <p:spPr>
          <a:xfrm>
            <a:off x="6562208" y="1842129"/>
            <a:ext cx="4644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FF0000"/>
                </a:solidFill>
              </a:rPr>
              <a:t>KURZE PRAXIS-VORFÜHRUNG</a:t>
            </a:r>
          </a:p>
        </p:txBody>
      </p:sp>
    </p:spTree>
    <p:extLst>
      <p:ext uri="{BB962C8B-B14F-4D97-AF65-F5344CB8AC3E}">
        <p14:creationId xmlns:p14="http://schemas.microsoft.com/office/powerpoint/2010/main" val="396215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16200000">
            <a:off x="457200" y="384048"/>
            <a:ext cx="201168" cy="201168"/>
          </a:xfrm>
          <a:prstGeom prst="rtTriangl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7315200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 dirty="0">
                <a:solidFill>
                  <a:srgbClr val="1F2A36"/>
                </a:solidFill>
                <a:latin typeface="Calibri"/>
              </a:rPr>
              <a:t>BFW Würzburg  ·  </a:t>
            </a:r>
            <a:r>
              <a:rPr sz="1100" b="1" i="0" dirty="0" err="1">
                <a:solidFill>
                  <a:srgbClr val="1F2A36"/>
                </a:solidFill>
                <a:latin typeface="Calibri"/>
              </a:rPr>
              <a:t>Barrierefreiheit</a:t>
            </a:r>
            <a:r>
              <a:rPr lang="de-DE" sz="1100" b="1" dirty="0">
                <a:solidFill>
                  <a:srgbClr val="1F2A36"/>
                </a:solidFill>
              </a:rPr>
              <a:t> - Anpassen</a:t>
            </a:r>
            <a:endParaRPr sz="1100" b="1" i="0" dirty="0">
              <a:solidFill>
                <a:srgbClr val="1F2A3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C8102E"/>
                </a:solidFill>
                <a:latin typeface="Calibri"/>
              </a:rPr>
              <a:t>Screenreader-Anpassungen</a:t>
            </a:r>
            <a:r>
              <a:rPr sz="3000" b="1" i="0" dirty="0">
                <a:solidFill>
                  <a:srgbClr val="C8102E"/>
                </a:solidFill>
                <a:latin typeface="Calibri"/>
              </a:rPr>
              <a:t> · NVDA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 dirty="0">
                <a:solidFill>
                  <a:srgbClr val="5A6470"/>
                </a:solidFill>
                <a:latin typeface="Calibri"/>
              </a:rPr>
              <a:t>Open-Source-</a:t>
            </a:r>
            <a:r>
              <a:rPr sz="1400" b="0" i="1" dirty="0" err="1">
                <a:solidFill>
                  <a:srgbClr val="5A6470"/>
                </a:solidFill>
                <a:latin typeface="Calibri"/>
              </a:rPr>
              <a:t>Screenreader</a:t>
            </a:r>
            <a:r>
              <a:rPr sz="1400" b="0" i="1" dirty="0">
                <a:solidFill>
                  <a:srgbClr val="5A6470"/>
                </a:solidFill>
                <a:latin typeface="Calibri"/>
              </a:rPr>
              <a:t>, ideal für </a:t>
            </a:r>
            <a:r>
              <a:rPr sz="1400" b="0" i="1" dirty="0" err="1">
                <a:solidFill>
                  <a:srgbClr val="5A6470"/>
                </a:solidFill>
                <a:latin typeface="Calibri"/>
              </a:rPr>
              <a:t>Entwickler</a:t>
            </a:r>
            <a:r>
              <a:rPr sz="1400" b="0" i="1" dirty="0">
                <a:solidFill>
                  <a:srgbClr val="5A6470"/>
                </a:solidFill>
                <a:latin typeface="Calibri"/>
              </a:rPr>
              <a:t>-Tests</a:t>
            </a:r>
            <a:r>
              <a:rPr lang="de-DE" sz="1400" b="0" i="1" dirty="0">
                <a:solidFill>
                  <a:srgbClr val="5A6470"/>
                </a:solidFill>
                <a:latin typeface="Calibri"/>
              </a:rPr>
              <a:t>, Demos und als wachsende Alternative in allen Bereichen</a:t>
            </a:r>
            <a:r>
              <a:rPr sz="1400" b="0" i="1" dirty="0">
                <a:solidFill>
                  <a:srgbClr val="5A6470"/>
                </a:solidFill>
                <a:latin typeface="Calibri"/>
              </a:rPr>
              <a:t>.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D7062245-A3A9-C069-A45A-FF624913B807}"/>
              </a:ext>
            </a:extLst>
          </p:cNvPr>
          <p:cNvGrpSpPr/>
          <p:nvPr/>
        </p:nvGrpSpPr>
        <p:grpSpPr>
          <a:xfrm>
            <a:off x="6355080" y="2103120"/>
            <a:ext cx="5486400" cy="1892403"/>
            <a:chOff x="6355080" y="2103120"/>
            <a:chExt cx="5486400" cy="1892403"/>
          </a:xfrm>
        </p:grpSpPr>
        <p:sp>
          <p:nvSpPr>
            <p:cNvPr id="9" name="TextBox 8"/>
            <p:cNvSpPr txBox="1"/>
            <p:nvPr/>
          </p:nvSpPr>
          <p:spPr>
            <a:xfrm>
              <a:off x="6355080" y="2103120"/>
              <a:ext cx="5486400" cy="29982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800" b="1" i="0" dirty="0" err="1">
                  <a:solidFill>
                    <a:srgbClr val="1F2A36"/>
                  </a:solidFill>
                  <a:latin typeface="Calibri"/>
                </a:rPr>
                <a:t>Hilfe</a:t>
              </a:r>
              <a:r>
                <a:rPr lang="de-DE" sz="1800" b="1" i="0" dirty="0">
                  <a:solidFill>
                    <a:srgbClr val="1F2A36"/>
                  </a:solidFill>
                  <a:latin typeface="Calibri"/>
                </a:rPr>
                <a:t>n</a:t>
              </a:r>
              <a:endParaRPr sz="1800" b="1" i="0" dirty="0">
                <a:solidFill>
                  <a:srgbClr val="1F2A36"/>
                </a:solidFill>
                <a:latin typeface="Calibri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355080" y="2606040"/>
              <a:ext cx="5486400" cy="13894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1300" b="1" dirty="0">
                  <a:solidFill>
                    <a:srgbClr val="C8102E"/>
                  </a:solidFill>
                  <a:latin typeface="Calibri"/>
                </a:rPr>
                <a:t>•  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Speech </a:t>
              </a:r>
              <a:r>
                <a:rPr lang="de-DE" sz="1300" dirty="0">
                  <a:solidFill>
                    <a:srgbClr val="1F2A36"/>
                  </a:solidFill>
                  <a:latin typeface="Calibri"/>
                </a:rPr>
                <a:t>und Braille 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Viewer (NVDA-</a:t>
              </a:r>
              <a:r>
                <a:rPr sz="1300" dirty="0" err="1">
                  <a:solidFill>
                    <a:srgbClr val="1F2A36"/>
                  </a:solidFill>
                  <a:latin typeface="Calibri"/>
                </a:rPr>
                <a:t>Menü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 → </a:t>
              </a:r>
              <a:r>
                <a:rPr sz="1300" dirty="0" err="1">
                  <a:solidFill>
                    <a:srgbClr val="1F2A36"/>
                  </a:solidFill>
                  <a:latin typeface="Calibri"/>
                </a:rPr>
                <a:t>Werkzeuge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)</a:t>
              </a: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1300" b="1" dirty="0">
                  <a:solidFill>
                    <a:srgbClr val="C8102E"/>
                  </a:solidFill>
                  <a:latin typeface="Calibri"/>
                </a:rPr>
                <a:t>•  </a:t>
              </a:r>
              <a:r>
                <a:rPr sz="1300" dirty="0" err="1">
                  <a:solidFill>
                    <a:srgbClr val="1F2A36"/>
                  </a:solidFill>
                  <a:latin typeface="Calibri"/>
                </a:rPr>
                <a:t>Eingabe-Hilfe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 (NVDA+1): </a:t>
              </a:r>
              <a:r>
                <a:rPr sz="1300" dirty="0" err="1">
                  <a:solidFill>
                    <a:srgbClr val="1F2A36"/>
                  </a:solidFill>
                  <a:latin typeface="Calibri"/>
                </a:rPr>
                <a:t>zeigt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300" dirty="0" err="1">
                  <a:solidFill>
                    <a:srgbClr val="1F2A36"/>
                  </a:solidFill>
                  <a:latin typeface="Calibri"/>
                </a:rPr>
                <a:t>jede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 Taste </a:t>
              </a:r>
              <a:r>
                <a:rPr sz="1300" dirty="0" err="1">
                  <a:solidFill>
                    <a:srgbClr val="1F2A36"/>
                  </a:solidFill>
                  <a:latin typeface="Calibri"/>
                </a:rPr>
                <a:t>mit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300" dirty="0" err="1">
                  <a:solidFill>
                    <a:srgbClr val="1F2A36"/>
                  </a:solidFill>
                  <a:latin typeface="Calibri"/>
                </a:rPr>
                <a:t>Funktion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 an</a:t>
              </a: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1300" b="1" dirty="0">
                  <a:solidFill>
                    <a:srgbClr val="C8102E"/>
                  </a:solidFill>
                  <a:latin typeface="Calibri"/>
                </a:rPr>
                <a:t>•  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Log-Viewer (NVDA+F1) für Debugging </a:t>
              </a:r>
              <a:r>
                <a:rPr sz="1300" dirty="0" err="1">
                  <a:solidFill>
                    <a:srgbClr val="1F2A36"/>
                  </a:solidFill>
                  <a:latin typeface="Calibri"/>
                </a:rPr>
                <a:t>fehlerhafter</a:t>
              </a:r>
              <a:r>
                <a:rPr sz="1300" dirty="0">
                  <a:solidFill>
                    <a:srgbClr val="1F2A36"/>
                  </a:solidFill>
                  <a:latin typeface="Calibri"/>
                </a:rPr>
                <a:t> ARIA-Bindings.</a:t>
              </a:r>
            </a:p>
            <a:p>
              <a:pPr>
                <a:lnSpc>
                  <a:spcPct val="120000"/>
                </a:lnSpc>
                <a:spcAft>
                  <a:spcPts val="400"/>
                </a:spcAft>
              </a:pPr>
              <a:r>
                <a:rPr lang="de-DE" sz="1300" b="1" dirty="0">
                  <a:solidFill>
                    <a:srgbClr val="C8102E"/>
                  </a:solidFill>
                </a:rPr>
                <a:t>•  </a:t>
              </a:r>
              <a:r>
                <a:rPr lang="de-DE" sz="1300" dirty="0"/>
                <a:t>Viele Zusatz-Funktionen über Plugins</a:t>
              </a:r>
            </a:p>
            <a:p>
              <a:pPr>
                <a:lnSpc>
                  <a:spcPct val="120000"/>
                </a:lnSpc>
                <a:spcAft>
                  <a:spcPts val="400"/>
                </a:spcAft>
              </a:pPr>
              <a:r>
                <a:rPr lang="de-DE" sz="1300" b="1" dirty="0">
                  <a:solidFill>
                    <a:srgbClr val="C8102E"/>
                  </a:solidFill>
                </a:rPr>
                <a:t>•  </a:t>
              </a:r>
              <a:r>
                <a:rPr lang="en-US" sz="1300" dirty="0">
                  <a:latin typeface="Calibri"/>
                </a:rPr>
                <a:t>Developer Guide: </a:t>
              </a:r>
              <a:r>
                <a:rPr lang="en-US" sz="1100" dirty="0">
                  <a:latin typeface="Calibri"/>
                </a:rPr>
                <a:t>https://download.nvaccess.org/documentation/developerGuide.html</a:t>
              </a:r>
              <a:endParaRPr lang="de-DE" sz="1300" dirty="0">
                <a:latin typeface="Calibri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5562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A6470"/>
                </a:solidFill>
                <a:latin typeface="Calibri"/>
              </a:rPr>
              <a:t>2 · Anpassen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562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470"/>
                </a:solidFill>
                <a:latin typeface="Calibri"/>
              </a:rPr>
              <a:t>7 / 18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412268C-05AD-4A2B-F098-79A9D27868AB}"/>
              </a:ext>
            </a:extLst>
          </p:cNvPr>
          <p:cNvGrpSpPr/>
          <p:nvPr/>
        </p:nvGrpSpPr>
        <p:grpSpPr>
          <a:xfrm>
            <a:off x="457200" y="2120675"/>
            <a:ext cx="5486400" cy="1357302"/>
            <a:chOff x="457200" y="2120675"/>
            <a:chExt cx="5486400" cy="1357302"/>
          </a:xfrm>
        </p:grpSpPr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4D541A76-B456-9F93-960B-53DB72B534A9}"/>
                </a:ext>
              </a:extLst>
            </p:cNvPr>
            <p:cNvSpPr txBox="1"/>
            <p:nvPr/>
          </p:nvSpPr>
          <p:spPr>
            <a:xfrm>
              <a:off x="457200" y="2671218"/>
              <a:ext cx="5486400" cy="8067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400"/>
                </a:spcAft>
              </a:pPr>
              <a:r>
                <a:rPr lang="de-DE" sz="1300" b="1" dirty="0">
                  <a:solidFill>
                    <a:srgbClr val="C8102E"/>
                  </a:solidFill>
                </a:rPr>
                <a:t>•  </a:t>
              </a:r>
              <a:r>
                <a:rPr lang="de-DE" sz="1300" dirty="0" err="1">
                  <a:solidFill>
                    <a:srgbClr val="1F2A36"/>
                  </a:solidFill>
                </a:rPr>
                <a:t>Skripting</a:t>
              </a:r>
              <a:r>
                <a:rPr lang="de-DE" sz="1300" dirty="0">
                  <a:solidFill>
                    <a:srgbClr val="1F2A36"/>
                  </a:solidFill>
                </a:rPr>
                <a:t>/Plugin-Entwicklung in Python für firmenspezifische Anwendungen</a:t>
              </a: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1300" b="1" dirty="0">
                  <a:solidFill>
                    <a:srgbClr val="C8102E"/>
                  </a:solidFill>
                  <a:latin typeface="Calibri"/>
                </a:rPr>
                <a:t>•  </a:t>
              </a:r>
              <a:r>
                <a:rPr lang="de-DE" sz="1300" dirty="0">
                  <a:solidFill>
                    <a:srgbClr val="1F2A36"/>
                  </a:solidFill>
                </a:rPr>
                <a:t>Viele Plugins für OCR, KI-Beschreibung …</a:t>
              </a:r>
              <a:endParaRPr sz="1300" dirty="0">
                <a:solidFill>
                  <a:srgbClr val="1F2A36"/>
                </a:solidFill>
                <a:latin typeface="Calibri"/>
              </a:endParaRP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endParaRPr lang="de-DE" sz="1300" b="1" dirty="0">
                <a:solidFill>
                  <a:srgbClr val="C8102E"/>
                </a:solidFill>
                <a:latin typeface="Calibri"/>
              </a:endParaRPr>
            </a:p>
          </p:txBody>
        </p:sp>
        <p:sp>
          <p:nvSpPr>
            <p:cNvPr id="15" name="TextBox 8">
              <a:extLst>
                <a:ext uri="{FF2B5EF4-FFF2-40B4-BE49-F238E27FC236}">
                  <a16:creationId xmlns:a16="http://schemas.microsoft.com/office/drawing/2014/main" id="{8AA0D3D3-972A-E156-9150-99A4BD84628B}"/>
                </a:ext>
              </a:extLst>
            </p:cNvPr>
            <p:cNvSpPr txBox="1"/>
            <p:nvPr/>
          </p:nvSpPr>
          <p:spPr>
            <a:xfrm>
              <a:off x="457200" y="2120675"/>
              <a:ext cx="54864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800" b="1" i="0" dirty="0" err="1">
                  <a:solidFill>
                    <a:srgbClr val="1F2A36"/>
                  </a:solidFill>
                  <a:latin typeface="Calibri"/>
                </a:rPr>
                <a:t>Spezialitäten</a:t>
              </a:r>
              <a:endParaRPr sz="1800" b="1" i="0" dirty="0">
                <a:solidFill>
                  <a:srgbClr val="1F2A36"/>
                </a:solidFill>
                <a:latin typeface="Calibri"/>
              </a:endParaRPr>
            </a:p>
          </p:txBody>
        </p:sp>
      </p:grpSp>
      <p:sp>
        <p:nvSpPr>
          <p:cNvPr id="16" name="Textfeld 15">
            <a:extLst>
              <a:ext uri="{FF2B5EF4-FFF2-40B4-BE49-F238E27FC236}">
                <a16:creationId xmlns:a16="http://schemas.microsoft.com/office/drawing/2014/main" id="{1F02416A-E02A-B8D5-5A63-97B867617BAF}"/>
              </a:ext>
            </a:extLst>
          </p:cNvPr>
          <p:cNvSpPr txBox="1"/>
          <p:nvPr/>
        </p:nvSpPr>
        <p:spPr>
          <a:xfrm>
            <a:off x="6255026" y="4552122"/>
            <a:ext cx="46448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FF0000"/>
                </a:solidFill>
              </a:rPr>
              <a:t>PRAXIS-VORFÜHRUNG</a:t>
            </a:r>
          </a:p>
          <a:p>
            <a:endParaRPr lang="de-DE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775007"/>
            <a:ext cx="1828800" cy="1021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0" b="1" i="0" dirty="0">
                <a:solidFill>
                  <a:srgbClr val="C8102E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219658"/>
            <a:ext cx="8686800" cy="681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Entwickeln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3422075"/>
            <a:ext cx="8686800" cy="1328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 dirty="0">
                <a:solidFill>
                  <a:srgbClr val="E9ECEF"/>
                </a:solidFill>
                <a:latin typeface="Calibri"/>
              </a:rPr>
              <a:t>Barrierefreie Anwendungen </a:t>
            </a:r>
            <a:r>
              <a:rPr lang="de-DE" sz="2000" b="0" i="1" dirty="0">
                <a:solidFill>
                  <a:srgbClr val="E9ECEF"/>
                </a:solidFill>
                <a:latin typeface="Calibri"/>
              </a:rPr>
              <a:t>am Beispiel einer </a:t>
            </a:r>
            <a:r>
              <a:rPr lang="de-DE" sz="2000" i="1" dirty="0">
                <a:solidFill>
                  <a:srgbClr val="E9ECEF"/>
                </a:solidFill>
                <a:latin typeface="Calibri"/>
              </a:rPr>
              <a:t>We</a:t>
            </a:r>
            <a:r>
              <a:rPr sz="2000" b="0" i="1" dirty="0">
                <a:solidFill>
                  <a:srgbClr val="E9ECEF"/>
                </a:solidFill>
                <a:latin typeface="Calibri"/>
              </a:rPr>
              <a:t>b</a:t>
            </a:r>
            <a:r>
              <a:rPr lang="de-DE" sz="2000" b="0" i="1" dirty="0">
                <a:solidFill>
                  <a:srgbClr val="E9ECEF"/>
                </a:solidFill>
                <a:latin typeface="Calibri"/>
              </a:rPr>
              <a:t>-App</a:t>
            </a:r>
            <a:r>
              <a:rPr lang="de-DE" sz="2000" i="1" dirty="0">
                <a:solidFill>
                  <a:srgbClr val="E9ECEF"/>
                </a:solidFill>
                <a:latin typeface="Calibri"/>
              </a:rPr>
              <a:t> und</a:t>
            </a:r>
            <a:r>
              <a:rPr lang="de-DE" sz="2000" b="0" i="1" dirty="0">
                <a:solidFill>
                  <a:srgbClr val="E9ECEF"/>
                </a:solidFill>
                <a:latin typeface="Calibri"/>
              </a:rPr>
              <a:t> </a:t>
            </a:r>
            <a:br>
              <a:rPr lang="de-DE" sz="2000" b="0" i="1" dirty="0">
                <a:solidFill>
                  <a:srgbClr val="E9ECEF"/>
                </a:solidFill>
                <a:latin typeface="Calibri"/>
              </a:rPr>
            </a:br>
            <a:r>
              <a:rPr lang="de-DE" sz="2000" b="0" i="1" dirty="0">
                <a:solidFill>
                  <a:srgbClr val="E9ECEF"/>
                </a:solidFill>
                <a:latin typeface="Calibri"/>
              </a:rPr>
              <a:t>einer klassischen Windows Anwendung (</a:t>
            </a:r>
            <a:r>
              <a:rPr sz="2000" b="0" i="1" dirty="0">
                <a:solidFill>
                  <a:srgbClr val="E9ECEF"/>
                </a:solidFill>
                <a:latin typeface="Calibri"/>
              </a:rPr>
              <a:t>WPF</a:t>
            </a:r>
            <a:r>
              <a:rPr lang="de-DE" sz="2000" b="0" i="1" dirty="0">
                <a:solidFill>
                  <a:srgbClr val="E9ECEF"/>
                </a:solidFill>
                <a:latin typeface="Calibri"/>
              </a:rPr>
              <a:t>) </a:t>
            </a:r>
          </a:p>
          <a:p>
            <a:pPr algn="l">
              <a:lnSpc>
                <a:spcPct val="115000"/>
              </a:lnSpc>
            </a:pPr>
            <a:endParaRPr lang="de-DE" sz="2000" b="0" i="1" dirty="0">
              <a:solidFill>
                <a:srgbClr val="E9ECEF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lang="de-DE" sz="1600" b="0" i="1" dirty="0">
                <a:solidFill>
                  <a:schemeClr val="bg1">
                    <a:lumMod val="75000"/>
                  </a:schemeClr>
                </a:solidFill>
                <a:latin typeface="Calibri"/>
              </a:rPr>
              <a:t>…weitere im Begleitmaterial</a:t>
            </a:r>
            <a:endParaRPr sz="1600" b="0" i="1" dirty="0">
              <a:solidFill>
                <a:schemeClr val="bg1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08960" y="4206240"/>
            <a:ext cx="914400" cy="50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62ED20C-A46A-5DF9-99E9-AB1FB0610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652" y="640475"/>
            <a:ext cx="2902228" cy="9394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16200000">
            <a:off x="457200" y="384048"/>
            <a:ext cx="201168" cy="201168"/>
          </a:xfrm>
          <a:prstGeom prst="rtTriangl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7315200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 dirty="0">
                <a:solidFill>
                  <a:srgbClr val="1F2A36"/>
                </a:solidFill>
                <a:latin typeface="Calibri"/>
              </a:rPr>
              <a:t>BFW Würzburg  ·  </a:t>
            </a:r>
            <a:r>
              <a:rPr sz="1100" b="1" i="0" dirty="0" err="1">
                <a:solidFill>
                  <a:srgbClr val="1F2A36"/>
                </a:solidFill>
                <a:latin typeface="Calibri"/>
              </a:rPr>
              <a:t>Barrierefreiheit</a:t>
            </a:r>
            <a:r>
              <a:rPr lang="de-DE" sz="1100" b="1" dirty="0">
                <a:solidFill>
                  <a:srgbClr val="1F2A36"/>
                </a:solidFill>
              </a:rPr>
              <a:t> - Entwickeln</a:t>
            </a:r>
            <a:endParaRPr sz="1100" b="1" i="0" dirty="0">
              <a:solidFill>
                <a:srgbClr val="1F2A3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C8102E"/>
                </a:solidFill>
                <a:latin typeface="Calibri"/>
              </a:rPr>
              <a:t>Barrierefrei</a:t>
            </a:r>
            <a:r>
              <a:rPr sz="3000" b="1" i="0" dirty="0">
                <a:solidFill>
                  <a:srgbClr val="C8102E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C8102E"/>
                </a:solidFill>
                <a:latin typeface="Calibri"/>
              </a:rPr>
              <a:t>entwickeln</a:t>
            </a:r>
            <a:r>
              <a:rPr sz="3000" b="1" i="0" dirty="0">
                <a:solidFill>
                  <a:srgbClr val="C8102E"/>
                </a:solidFill>
                <a:latin typeface="Calibri"/>
              </a:rPr>
              <a:t> – </a:t>
            </a:r>
            <a:r>
              <a:rPr sz="3000" b="1" i="0" dirty="0" err="1">
                <a:solidFill>
                  <a:srgbClr val="C8102E"/>
                </a:solidFill>
                <a:latin typeface="Calibri"/>
              </a:rPr>
              <a:t>Leitplanken</a:t>
            </a:r>
            <a:endParaRPr sz="3000" b="1" i="0" dirty="0">
              <a:solidFill>
                <a:srgbClr val="C8102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 dirty="0" err="1">
                <a:solidFill>
                  <a:srgbClr val="5A6470"/>
                </a:solidFill>
                <a:latin typeface="Calibri"/>
              </a:rPr>
              <a:t>Plattform­unabhängige</a:t>
            </a:r>
            <a:r>
              <a:rPr sz="1400" b="0" i="1" dirty="0">
                <a:solidFill>
                  <a:srgbClr val="5A6470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5A6470"/>
                </a:solidFill>
                <a:latin typeface="Calibri"/>
              </a:rPr>
              <a:t>Grundregeln</a:t>
            </a:r>
            <a:r>
              <a:rPr sz="1400" b="0" i="1" dirty="0">
                <a:solidFill>
                  <a:srgbClr val="5A6470"/>
                </a:solidFill>
                <a:latin typeface="Calibri"/>
              </a:rPr>
              <a:t>, die </a:t>
            </a:r>
            <a:r>
              <a:rPr sz="1400" b="0" i="1" dirty="0" err="1">
                <a:solidFill>
                  <a:srgbClr val="5A6470"/>
                </a:solidFill>
                <a:latin typeface="Calibri"/>
              </a:rPr>
              <a:t>sich</a:t>
            </a:r>
            <a:r>
              <a:rPr sz="1400" b="0" i="1" dirty="0">
                <a:solidFill>
                  <a:srgbClr val="5A6470"/>
                </a:solidFill>
                <a:latin typeface="Calibri"/>
              </a:rPr>
              <a:t> auf Web, </a:t>
            </a:r>
            <a:r>
              <a:rPr lang="de-DE" sz="1400" b="0" i="1" dirty="0">
                <a:solidFill>
                  <a:srgbClr val="5A6470"/>
                </a:solidFill>
                <a:latin typeface="Calibri"/>
              </a:rPr>
              <a:t>Python GUIs, </a:t>
            </a:r>
            <a:r>
              <a:rPr sz="1400" b="0" i="1" dirty="0">
                <a:solidFill>
                  <a:srgbClr val="5A6470"/>
                </a:solidFill>
                <a:latin typeface="Calibri"/>
              </a:rPr>
              <a:t>WPF, </a:t>
            </a:r>
            <a:r>
              <a:rPr sz="1400" b="0" i="1" dirty="0" err="1">
                <a:solidFill>
                  <a:srgbClr val="5A6470"/>
                </a:solidFill>
                <a:latin typeface="Calibri"/>
              </a:rPr>
              <a:t>WinUI</a:t>
            </a:r>
            <a:r>
              <a:rPr sz="1400" b="0" i="1" dirty="0">
                <a:solidFill>
                  <a:srgbClr val="5A6470"/>
                </a:solidFill>
                <a:latin typeface="Calibri"/>
              </a:rPr>
              <a:t> und </a:t>
            </a:r>
            <a:r>
              <a:rPr lang="de-DE" sz="1400" b="0" i="1" dirty="0">
                <a:solidFill>
                  <a:srgbClr val="5A6470"/>
                </a:solidFill>
                <a:latin typeface="Calibri"/>
              </a:rPr>
              <a:t>weitere (MAUI…) </a:t>
            </a:r>
            <a:r>
              <a:rPr sz="1400" b="0" i="1" dirty="0" err="1">
                <a:solidFill>
                  <a:srgbClr val="5A6470"/>
                </a:solidFill>
                <a:latin typeface="Calibri"/>
              </a:rPr>
              <a:t>gleichermaßen</a:t>
            </a:r>
            <a:r>
              <a:rPr sz="1400" b="0" i="1" dirty="0">
                <a:solidFill>
                  <a:srgbClr val="5A6470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5A6470"/>
                </a:solidFill>
                <a:latin typeface="Calibri"/>
              </a:rPr>
              <a:t>anwenden</a:t>
            </a:r>
            <a:r>
              <a:rPr sz="1400" b="0" i="1" dirty="0">
                <a:solidFill>
                  <a:srgbClr val="5A6470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5A6470"/>
                </a:solidFill>
                <a:latin typeface="Calibri"/>
              </a:rPr>
              <a:t>lassen</a:t>
            </a:r>
            <a:r>
              <a:rPr sz="1400" b="0" i="1" dirty="0">
                <a:solidFill>
                  <a:srgbClr val="5A6470"/>
                </a:solidFill>
                <a:latin typeface="Calibri"/>
              </a:rPr>
              <a:t>.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3979CBDB-7B77-7FF5-A1A5-2B9547946268}"/>
              </a:ext>
            </a:extLst>
          </p:cNvPr>
          <p:cNvGrpSpPr/>
          <p:nvPr/>
        </p:nvGrpSpPr>
        <p:grpSpPr>
          <a:xfrm>
            <a:off x="457200" y="2286000"/>
            <a:ext cx="5486400" cy="823772"/>
            <a:chOff x="457200" y="2286000"/>
            <a:chExt cx="5486400" cy="823772"/>
          </a:xfrm>
        </p:grpSpPr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FA39C809-D330-1C2D-14C4-E92C1B031076}"/>
                </a:ext>
              </a:extLst>
            </p:cNvPr>
            <p:cNvGrpSpPr/>
            <p:nvPr/>
          </p:nvGrpSpPr>
          <p:grpSpPr>
            <a:xfrm>
              <a:off x="457200" y="2286000"/>
              <a:ext cx="5486400" cy="457200"/>
              <a:chOff x="457200" y="2286000"/>
              <a:chExt cx="5486400" cy="457200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57200" y="2331720"/>
                <a:ext cx="411480" cy="411480"/>
              </a:xfrm>
              <a:prstGeom prst="ellipse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sz="1600" b="1" dirty="0">
                    <a:solidFill>
                      <a:srgbClr val="FFFFFF"/>
                    </a:solidFill>
                    <a:latin typeface="Calibri"/>
                  </a:rPr>
                  <a:t>1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1005840" y="2286000"/>
                <a:ext cx="4937760" cy="4114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600" b="1" i="0">
                    <a:solidFill>
                      <a:srgbClr val="1F2A36"/>
                    </a:solidFill>
                    <a:latin typeface="Calibri"/>
                  </a:rPr>
                  <a:t>Name, Rolle, Wert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005840" y="2697480"/>
              <a:ext cx="4937760" cy="4122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Jedes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interaktive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Element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braucht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einen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zugänglichen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Namen (was), </a:t>
              </a:r>
              <a:br>
                <a:rPr lang="de-DE" sz="1200" b="0" i="0" dirty="0">
                  <a:solidFill>
                    <a:srgbClr val="5A6470"/>
                  </a:solidFill>
                  <a:latin typeface="Calibri"/>
                </a:rPr>
              </a:b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eine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Rolle (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welche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Art) und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einen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Wert (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Zustand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).</a:t>
              </a: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57A59958-EEA8-7566-576B-3A5604850887}"/>
              </a:ext>
            </a:extLst>
          </p:cNvPr>
          <p:cNvGrpSpPr/>
          <p:nvPr/>
        </p:nvGrpSpPr>
        <p:grpSpPr>
          <a:xfrm>
            <a:off x="6309360" y="2286000"/>
            <a:ext cx="5486400" cy="823772"/>
            <a:chOff x="6309360" y="2286000"/>
            <a:chExt cx="5486400" cy="823772"/>
          </a:xfrm>
        </p:grpSpPr>
        <p:sp>
          <p:nvSpPr>
            <p:cNvPr id="10" name="Oval 9"/>
            <p:cNvSpPr/>
            <p:nvPr/>
          </p:nvSpPr>
          <p:spPr>
            <a:xfrm>
              <a:off x="6309360" y="2331720"/>
              <a:ext cx="411480" cy="41148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Calibri"/>
                </a:rPr>
                <a:t>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58000" y="2286000"/>
              <a:ext cx="4937760" cy="411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>
                  <a:solidFill>
                    <a:srgbClr val="1F2A36"/>
                  </a:solidFill>
                  <a:latin typeface="Calibri"/>
                </a:rPr>
                <a:t>Tastatur zuerst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858000" y="2697480"/>
              <a:ext cx="4937760" cy="4122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Tab-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Reihenfolge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logisch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,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Fokus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immer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sichtbar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,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keine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Maus-only-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Interaktionen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. </a:t>
              </a:r>
              <a:r>
                <a:rPr lang="de-DE" sz="1200" b="0" i="0" dirty="0">
                  <a:solidFill>
                    <a:srgbClr val="5A6470"/>
                  </a:solidFill>
                  <a:latin typeface="Calibri"/>
                </a:rPr>
                <a:t>Deaktivieren von Elementen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nur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,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wenn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Inhalt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wirklich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nicht relevant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ist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.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CC1BD6F-1092-6217-B67F-AD0E64F8D3E3}"/>
              </a:ext>
            </a:extLst>
          </p:cNvPr>
          <p:cNvGrpSpPr/>
          <p:nvPr/>
        </p:nvGrpSpPr>
        <p:grpSpPr>
          <a:xfrm>
            <a:off x="457200" y="3611880"/>
            <a:ext cx="5486400" cy="1234440"/>
            <a:chOff x="457200" y="3611880"/>
            <a:chExt cx="5486400" cy="1234440"/>
          </a:xfrm>
        </p:grpSpPr>
        <p:sp>
          <p:nvSpPr>
            <p:cNvPr id="13" name="Oval 12"/>
            <p:cNvSpPr/>
            <p:nvPr/>
          </p:nvSpPr>
          <p:spPr>
            <a:xfrm>
              <a:off x="457200" y="3657600"/>
              <a:ext cx="411480" cy="41148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Calibri"/>
                </a:rPr>
                <a:t>3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05840" y="3611880"/>
              <a:ext cx="4937760" cy="411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 err="1">
                  <a:solidFill>
                    <a:srgbClr val="1F2A36"/>
                  </a:solidFill>
                  <a:latin typeface="Calibri"/>
                </a:rPr>
                <a:t>Struktur</a:t>
              </a:r>
              <a:r>
                <a:rPr sz="1600" b="1" i="0" dirty="0">
                  <a:solidFill>
                    <a:srgbClr val="1F2A36"/>
                  </a:solidFill>
                  <a:latin typeface="Calibri"/>
                </a:rPr>
                <a:t> und </a:t>
              </a:r>
              <a:r>
                <a:rPr sz="1600" b="1" i="0" dirty="0" err="1">
                  <a:solidFill>
                    <a:srgbClr val="1F2A36"/>
                  </a:solidFill>
                  <a:latin typeface="Calibri"/>
                </a:rPr>
                <a:t>Semantik</a:t>
              </a:r>
              <a:endParaRPr sz="1600" b="1" i="0" dirty="0">
                <a:solidFill>
                  <a:srgbClr val="1F2A36"/>
                </a:solidFill>
                <a:latin typeface="Calibri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05840" y="4023360"/>
              <a:ext cx="49377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Überschriften-Hierarchien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, Landmarks (header, main, nav),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Tabellen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mit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echten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Headern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– nicht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nur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optisch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nachbauen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.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A137476A-99BC-FB1F-C12D-37C69B38103C}"/>
              </a:ext>
            </a:extLst>
          </p:cNvPr>
          <p:cNvGrpSpPr/>
          <p:nvPr/>
        </p:nvGrpSpPr>
        <p:grpSpPr>
          <a:xfrm>
            <a:off x="6309360" y="3611880"/>
            <a:ext cx="5486400" cy="1234440"/>
            <a:chOff x="6309360" y="3611880"/>
            <a:chExt cx="5486400" cy="1234440"/>
          </a:xfrm>
        </p:grpSpPr>
        <p:sp>
          <p:nvSpPr>
            <p:cNvPr id="16" name="Oval 15"/>
            <p:cNvSpPr/>
            <p:nvPr/>
          </p:nvSpPr>
          <p:spPr>
            <a:xfrm>
              <a:off x="6309360" y="3657600"/>
              <a:ext cx="411480" cy="41148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Calibri"/>
                </a:rPr>
                <a:t>4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858000" y="3611880"/>
              <a:ext cx="4937760" cy="411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 err="1">
                  <a:solidFill>
                    <a:srgbClr val="1F2A36"/>
                  </a:solidFill>
                  <a:latin typeface="Calibri"/>
                </a:rPr>
                <a:t>Kontrast</a:t>
              </a:r>
              <a:r>
                <a:rPr sz="1600" b="1" i="0" dirty="0">
                  <a:solidFill>
                    <a:srgbClr val="1F2A36"/>
                  </a:solidFill>
                  <a:latin typeface="Calibri"/>
                </a:rPr>
                <a:t> und </a:t>
              </a:r>
              <a:r>
                <a:rPr sz="1600" b="1" i="0" dirty="0" err="1">
                  <a:solidFill>
                    <a:srgbClr val="1F2A36"/>
                  </a:solidFill>
                  <a:latin typeface="Calibri"/>
                </a:rPr>
                <a:t>Größe</a:t>
              </a:r>
              <a:endParaRPr sz="1600" b="1" i="0" dirty="0">
                <a:solidFill>
                  <a:srgbClr val="1F2A36"/>
                </a:solidFill>
                <a:latin typeface="Calibri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858000" y="4023360"/>
              <a:ext cx="49377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WCAG 2.2 AA: 4,5:1 für Text, 3:1 für UI-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Komponenten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.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Mindest-Klickfläche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24 × 24 CSS-Pixel.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D7E7492F-FCB9-2C40-A7C5-98B07A320E8A}"/>
              </a:ext>
            </a:extLst>
          </p:cNvPr>
          <p:cNvGrpSpPr/>
          <p:nvPr/>
        </p:nvGrpSpPr>
        <p:grpSpPr>
          <a:xfrm>
            <a:off x="457200" y="4937760"/>
            <a:ext cx="5486400" cy="1234440"/>
            <a:chOff x="457200" y="4937760"/>
            <a:chExt cx="5486400" cy="1234440"/>
          </a:xfrm>
        </p:grpSpPr>
        <p:sp>
          <p:nvSpPr>
            <p:cNvPr id="19" name="Oval 18"/>
            <p:cNvSpPr/>
            <p:nvPr/>
          </p:nvSpPr>
          <p:spPr>
            <a:xfrm>
              <a:off x="457200" y="4983480"/>
              <a:ext cx="411480" cy="41148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Calibri"/>
                </a:rPr>
                <a:t>5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05840" y="4937760"/>
              <a:ext cx="4937760" cy="411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>
                  <a:solidFill>
                    <a:srgbClr val="1F2A36"/>
                  </a:solidFill>
                  <a:latin typeface="Calibri"/>
                </a:rPr>
                <a:t>Status­meldungen ansprechen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05840" y="5349240"/>
              <a:ext cx="49377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Erfolgs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- und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Fehlermeldungen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über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Live-Regions /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AutomationProperty.LiveSetting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5A6470"/>
                  </a:solidFill>
                  <a:latin typeface="Calibri"/>
                </a:rPr>
                <a:t>bekanntgeben</a:t>
              </a:r>
              <a:r>
                <a:rPr sz="1200" b="0" i="0" dirty="0">
                  <a:solidFill>
                    <a:srgbClr val="5A6470"/>
                  </a:solidFill>
                  <a:latin typeface="Calibri"/>
                </a:rPr>
                <a:t>.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5562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A6470"/>
                </a:solidFill>
                <a:latin typeface="Calibri"/>
              </a:rPr>
              <a:t>3 · Entwickeln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5562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470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16200000">
            <a:off x="457200" y="384048"/>
            <a:ext cx="201168" cy="201168"/>
          </a:xfrm>
          <a:prstGeom prst="rtTriangl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7315200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 dirty="0">
                <a:solidFill>
                  <a:srgbClr val="1F2A36"/>
                </a:solidFill>
                <a:latin typeface="Calibri"/>
              </a:rPr>
              <a:t>BFW Würzburg  ·  </a:t>
            </a:r>
            <a:r>
              <a:rPr sz="1100" b="1" i="0" dirty="0" err="1">
                <a:solidFill>
                  <a:srgbClr val="1F2A36"/>
                </a:solidFill>
                <a:latin typeface="Calibri"/>
              </a:rPr>
              <a:t>Barrierefreiheit</a:t>
            </a:r>
            <a:r>
              <a:rPr lang="de-DE" sz="1100" b="1" dirty="0">
                <a:solidFill>
                  <a:srgbClr val="1F2A36"/>
                </a:solidFill>
              </a:rPr>
              <a:t> - Entwickeln</a:t>
            </a:r>
            <a:endParaRPr sz="1100" b="1" i="0" dirty="0">
              <a:solidFill>
                <a:srgbClr val="1F2A3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99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C8102E"/>
                </a:solidFill>
                <a:latin typeface="Calibri"/>
              </a:rPr>
              <a:t>Beispiel</a:t>
            </a:r>
            <a:r>
              <a:rPr sz="3000" b="1" i="0" dirty="0">
                <a:solidFill>
                  <a:srgbClr val="C8102E"/>
                </a:solidFill>
                <a:latin typeface="Calibri"/>
              </a:rPr>
              <a:t> · WPF (.NET 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A6470"/>
                </a:solidFill>
                <a:latin typeface="Calibri"/>
              </a:rPr>
              <a:t>Klassische Desktop-Apps – über UI Automation an NVDA/JAWS angebunden.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4D0352C7-D443-9BA5-971D-2E5CE1B41FA9}"/>
              </a:ext>
            </a:extLst>
          </p:cNvPr>
          <p:cNvGrpSpPr/>
          <p:nvPr/>
        </p:nvGrpSpPr>
        <p:grpSpPr>
          <a:xfrm>
            <a:off x="457200" y="2103120"/>
            <a:ext cx="5486400" cy="4297680"/>
            <a:chOff x="457200" y="2103120"/>
            <a:chExt cx="5486400" cy="4297680"/>
          </a:xfrm>
        </p:grpSpPr>
        <p:sp>
          <p:nvSpPr>
            <p:cNvPr id="7" name="TextBox 6"/>
            <p:cNvSpPr txBox="1"/>
            <p:nvPr/>
          </p:nvSpPr>
          <p:spPr>
            <a:xfrm>
              <a:off x="457200" y="2103120"/>
              <a:ext cx="548640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>
                  <a:solidFill>
                    <a:srgbClr val="C8102E"/>
                  </a:solidFill>
                  <a:latin typeface="Calibri"/>
                </a:rPr>
                <a:t>Barriere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7200" y="2468880"/>
              <a:ext cx="5486400" cy="18325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 i="1" dirty="0" err="1">
                  <a:solidFill>
                    <a:srgbClr val="5A6470"/>
                  </a:solidFill>
                  <a:latin typeface="Calibri"/>
                </a:rPr>
                <a:t>Unbeschriftete</a:t>
              </a:r>
              <a:r>
                <a:rPr sz="1100" b="0" i="1" dirty="0">
                  <a:solidFill>
                    <a:srgbClr val="5A6470"/>
                  </a:solidFill>
                  <a:latin typeface="Calibri"/>
                </a:rPr>
                <a:t> </a:t>
              </a:r>
              <a:r>
                <a:rPr sz="1100" b="0" i="1" dirty="0" err="1">
                  <a:solidFill>
                    <a:srgbClr val="5A6470"/>
                  </a:solidFill>
                  <a:latin typeface="Calibri"/>
                </a:rPr>
                <a:t>TextBox</a:t>
              </a:r>
              <a:r>
                <a:rPr sz="1100" b="0" i="1" dirty="0">
                  <a:solidFill>
                    <a:srgbClr val="5A6470"/>
                  </a:solidFill>
                  <a:latin typeface="Calibri"/>
                </a:rPr>
                <a:t>, </a:t>
              </a:r>
              <a:r>
                <a:rPr sz="1100" b="0" i="1" dirty="0" err="1">
                  <a:solidFill>
                    <a:srgbClr val="5A6470"/>
                  </a:solidFill>
                  <a:latin typeface="Calibri"/>
                </a:rPr>
                <a:t>IsEnabled</a:t>
              </a:r>
              <a:r>
                <a:rPr sz="1100" b="0" i="1" dirty="0">
                  <a:solidFill>
                    <a:srgbClr val="5A6470"/>
                  </a:solidFill>
                  <a:latin typeface="Calibri"/>
                </a:rPr>
                <a:t>=False </a:t>
              </a:r>
              <a:r>
                <a:rPr sz="1100" b="0" i="1" dirty="0" err="1">
                  <a:solidFill>
                    <a:srgbClr val="5A6470"/>
                  </a:solidFill>
                  <a:latin typeface="Calibri"/>
                </a:rPr>
                <a:t>entzieht</a:t>
              </a:r>
              <a:r>
                <a:rPr sz="1100" b="0" i="1" dirty="0">
                  <a:solidFill>
                    <a:srgbClr val="5A6470"/>
                  </a:solidFill>
                  <a:latin typeface="Calibri"/>
                </a:rPr>
                <a:t> den </a:t>
              </a:r>
              <a:r>
                <a:rPr sz="1100" b="0" i="1" dirty="0" err="1">
                  <a:solidFill>
                    <a:srgbClr val="5A6470"/>
                  </a:solidFill>
                  <a:latin typeface="Calibri"/>
                </a:rPr>
                <a:t>Fokus</a:t>
              </a:r>
              <a:r>
                <a:rPr sz="1100" b="0" i="1" dirty="0">
                  <a:solidFill>
                    <a:srgbClr val="5A6470"/>
                  </a:solidFill>
                  <a:latin typeface="Calibri"/>
                </a:rPr>
                <a:t>, </a:t>
              </a:r>
              <a:r>
                <a:rPr lang="de-DE" sz="1100" i="1" dirty="0">
                  <a:solidFill>
                    <a:srgbClr val="5A6470"/>
                  </a:solidFill>
                  <a:latin typeface="Calibri"/>
                </a:rPr>
                <a:t>Icon-Schaltfläche ohne</a:t>
              </a:r>
              <a:r>
                <a:rPr sz="1100" b="0" i="1" dirty="0">
                  <a:solidFill>
                    <a:srgbClr val="5A6470"/>
                  </a:solidFill>
                  <a:latin typeface="Calibri"/>
                </a:rPr>
                <a:t> Name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57200" y="2880360"/>
              <a:ext cx="5486400" cy="3520440"/>
            </a:xfrm>
            <a:prstGeom prst="rect">
              <a:avLst/>
            </a:prstGeom>
            <a:solidFill>
              <a:srgbClr val="1F2A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0080" y="3017520"/>
              <a:ext cx="5120640" cy="33375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&lt;TextBox /&gt;</a:t>
              </a:r>
            </a:p>
            <a:p>
              <a:pPr algn="l">
                <a:lnSpc>
                  <a:spcPct val="120000"/>
                </a:lnSpc>
              </a:pPr>
              <a:endParaRPr sz="1100" b="0" i="0">
                <a:solidFill>
                  <a:srgbClr val="9BD89C"/>
                </a:solidFill>
                <a:latin typeface="Consolas"/>
              </a:endParaRP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&lt;TextBox Text="K-4711" IsEnabled="False" /&gt;</a:t>
              </a:r>
            </a:p>
            <a:p>
              <a:pPr algn="l">
                <a:lnSpc>
                  <a:spcPct val="120000"/>
                </a:lnSpc>
              </a:pPr>
              <a:endParaRPr sz="1100" b="0" i="0">
                <a:solidFill>
                  <a:srgbClr val="9BD89C"/>
                </a:solidFill>
                <a:latin typeface="Consolas"/>
              </a:endParaRP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&lt;Border Focusable="True"&gt;</a:t>
              </a: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  &lt;!-- Balken-Canvas --&gt;</a:t>
              </a: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&lt;/Border&gt;</a:t>
              </a:r>
            </a:p>
            <a:p>
              <a:pPr algn="l">
                <a:lnSpc>
                  <a:spcPct val="120000"/>
                </a:lnSpc>
              </a:pPr>
              <a:endParaRPr sz="1100" b="0" i="0">
                <a:solidFill>
                  <a:srgbClr val="9BD89C"/>
                </a:solidFill>
                <a:latin typeface="Consolas"/>
              </a:endParaRP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&lt;Button Foreground="#CCC" Background="White"</a:t>
              </a: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        Content="Speichern" /&gt;</a:t>
              </a:r>
            </a:p>
            <a:p>
              <a:pPr algn="l">
                <a:lnSpc>
                  <a:spcPct val="120000"/>
                </a:lnSpc>
              </a:pPr>
              <a:endParaRPr sz="1100" b="0" i="0">
                <a:solidFill>
                  <a:srgbClr val="9BD89C"/>
                </a:solidFill>
                <a:latin typeface="Consolas"/>
              </a:endParaRP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&lt;Button&gt;&lt;Path … /&gt;&lt;/Button&gt;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D3692C60-EBD1-4E7C-F26D-C522BCFEFB45}"/>
              </a:ext>
            </a:extLst>
          </p:cNvPr>
          <p:cNvGrpSpPr/>
          <p:nvPr/>
        </p:nvGrpSpPr>
        <p:grpSpPr>
          <a:xfrm>
            <a:off x="6217920" y="2103120"/>
            <a:ext cx="5486400" cy="4297680"/>
            <a:chOff x="6217920" y="2103120"/>
            <a:chExt cx="5486400" cy="4297680"/>
          </a:xfrm>
        </p:grpSpPr>
        <p:sp>
          <p:nvSpPr>
            <p:cNvPr id="11" name="TextBox 10"/>
            <p:cNvSpPr txBox="1"/>
            <p:nvPr/>
          </p:nvSpPr>
          <p:spPr>
            <a:xfrm>
              <a:off x="6217920" y="2103120"/>
              <a:ext cx="548640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>
                  <a:solidFill>
                    <a:srgbClr val="2E7D32"/>
                  </a:solidFill>
                  <a:latin typeface="Calibri"/>
                </a:rPr>
                <a:t>Lösung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217920" y="2468880"/>
              <a:ext cx="548640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 i="1">
                  <a:solidFill>
                    <a:srgbClr val="5A6470"/>
                  </a:solidFill>
                  <a:latin typeface="Calibri"/>
                </a:rPr>
                <a:t>Label.Target + AccessText, AutomationProperties.LabeledBy, IsReadOnly.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17920" y="2880360"/>
              <a:ext cx="5486400" cy="3520440"/>
            </a:xfrm>
            <a:prstGeom prst="rect">
              <a:avLst/>
            </a:prstGeom>
            <a:solidFill>
              <a:srgbClr val="1F2A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00800" y="3017520"/>
              <a:ext cx="5120640" cy="33375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&lt;Label x:Name="LblName" Target="{Binding</a:t>
              </a: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  ElementName=TxtName}"&gt;</a:t>
              </a: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  &lt;AccessText Text="_Vor- und Nachname" /&gt;</a:t>
              </a: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&lt;/Label&gt;</a:t>
              </a: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&lt;TextBox x:Name="TxtName"</a:t>
              </a: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  AutomationProperties.LabeledBy="{Binding</a:t>
              </a: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    ElementName=LblName}" /&gt;</a:t>
              </a:r>
            </a:p>
            <a:p>
              <a:pPr algn="l">
                <a:lnSpc>
                  <a:spcPct val="120000"/>
                </a:lnSpc>
              </a:pPr>
              <a:endParaRPr sz="1100" b="0" i="0">
                <a:solidFill>
                  <a:srgbClr val="9BD89C"/>
                </a:solidFill>
                <a:latin typeface="Consolas"/>
              </a:endParaRP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&lt;TextBox Text="K-4711" IsReadOnly="True" /&gt;</a:t>
              </a:r>
            </a:p>
            <a:p>
              <a:pPr algn="l">
                <a:lnSpc>
                  <a:spcPct val="120000"/>
                </a:lnSpc>
              </a:pPr>
              <a:endParaRPr sz="1100" b="0" i="0">
                <a:solidFill>
                  <a:srgbClr val="9BD89C"/>
                </a:solidFill>
                <a:latin typeface="Consolas"/>
              </a:endParaRP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&lt;Border Focusable="True"</a:t>
              </a: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  AutomationProperties.Name="Umsätze Q1-Q5"</a:t>
              </a: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  AutomationProperties.HelpText="Q1 30, …" /&gt;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562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A6470"/>
                </a:solidFill>
                <a:latin typeface="Calibri"/>
              </a:rPr>
              <a:t>3 · Entwickeln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5562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470"/>
                </a:solidFill>
                <a:latin typeface="Calibri"/>
              </a:rPr>
              <a:t>15 / 18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1C8BEFF-89B8-00D3-3B6C-4F3326A7BAF3}"/>
              </a:ext>
            </a:extLst>
          </p:cNvPr>
          <p:cNvSpPr txBox="1"/>
          <p:nvPr/>
        </p:nvSpPr>
        <p:spPr>
          <a:xfrm>
            <a:off x="8442463" y="1432084"/>
            <a:ext cx="3261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FF0000"/>
                </a:solidFill>
              </a:rPr>
              <a:t>PRAXIS-VORFÜHRUNG</a:t>
            </a:r>
            <a:endParaRPr lang="de-DE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16200000">
            <a:off x="457200" y="384048"/>
            <a:ext cx="201168" cy="201168"/>
          </a:xfrm>
          <a:prstGeom prst="rtTriangl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7315200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 dirty="0">
                <a:solidFill>
                  <a:srgbClr val="1F2A36"/>
                </a:solidFill>
                <a:latin typeface="Calibri"/>
              </a:rPr>
              <a:t>BFW Würzburg  ·  </a:t>
            </a:r>
            <a:r>
              <a:rPr sz="1100" b="1" i="0" dirty="0" err="1">
                <a:solidFill>
                  <a:srgbClr val="1F2A36"/>
                </a:solidFill>
                <a:latin typeface="Calibri"/>
              </a:rPr>
              <a:t>Barrierefreiheit</a:t>
            </a:r>
            <a:r>
              <a:rPr lang="de-DE" sz="1100" b="1" dirty="0">
                <a:solidFill>
                  <a:srgbClr val="1F2A36"/>
                </a:solidFill>
              </a:rPr>
              <a:t> - Entwickeln</a:t>
            </a:r>
            <a:endParaRPr sz="1100" b="1" i="0" dirty="0">
              <a:solidFill>
                <a:srgbClr val="1F2A3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99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C8102E"/>
                </a:solidFill>
                <a:latin typeface="Calibri"/>
              </a:rPr>
              <a:t>Beispiel</a:t>
            </a:r>
            <a:r>
              <a:rPr sz="3000" b="1" i="0" dirty="0">
                <a:solidFill>
                  <a:srgbClr val="C8102E"/>
                </a:solidFill>
                <a:latin typeface="Calibri"/>
              </a:rPr>
              <a:t> ·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 dirty="0">
                <a:solidFill>
                  <a:srgbClr val="5A6470"/>
                </a:solidFill>
                <a:latin typeface="Calibri"/>
              </a:rPr>
              <a:t>Standard-HTML </a:t>
            </a:r>
            <a:r>
              <a:rPr sz="1400" b="0" i="1" dirty="0" err="1">
                <a:solidFill>
                  <a:srgbClr val="5A6470"/>
                </a:solidFill>
                <a:latin typeface="Calibri"/>
              </a:rPr>
              <a:t>mit</a:t>
            </a:r>
            <a:r>
              <a:rPr sz="1400" b="0" i="1" dirty="0">
                <a:solidFill>
                  <a:srgbClr val="5A6470"/>
                </a:solidFill>
                <a:latin typeface="Calibri"/>
              </a:rPr>
              <a:t> ARIA – </a:t>
            </a:r>
            <a:r>
              <a:rPr sz="1400" b="0" i="1" dirty="0" err="1">
                <a:solidFill>
                  <a:srgbClr val="5A6470"/>
                </a:solidFill>
                <a:latin typeface="Calibri"/>
              </a:rPr>
              <a:t>funktioniert</a:t>
            </a:r>
            <a:r>
              <a:rPr sz="1400" b="0" i="1" dirty="0">
                <a:solidFill>
                  <a:srgbClr val="5A6470"/>
                </a:solidFill>
                <a:latin typeface="Calibri"/>
              </a:rPr>
              <a:t> in </a:t>
            </a:r>
            <a:r>
              <a:rPr sz="1400" b="0" i="1" dirty="0" err="1">
                <a:solidFill>
                  <a:srgbClr val="5A6470"/>
                </a:solidFill>
                <a:latin typeface="Calibri"/>
              </a:rPr>
              <a:t>jedem</a:t>
            </a:r>
            <a:r>
              <a:rPr sz="1400" b="0" i="1" dirty="0">
                <a:solidFill>
                  <a:srgbClr val="5A6470"/>
                </a:solidFill>
                <a:latin typeface="Calibri"/>
              </a:rPr>
              <a:t> Browser </a:t>
            </a:r>
            <a:r>
              <a:rPr sz="1400" b="0" i="1" dirty="0" err="1">
                <a:solidFill>
                  <a:srgbClr val="5A6470"/>
                </a:solidFill>
                <a:latin typeface="Calibri"/>
              </a:rPr>
              <a:t>mit</a:t>
            </a:r>
            <a:r>
              <a:rPr sz="1400" b="0" i="1" dirty="0">
                <a:solidFill>
                  <a:srgbClr val="5A6470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5A6470"/>
                </a:solidFill>
                <a:latin typeface="Calibri"/>
              </a:rPr>
              <a:t>jedem</a:t>
            </a:r>
            <a:r>
              <a:rPr sz="1400" b="0" i="1" dirty="0">
                <a:solidFill>
                  <a:srgbClr val="5A6470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5A6470"/>
                </a:solidFill>
                <a:latin typeface="Calibri"/>
              </a:rPr>
              <a:t>Screenreader</a:t>
            </a:r>
            <a:endParaRPr sz="1400" b="0" i="1" dirty="0">
              <a:solidFill>
                <a:srgbClr val="5A6470"/>
              </a:solidFill>
              <a:latin typeface="Calibri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982DA8E6-A792-BC41-F166-9AFCF35A93BF}"/>
              </a:ext>
            </a:extLst>
          </p:cNvPr>
          <p:cNvGrpSpPr/>
          <p:nvPr/>
        </p:nvGrpSpPr>
        <p:grpSpPr>
          <a:xfrm>
            <a:off x="457200" y="2103120"/>
            <a:ext cx="5486400" cy="4297680"/>
            <a:chOff x="457200" y="2103120"/>
            <a:chExt cx="5486400" cy="4297680"/>
          </a:xfrm>
        </p:grpSpPr>
        <p:sp>
          <p:nvSpPr>
            <p:cNvPr id="7" name="TextBox 6"/>
            <p:cNvSpPr txBox="1"/>
            <p:nvPr/>
          </p:nvSpPr>
          <p:spPr>
            <a:xfrm>
              <a:off x="457200" y="2103120"/>
              <a:ext cx="548640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>
                  <a:solidFill>
                    <a:srgbClr val="C8102E"/>
                  </a:solidFill>
                  <a:latin typeface="Calibri"/>
                </a:rPr>
                <a:t>Barriere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7200" y="2468880"/>
              <a:ext cx="548640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 i="1">
                  <a:solidFill>
                    <a:srgbClr val="5A6470"/>
                  </a:solidFill>
                  <a:latin typeface="Calibri"/>
                </a:rPr>
                <a:t>Unbeschriftet, disabled, ohne Rolle/Name, kontrastarm, ohne Label.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57200" y="2880360"/>
              <a:ext cx="5486400" cy="3520440"/>
            </a:xfrm>
            <a:prstGeom prst="rect">
              <a:avLst/>
            </a:prstGeom>
            <a:solidFill>
              <a:srgbClr val="1F2A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0080" y="3017520"/>
              <a:ext cx="5120640" cy="33375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&lt;input type="text" /&gt;</a:t>
              </a:r>
            </a:p>
            <a:p>
              <a:pPr algn="l">
                <a:lnSpc>
                  <a:spcPct val="120000"/>
                </a:lnSpc>
              </a:pPr>
              <a:endParaRPr sz="1100" b="0" i="0">
                <a:solidFill>
                  <a:srgbClr val="9BD89C"/>
                </a:solidFill>
                <a:latin typeface="Consolas"/>
              </a:endParaRP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&lt;input type="text" value="K-4711" disabled /&gt;</a:t>
              </a:r>
            </a:p>
            <a:p>
              <a:pPr algn="l">
                <a:lnSpc>
                  <a:spcPct val="120000"/>
                </a:lnSpc>
              </a:pPr>
              <a:endParaRPr sz="1100" b="0" i="0">
                <a:solidFill>
                  <a:srgbClr val="9BD89C"/>
                </a:solidFill>
                <a:latin typeface="Consolas"/>
              </a:endParaRP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&lt;div class="chart" tabindex="0"&gt;</a:t>
              </a: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  &lt;svg&gt;…Balken…&lt;/svg&gt;</a:t>
              </a: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&lt;/div&gt;</a:t>
              </a:r>
            </a:p>
            <a:p>
              <a:pPr algn="l">
                <a:lnSpc>
                  <a:spcPct val="120000"/>
                </a:lnSpc>
              </a:pPr>
              <a:endParaRPr sz="1100" b="0" i="0">
                <a:solidFill>
                  <a:srgbClr val="9BD89C"/>
                </a:solidFill>
                <a:latin typeface="Consolas"/>
              </a:endParaRP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&lt;button style="color:#CCC"&gt;Speichern&lt;/button&gt;</a:t>
              </a:r>
            </a:p>
            <a:p>
              <a:pPr algn="l">
                <a:lnSpc>
                  <a:spcPct val="120000"/>
                </a:lnSpc>
              </a:pPr>
              <a:endParaRPr sz="1100" b="0" i="0">
                <a:solidFill>
                  <a:srgbClr val="9BD89C"/>
                </a:solidFill>
                <a:latin typeface="Consolas"/>
              </a:endParaRPr>
            </a:p>
            <a:p>
              <a:pPr algn="l">
                <a:lnSpc>
                  <a:spcPct val="120000"/>
                </a:lnSpc>
              </a:pPr>
              <a:r>
                <a:rPr sz="1100" b="0" i="0">
                  <a:solidFill>
                    <a:srgbClr val="9BD89C"/>
                  </a:solidFill>
                  <a:latin typeface="Consolas"/>
                </a:rPr>
                <a:t>&lt;button&gt;&lt;svg&gt;…Müll-Icon…&lt;/svg&gt;&lt;/button&gt;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70C89FC5-1304-3537-29B9-EA9C3DEB786F}"/>
              </a:ext>
            </a:extLst>
          </p:cNvPr>
          <p:cNvGrpSpPr/>
          <p:nvPr/>
        </p:nvGrpSpPr>
        <p:grpSpPr>
          <a:xfrm>
            <a:off x="6217920" y="2103120"/>
            <a:ext cx="5486400" cy="4297680"/>
            <a:chOff x="6217920" y="2103120"/>
            <a:chExt cx="5486400" cy="4297680"/>
          </a:xfrm>
        </p:grpSpPr>
        <p:sp>
          <p:nvSpPr>
            <p:cNvPr id="11" name="TextBox 10"/>
            <p:cNvSpPr txBox="1"/>
            <p:nvPr/>
          </p:nvSpPr>
          <p:spPr>
            <a:xfrm>
              <a:off x="6217920" y="2103120"/>
              <a:ext cx="548640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 err="1">
                  <a:solidFill>
                    <a:srgbClr val="2E7D32"/>
                  </a:solidFill>
                  <a:latin typeface="Calibri"/>
                </a:rPr>
                <a:t>Lösung</a:t>
              </a:r>
              <a:endParaRPr sz="1600" b="1" i="0" dirty="0">
                <a:solidFill>
                  <a:srgbClr val="2E7D32"/>
                </a:solidFill>
                <a:latin typeface="Calibri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217920" y="2468880"/>
              <a:ext cx="548640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 i="1">
                  <a:solidFill>
                    <a:srgbClr val="5A6470"/>
                  </a:solidFill>
                  <a:latin typeface="Calibri"/>
                </a:rPr>
                <a:t>Label/for, readonly, role="img" + aria-*, ausreichender Kontrast, aria-label.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17920" y="2880360"/>
              <a:ext cx="5486400" cy="3520440"/>
            </a:xfrm>
            <a:prstGeom prst="rect">
              <a:avLst/>
            </a:prstGeom>
            <a:solidFill>
              <a:srgbClr val="1F2A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00800" y="3017520"/>
              <a:ext cx="5120640" cy="33375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100" b="0" i="0" dirty="0">
                  <a:solidFill>
                    <a:srgbClr val="9BD89C"/>
                  </a:solidFill>
                  <a:latin typeface="Consolas"/>
                </a:rPr>
                <a:t>&lt;label for="name"&gt;Vor- und </a:t>
              </a:r>
              <a:r>
                <a:rPr sz="1100" b="0" i="0" dirty="0" err="1">
                  <a:solidFill>
                    <a:srgbClr val="9BD89C"/>
                  </a:solidFill>
                  <a:latin typeface="Consolas"/>
                </a:rPr>
                <a:t>Nachname</a:t>
              </a:r>
              <a:endParaRPr sz="1100" b="0" i="0" dirty="0">
                <a:solidFill>
                  <a:srgbClr val="9BD89C"/>
                </a:solidFill>
                <a:latin typeface="Consolas"/>
              </a:endParaRPr>
            </a:p>
            <a:p>
              <a:pPr algn="l">
                <a:lnSpc>
                  <a:spcPct val="120000"/>
                </a:lnSpc>
              </a:pPr>
              <a:r>
                <a:rPr sz="1100" b="0" i="0" dirty="0">
                  <a:solidFill>
                    <a:srgbClr val="9BD89C"/>
                  </a:solidFill>
                  <a:latin typeface="Consolas"/>
                </a:rPr>
                <a:t>  &lt;input id="name" type="text" /&gt;</a:t>
              </a:r>
            </a:p>
            <a:p>
              <a:pPr algn="l">
                <a:lnSpc>
                  <a:spcPct val="120000"/>
                </a:lnSpc>
              </a:pPr>
              <a:r>
                <a:rPr sz="1100" b="0" i="0" dirty="0">
                  <a:solidFill>
                    <a:srgbClr val="9BD89C"/>
                  </a:solidFill>
                  <a:latin typeface="Consolas"/>
                </a:rPr>
                <a:t>&lt;/label&gt;</a:t>
              </a:r>
            </a:p>
            <a:p>
              <a:pPr algn="l">
                <a:lnSpc>
                  <a:spcPct val="120000"/>
                </a:lnSpc>
              </a:pPr>
              <a:endParaRPr sz="1100" b="0" i="0" dirty="0">
                <a:solidFill>
                  <a:srgbClr val="9BD89C"/>
                </a:solidFill>
                <a:latin typeface="Consolas"/>
              </a:endParaRPr>
            </a:p>
            <a:p>
              <a:pPr algn="l">
                <a:lnSpc>
                  <a:spcPct val="120000"/>
                </a:lnSpc>
              </a:pPr>
              <a:r>
                <a:rPr sz="1100" b="0" i="0" dirty="0">
                  <a:solidFill>
                    <a:srgbClr val="9BD89C"/>
                  </a:solidFill>
                  <a:latin typeface="Consolas"/>
                </a:rPr>
                <a:t>&lt;input value="K-4711" </a:t>
              </a:r>
              <a:r>
                <a:rPr sz="1100" b="0" i="0" dirty="0" err="1">
                  <a:solidFill>
                    <a:srgbClr val="9BD89C"/>
                  </a:solidFill>
                  <a:latin typeface="Consolas"/>
                </a:rPr>
                <a:t>readonly</a:t>
              </a:r>
              <a:r>
                <a:rPr sz="1100" b="0" i="0" dirty="0">
                  <a:solidFill>
                    <a:srgbClr val="9BD89C"/>
                  </a:solidFill>
                  <a:latin typeface="Consolas"/>
                </a:rPr>
                <a:t> /&gt;</a:t>
              </a:r>
            </a:p>
            <a:p>
              <a:pPr algn="l">
                <a:lnSpc>
                  <a:spcPct val="120000"/>
                </a:lnSpc>
              </a:pPr>
              <a:endParaRPr sz="1100" b="0" i="0" dirty="0">
                <a:solidFill>
                  <a:srgbClr val="9BD89C"/>
                </a:solidFill>
                <a:latin typeface="Consolas"/>
              </a:endParaRPr>
            </a:p>
            <a:p>
              <a:pPr algn="l">
                <a:lnSpc>
                  <a:spcPct val="120000"/>
                </a:lnSpc>
              </a:pPr>
              <a:r>
                <a:rPr sz="1100" b="0" i="0" dirty="0">
                  <a:solidFill>
                    <a:srgbClr val="9BD89C"/>
                  </a:solidFill>
                  <a:latin typeface="Consolas"/>
                </a:rPr>
                <a:t>&lt;div role="</a:t>
              </a:r>
              <a:r>
                <a:rPr sz="1100" b="0" i="0" dirty="0" err="1">
                  <a:solidFill>
                    <a:srgbClr val="9BD89C"/>
                  </a:solidFill>
                  <a:latin typeface="Consolas"/>
                </a:rPr>
                <a:t>img</a:t>
              </a:r>
              <a:r>
                <a:rPr sz="1100" b="0" i="0" dirty="0">
                  <a:solidFill>
                    <a:srgbClr val="9BD89C"/>
                  </a:solidFill>
                  <a:latin typeface="Consolas"/>
                </a:rPr>
                <a:t>" </a:t>
              </a:r>
              <a:r>
                <a:rPr sz="1100" b="0" i="0" dirty="0" err="1">
                  <a:solidFill>
                    <a:srgbClr val="9BD89C"/>
                  </a:solidFill>
                  <a:latin typeface="Consolas"/>
                </a:rPr>
                <a:t>tabindex</a:t>
              </a:r>
              <a:r>
                <a:rPr sz="1100" b="0" i="0" dirty="0">
                  <a:solidFill>
                    <a:srgbClr val="9BD89C"/>
                  </a:solidFill>
                  <a:latin typeface="Consolas"/>
                </a:rPr>
                <a:t>="0"</a:t>
              </a:r>
            </a:p>
            <a:p>
              <a:pPr algn="l">
                <a:lnSpc>
                  <a:spcPct val="120000"/>
                </a:lnSpc>
              </a:pPr>
              <a:r>
                <a:rPr sz="1100" b="0" i="0" dirty="0">
                  <a:solidFill>
                    <a:srgbClr val="9BD89C"/>
                  </a:solidFill>
                  <a:latin typeface="Consolas"/>
                </a:rPr>
                <a:t>     aria-</a:t>
              </a:r>
              <a:r>
                <a:rPr sz="1100" b="0" i="0" dirty="0" err="1">
                  <a:solidFill>
                    <a:srgbClr val="9BD89C"/>
                  </a:solidFill>
                  <a:latin typeface="Consolas"/>
                </a:rPr>
                <a:t>labelledby</a:t>
              </a:r>
              <a:r>
                <a:rPr sz="1100" b="0" i="0" dirty="0">
                  <a:solidFill>
                    <a:srgbClr val="9BD89C"/>
                  </a:solidFill>
                  <a:latin typeface="Consolas"/>
                </a:rPr>
                <a:t>="t" aria-</a:t>
              </a:r>
              <a:r>
                <a:rPr sz="1100" b="0" i="0" dirty="0" err="1">
                  <a:solidFill>
                    <a:srgbClr val="9BD89C"/>
                  </a:solidFill>
                  <a:latin typeface="Consolas"/>
                </a:rPr>
                <a:t>describedby</a:t>
              </a:r>
              <a:r>
                <a:rPr sz="1100" b="0" i="0" dirty="0">
                  <a:solidFill>
                    <a:srgbClr val="9BD89C"/>
                  </a:solidFill>
                  <a:latin typeface="Consolas"/>
                </a:rPr>
                <a:t>="d"&gt;…&lt;/div&gt;</a:t>
              </a:r>
            </a:p>
            <a:p>
              <a:pPr algn="l">
                <a:lnSpc>
                  <a:spcPct val="120000"/>
                </a:lnSpc>
              </a:pPr>
              <a:endParaRPr sz="1100" b="0" i="0" dirty="0">
                <a:solidFill>
                  <a:srgbClr val="9BD89C"/>
                </a:solidFill>
                <a:latin typeface="Consolas"/>
              </a:endParaRPr>
            </a:p>
            <a:p>
              <a:pPr algn="l">
                <a:lnSpc>
                  <a:spcPct val="120000"/>
                </a:lnSpc>
              </a:pPr>
              <a:r>
                <a:rPr sz="1100" b="0" i="0" dirty="0">
                  <a:solidFill>
                    <a:srgbClr val="9BD89C"/>
                  </a:solidFill>
                  <a:latin typeface="Consolas"/>
                </a:rPr>
                <a:t>&lt;button class="primary"&gt;</a:t>
              </a:r>
              <a:r>
                <a:rPr sz="1100" b="0" i="0" dirty="0" err="1">
                  <a:solidFill>
                    <a:srgbClr val="9BD89C"/>
                  </a:solidFill>
                  <a:latin typeface="Consolas"/>
                </a:rPr>
                <a:t>Speichern</a:t>
              </a:r>
              <a:r>
                <a:rPr sz="1100" b="0" i="0" dirty="0">
                  <a:solidFill>
                    <a:srgbClr val="9BD89C"/>
                  </a:solidFill>
                  <a:latin typeface="Consolas"/>
                </a:rPr>
                <a:t>&lt;/button&gt;</a:t>
              </a:r>
            </a:p>
            <a:p>
              <a:pPr algn="l">
                <a:lnSpc>
                  <a:spcPct val="120000"/>
                </a:lnSpc>
              </a:pPr>
              <a:endParaRPr sz="1100" b="0" i="0" dirty="0">
                <a:solidFill>
                  <a:srgbClr val="9BD89C"/>
                </a:solidFill>
                <a:latin typeface="Consolas"/>
              </a:endParaRPr>
            </a:p>
            <a:p>
              <a:pPr algn="l">
                <a:lnSpc>
                  <a:spcPct val="120000"/>
                </a:lnSpc>
              </a:pPr>
              <a:r>
                <a:rPr sz="1100" b="0" i="0" dirty="0">
                  <a:solidFill>
                    <a:srgbClr val="9BD89C"/>
                  </a:solidFill>
                  <a:latin typeface="Consolas"/>
                </a:rPr>
                <a:t>&lt;button aria-label="</a:t>
              </a:r>
              <a:r>
                <a:rPr sz="1100" b="0" i="0" dirty="0" err="1">
                  <a:solidFill>
                    <a:srgbClr val="9BD89C"/>
                  </a:solidFill>
                  <a:latin typeface="Consolas"/>
                </a:rPr>
                <a:t>Eintrag</a:t>
              </a:r>
              <a:r>
                <a:rPr sz="1100" b="0" i="0" dirty="0">
                  <a:solidFill>
                    <a:srgbClr val="9BD89C"/>
                  </a:solidFill>
                  <a:latin typeface="Consolas"/>
                </a:rPr>
                <a:t> </a:t>
              </a:r>
              <a:r>
                <a:rPr sz="1100" b="0" i="0" dirty="0" err="1">
                  <a:solidFill>
                    <a:srgbClr val="9BD89C"/>
                  </a:solidFill>
                  <a:latin typeface="Consolas"/>
                </a:rPr>
                <a:t>löschen</a:t>
              </a:r>
              <a:r>
                <a:rPr sz="1100" b="0" i="0" dirty="0">
                  <a:solidFill>
                    <a:srgbClr val="9BD89C"/>
                  </a:solidFill>
                  <a:latin typeface="Consolas"/>
                </a:rPr>
                <a:t>"&gt;…&lt;/button&gt;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562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A6470"/>
                </a:solidFill>
                <a:latin typeface="Calibri"/>
              </a:rPr>
              <a:t>3 · Entwickeln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5562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470"/>
                </a:solidFill>
                <a:latin typeface="Calibri"/>
              </a:rPr>
              <a:t>14 / 18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6C75A06-A93D-13BF-0911-0C8D85B5F94C}"/>
              </a:ext>
            </a:extLst>
          </p:cNvPr>
          <p:cNvSpPr txBox="1"/>
          <p:nvPr/>
        </p:nvSpPr>
        <p:spPr>
          <a:xfrm>
            <a:off x="8472659" y="1483737"/>
            <a:ext cx="3261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FF0000"/>
                </a:solidFill>
              </a:rPr>
              <a:t>PRAXIS-VORFÜHRUNG</a:t>
            </a:r>
            <a:endParaRPr lang="de-DE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16200000">
            <a:off x="457200" y="384048"/>
            <a:ext cx="201168" cy="201168"/>
          </a:xfrm>
          <a:prstGeom prst="rtTriangl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7315200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 dirty="0">
                <a:solidFill>
                  <a:srgbClr val="1F2A36"/>
                </a:solidFill>
                <a:latin typeface="Calibri"/>
              </a:rPr>
              <a:t>BFW Würzburg  ·  </a:t>
            </a:r>
            <a:r>
              <a:rPr sz="1100" b="1" i="0" dirty="0" err="1">
                <a:solidFill>
                  <a:srgbClr val="1F2A36"/>
                </a:solidFill>
                <a:latin typeface="Calibri"/>
              </a:rPr>
              <a:t>Barrierefreiheit</a:t>
            </a:r>
            <a:r>
              <a:rPr lang="de-DE" sz="1100" b="1" dirty="0">
                <a:solidFill>
                  <a:srgbClr val="1F2A36"/>
                </a:solidFill>
              </a:rPr>
              <a:t> - Entwickeln</a:t>
            </a:r>
            <a:endParaRPr sz="1100" b="1" i="0" dirty="0">
              <a:solidFill>
                <a:srgbClr val="1F2A3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C8102E"/>
                </a:solidFill>
                <a:latin typeface="Calibri"/>
              </a:rPr>
              <a:t>Plattformen</a:t>
            </a:r>
            <a:r>
              <a:rPr sz="3000" b="1" i="0" dirty="0">
                <a:solidFill>
                  <a:srgbClr val="C8102E"/>
                </a:solidFill>
                <a:latin typeface="Calibri"/>
              </a:rPr>
              <a:t> &amp; </a:t>
            </a:r>
            <a:r>
              <a:rPr sz="3000" b="1" i="0" dirty="0" err="1">
                <a:solidFill>
                  <a:srgbClr val="C8102E"/>
                </a:solidFill>
                <a:latin typeface="Calibri"/>
              </a:rPr>
              <a:t>Barrierefreiheits</a:t>
            </a:r>
            <a:r>
              <a:rPr sz="3000" b="1" i="0" dirty="0">
                <a:solidFill>
                  <a:srgbClr val="C8102E"/>
                </a:solidFill>
                <a:latin typeface="Calibri"/>
              </a:rPr>
              <a:t>-APIs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286000" cy="502920"/>
          </a:xfrm>
          <a:prstGeom prst="rect">
            <a:avLst/>
          </a:prstGeom>
          <a:solidFill>
            <a:srgbClr val="1F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02996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920240"/>
            <a:ext cx="2743200" cy="502920"/>
          </a:xfrm>
          <a:prstGeom prst="rect">
            <a:avLst/>
          </a:prstGeom>
          <a:solidFill>
            <a:srgbClr val="1F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360" y="202996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API-Schicht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920240"/>
            <a:ext cx="6400800" cy="502920"/>
          </a:xfrm>
          <a:prstGeom prst="rect">
            <a:avLst/>
          </a:prstGeom>
          <a:solidFill>
            <a:srgbClr val="1F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23560" y="2029968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Wichtigste Konstrukte</a:t>
            </a:r>
          </a:p>
        </p:txBody>
      </p: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B732C92D-C7DF-59B5-AFD9-5B572F7B31C1}"/>
              </a:ext>
            </a:extLst>
          </p:cNvPr>
          <p:cNvGrpSpPr/>
          <p:nvPr/>
        </p:nvGrpSpPr>
        <p:grpSpPr>
          <a:xfrm>
            <a:off x="457200" y="2423160"/>
            <a:ext cx="11292840" cy="868680"/>
            <a:chOff x="457200" y="2423160"/>
            <a:chExt cx="11292840" cy="868680"/>
          </a:xfrm>
        </p:grpSpPr>
        <p:sp>
          <p:nvSpPr>
            <p:cNvPr id="12" name="Rectangle 11"/>
            <p:cNvSpPr/>
            <p:nvPr/>
          </p:nvSpPr>
          <p:spPr>
            <a:xfrm>
              <a:off x="457200" y="2423160"/>
              <a:ext cx="2286000" cy="868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C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880360" y="2532888"/>
              <a:ext cx="246888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ARIA + WAI-ARIA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623560" y="2532888"/>
              <a:ext cx="612648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&lt;label for&gt;, role="…", aria-label, aria-</a:t>
              </a:r>
              <a:r>
                <a:rPr sz="1200" b="0" i="0" dirty="0" err="1">
                  <a:solidFill>
                    <a:srgbClr val="1F2A36"/>
                  </a:solidFill>
                  <a:latin typeface="Calibri"/>
                </a:rPr>
                <a:t>labelledby</a:t>
              </a: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, aria-</a:t>
              </a:r>
              <a:r>
                <a:rPr sz="1200" b="0" i="0" dirty="0" err="1">
                  <a:solidFill>
                    <a:srgbClr val="1F2A36"/>
                  </a:solidFill>
                  <a:latin typeface="Calibri"/>
                </a:rPr>
                <a:t>describedby</a:t>
              </a: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, </a:t>
              </a:r>
              <a:r>
                <a:rPr sz="1200" b="0" i="0" dirty="0" err="1">
                  <a:solidFill>
                    <a:srgbClr val="1F2A36"/>
                  </a:solidFill>
                  <a:latin typeface="Calibri"/>
                </a:rPr>
                <a:t>semantische</a:t>
              </a: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 HTML-</a:t>
              </a:r>
              <a:r>
                <a:rPr sz="1200" b="0" i="0" dirty="0" err="1">
                  <a:solidFill>
                    <a:srgbClr val="1F2A36"/>
                  </a:solidFill>
                  <a:latin typeface="Calibri"/>
                </a:rPr>
                <a:t>Elemente</a:t>
              </a:r>
              <a:endParaRPr sz="1200" b="0" i="0" dirty="0">
                <a:solidFill>
                  <a:srgbClr val="1F2A36"/>
                </a:solidFill>
                <a:latin typeface="Calibri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4359" y="2532888"/>
              <a:ext cx="2102457" cy="199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Web (</a:t>
              </a:r>
              <a:r>
                <a:rPr lang="de-DE" sz="1200" b="0" i="0" dirty="0">
                  <a:solidFill>
                    <a:srgbClr val="1F2A36"/>
                  </a:solidFill>
                  <a:latin typeface="Calibri"/>
                </a:rPr>
                <a:t>React / Bootstrap, </a:t>
              </a: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Blazor</a:t>
              </a:r>
              <a:r>
                <a:rPr lang="de-DE" sz="1200" b="0" i="0" dirty="0">
                  <a:solidFill>
                    <a:srgbClr val="1F2A36"/>
                  </a:solidFill>
                  <a:latin typeface="Calibri"/>
                </a:rPr>
                <a:t>…</a:t>
              </a: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)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2743200" y="3291840"/>
            <a:ext cx="2743200" cy="868680"/>
          </a:xfrm>
          <a:prstGeom prst="rect">
            <a:avLst/>
          </a:prstGeom>
          <a:solidFill>
            <a:srgbClr val="F5F6F8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0" y="3291840"/>
            <a:ext cx="6400800" cy="868680"/>
          </a:xfrm>
          <a:prstGeom prst="rect">
            <a:avLst/>
          </a:prstGeom>
          <a:solidFill>
            <a:srgbClr val="F5F6F8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2286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0" y="416052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0" y="4160520"/>
            <a:ext cx="6400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9D59278B-58C8-89C8-76F4-0BE46B7E13CB}"/>
              </a:ext>
            </a:extLst>
          </p:cNvPr>
          <p:cNvGrpSpPr/>
          <p:nvPr/>
        </p:nvGrpSpPr>
        <p:grpSpPr>
          <a:xfrm>
            <a:off x="594360" y="4270248"/>
            <a:ext cx="11155680" cy="731520"/>
            <a:chOff x="594360" y="4270248"/>
            <a:chExt cx="11155680" cy="731520"/>
          </a:xfrm>
        </p:grpSpPr>
        <p:sp>
          <p:nvSpPr>
            <p:cNvPr id="25" name="TextBox 24"/>
            <p:cNvSpPr txBox="1"/>
            <p:nvPr/>
          </p:nvSpPr>
          <p:spPr>
            <a:xfrm>
              <a:off x="594360" y="4270248"/>
              <a:ext cx="201168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WinUI 3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880360" y="4270248"/>
              <a:ext cx="246888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>
                  <a:solidFill>
                    <a:srgbClr val="1F2A36"/>
                  </a:solidFill>
                  <a:latin typeface="Calibri"/>
                </a:rPr>
                <a:t>UI Automation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623560" y="4270248"/>
              <a:ext cx="612648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>
                  <a:solidFill>
                    <a:srgbClr val="1F2A36"/>
                  </a:solidFill>
                  <a:latin typeface="Calibri"/>
                </a:rPr>
                <a:t>AutomationProperties.* (analog WPF), TextBox.Header, ToolTipService.ToolTip, NavigationView-Semantik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457200" y="5029200"/>
            <a:ext cx="2286000" cy="868680"/>
          </a:xfrm>
          <a:prstGeom prst="rect">
            <a:avLst/>
          </a:prstGeom>
          <a:solidFill>
            <a:srgbClr val="F5F6F8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0" y="5029200"/>
            <a:ext cx="2743200" cy="868680"/>
          </a:xfrm>
          <a:prstGeom prst="rect">
            <a:avLst/>
          </a:prstGeom>
          <a:solidFill>
            <a:srgbClr val="F5F6F8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0" y="5029200"/>
            <a:ext cx="6400800" cy="868680"/>
          </a:xfrm>
          <a:prstGeom prst="rect">
            <a:avLst/>
          </a:prstGeom>
          <a:solidFill>
            <a:srgbClr val="F5F6F8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2AE1E031-3B64-F64C-2721-389DB7FC8351}"/>
              </a:ext>
            </a:extLst>
          </p:cNvPr>
          <p:cNvGrpSpPr/>
          <p:nvPr/>
        </p:nvGrpSpPr>
        <p:grpSpPr>
          <a:xfrm>
            <a:off x="594360" y="5138928"/>
            <a:ext cx="11155680" cy="731520"/>
            <a:chOff x="594360" y="5138928"/>
            <a:chExt cx="11155680" cy="731520"/>
          </a:xfrm>
        </p:grpSpPr>
        <p:sp>
          <p:nvSpPr>
            <p:cNvPr id="31" name="TextBox 30"/>
            <p:cNvSpPr txBox="1"/>
            <p:nvPr/>
          </p:nvSpPr>
          <p:spPr>
            <a:xfrm>
              <a:off x="594360" y="5138928"/>
              <a:ext cx="2011680" cy="199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de-DE" sz="1200" dirty="0">
                  <a:solidFill>
                    <a:srgbClr val="1F2A36"/>
                  </a:solidFill>
                </a:rPr>
                <a:t>Andere Plattformen wie MAUI</a:t>
              </a:r>
              <a:endParaRPr sz="1200" b="0" i="0" dirty="0">
                <a:solidFill>
                  <a:srgbClr val="1F2A36"/>
                </a:solidFill>
                <a:latin typeface="Calibri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880360" y="5138928"/>
              <a:ext cx="246888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 dirty="0" err="1">
                  <a:solidFill>
                    <a:srgbClr val="1F2A36"/>
                  </a:solidFill>
                  <a:latin typeface="Calibri"/>
                </a:rPr>
                <a:t>Plattform-Brücken</a:t>
              </a: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1F2A36"/>
                  </a:solidFill>
                  <a:latin typeface="Calibri"/>
                </a:rPr>
                <a:t>zu</a:t>
              </a: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 UIA, </a:t>
              </a:r>
              <a:r>
                <a:rPr sz="1200" b="0" i="0" dirty="0" err="1">
                  <a:solidFill>
                    <a:srgbClr val="1F2A36"/>
                  </a:solidFill>
                  <a:latin typeface="Calibri"/>
                </a:rPr>
                <a:t>AccessibilityNodeInfo</a:t>
              </a: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, </a:t>
              </a:r>
              <a:r>
                <a:rPr sz="1200" b="0" i="0" dirty="0" err="1">
                  <a:solidFill>
                    <a:srgbClr val="1F2A36"/>
                  </a:solidFill>
                  <a:latin typeface="Calibri"/>
                </a:rPr>
                <a:t>UIAccessibility</a:t>
              </a:r>
              <a:endParaRPr sz="1200" b="0" i="0" dirty="0">
                <a:solidFill>
                  <a:srgbClr val="1F2A36"/>
                </a:solidFill>
                <a:latin typeface="Calibri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623560" y="5138928"/>
              <a:ext cx="612648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 dirty="0" err="1">
                  <a:solidFill>
                    <a:srgbClr val="1F2A36"/>
                  </a:solidFill>
                  <a:latin typeface="Calibri"/>
                </a:rPr>
                <a:t>SemanticProperties.Description</a:t>
              </a: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 / .Hint / .</a:t>
              </a:r>
              <a:r>
                <a:rPr sz="1200" b="0" i="0" dirty="0" err="1">
                  <a:solidFill>
                    <a:srgbClr val="1F2A36"/>
                  </a:solidFill>
                  <a:latin typeface="Calibri"/>
                </a:rPr>
                <a:t>HeadingLevel</a:t>
              </a: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, </a:t>
              </a:r>
              <a:r>
                <a:rPr sz="1200" b="0" i="0" dirty="0" err="1">
                  <a:solidFill>
                    <a:srgbClr val="1F2A36"/>
                  </a:solidFill>
                  <a:latin typeface="Calibri"/>
                </a:rPr>
                <a:t>SemanticScreenReader.Announce</a:t>
              </a:r>
              <a:endParaRPr sz="1200" b="0" i="0" dirty="0">
                <a:solidFill>
                  <a:srgbClr val="1F2A36"/>
                </a:solidFill>
                <a:latin typeface="Calibri"/>
              </a:endParaRP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 dirty="0" err="1">
                <a:solidFill>
                  <a:srgbClr val="5A6470"/>
                </a:solidFill>
                <a:latin typeface="Calibri"/>
              </a:rPr>
              <a:t>Gemeinsamer</a:t>
            </a:r>
            <a:r>
              <a:rPr sz="1200" b="0" i="1" dirty="0">
                <a:solidFill>
                  <a:srgbClr val="5A6470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A6470"/>
                </a:solidFill>
                <a:latin typeface="Calibri"/>
              </a:rPr>
              <a:t>Nenner</a:t>
            </a:r>
            <a:r>
              <a:rPr sz="1200" b="0" i="1" dirty="0">
                <a:solidFill>
                  <a:srgbClr val="5A6470"/>
                </a:solidFill>
                <a:latin typeface="Calibri"/>
              </a:rPr>
              <a:t>: </a:t>
            </a:r>
            <a:r>
              <a:rPr sz="1200" b="0" i="1" dirty="0" err="1">
                <a:solidFill>
                  <a:srgbClr val="5A6470"/>
                </a:solidFill>
                <a:latin typeface="Calibri"/>
              </a:rPr>
              <a:t>jede</a:t>
            </a:r>
            <a:r>
              <a:rPr sz="1200" b="0" i="1" dirty="0">
                <a:solidFill>
                  <a:srgbClr val="5A6470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A6470"/>
                </a:solidFill>
                <a:latin typeface="Calibri"/>
              </a:rPr>
              <a:t>Plattform</a:t>
            </a:r>
            <a:r>
              <a:rPr sz="1200" b="0" i="1" dirty="0">
                <a:solidFill>
                  <a:srgbClr val="5A6470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A6470"/>
                </a:solidFill>
                <a:latin typeface="Calibri"/>
              </a:rPr>
              <a:t>bietet</a:t>
            </a:r>
            <a:r>
              <a:rPr sz="1200" b="0" i="1" dirty="0">
                <a:solidFill>
                  <a:srgbClr val="5A6470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A6470"/>
                </a:solidFill>
                <a:latin typeface="Calibri"/>
              </a:rPr>
              <a:t>einen</a:t>
            </a:r>
            <a:r>
              <a:rPr sz="1200" b="0" i="1" dirty="0">
                <a:solidFill>
                  <a:srgbClr val="5A6470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A6470"/>
                </a:solidFill>
                <a:latin typeface="Calibri"/>
              </a:rPr>
              <a:t>Mechanismus</a:t>
            </a:r>
            <a:r>
              <a:rPr sz="1200" b="0" i="1" dirty="0">
                <a:solidFill>
                  <a:srgbClr val="5A6470"/>
                </a:solidFill>
                <a:latin typeface="Calibri"/>
              </a:rPr>
              <a:t>, </a:t>
            </a:r>
            <a:r>
              <a:rPr sz="1200" b="0" i="1" dirty="0" err="1">
                <a:solidFill>
                  <a:srgbClr val="5A6470"/>
                </a:solidFill>
                <a:latin typeface="Calibri"/>
              </a:rPr>
              <a:t>einem</a:t>
            </a:r>
            <a:r>
              <a:rPr sz="1200" b="0" i="1" dirty="0">
                <a:solidFill>
                  <a:srgbClr val="5A6470"/>
                </a:solidFill>
                <a:latin typeface="Calibri"/>
              </a:rPr>
              <a:t> Control Name, Rolle und Wert </a:t>
            </a:r>
            <a:r>
              <a:rPr sz="1200" b="0" i="1" dirty="0" err="1">
                <a:solidFill>
                  <a:srgbClr val="5A6470"/>
                </a:solidFill>
                <a:latin typeface="Calibri"/>
              </a:rPr>
              <a:t>zuzuweisen</a:t>
            </a:r>
            <a:r>
              <a:rPr sz="1200" b="0" i="1" dirty="0">
                <a:solidFill>
                  <a:srgbClr val="5A6470"/>
                </a:solidFill>
                <a:latin typeface="Calibri"/>
              </a:rPr>
              <a:t>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65562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A6470"/>
                </a:solidFill>
                <a:latin typeface="Calibri"/>
              </a:rPr>
              <a:t>3 · Entwickeln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0095" y="65562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470"/>
                </a:solidFill>
                <a:latin typeface="Calibri"/>
              </a:rPr>
              <a:t>12 / 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778"/>
            <a:ext cx="2286000" cy="868680"/>
          </a:xfrm>
          <a:prstGeom prst="rect">
            <a:avLst/>
          </a:prstGeom>
          <a:solidFill>
            <a:srgbClr val="F5F6F8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75C91027-8454-1013-5069-2C422AD47F17}"/>
              </a:ext>
            </a:extLst>
          </p:cNvPr>
          <p:cNvGrpSpPr/>
          <p:nvPr/>
        </p:nvGrpSpPr>
        <p:grpSpPr>
          <a:xfrm>
            <a:off x="594360" y="3401568"/>
            <a:ext cx="11155680" cy="731520"/>
            <a:chOff x="594360" y="3401568"/>
            <a:chExt cx="11155680" cy="731520"/>
          </a:xfrm>
        </p:grpSpPr>
        <p:sp>
          <p:nvSpPr>
            <p:cNvPr id="21" name="TextBox 20"/>
            <p:cNvSpPr txBox="1"/>
            <p:nvPr/>
          </p:nvSpPr>
          <p:spPr>
            <a:xfrm>
              <a:off x="2880360" y="3401568"/>
              <a:ext cx="246888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>
                  <a:solidFill>
                    <a:srgbClr val="1F2A36"/>
                  </a:solidFill>
                  <a:latin typeface="Calibri"/>
                </a:rPr>
                <a:t>MSAA + UI Automation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623560" y="3401568"/>
              <a:ext cx="612648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 dirty="0" err="1">
                  <a:solidFill>
                    <a:srgbClr val="1F2A36"/>
                  </a:solidFill>
                  <a:latin typeface="Calibri"/>
                </a:rPr>
                <a:t>AutomationProperties.Name</a:t>
              </a: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 / .</a:t>
              </a:r>
              <a:r>
                <a:rPr sz="1200" b="0" i="0" dirty="0" err="1">
                  <a:solidFill>
                    <a:srgbClr val="1F2A36"/>
                  </a:solidFill>
                  <a:latin typeface="Calibri"/>
                </a:rPr>
                <a:t>HelpText</a:t>
              </a: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 / .</a:t>
              </a:r>
              <a:r>
                <a:rPr sz="1200" b="0" i="0" dirty="0" err="1">
                  <a:solidFill>
                    <a:srgbClr val="1F2A36"/>
                  </a:solidFill>
                  <a:latin typeface="Calibri"/>
                </a:rPr>
                <a:t>LabeledBy</a:t>
              </a: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, Label-Target + </a:t>
              </a:r>
              <a:r>
                <a:rPr sz="1200" b="0" i="0" dirty="0" err="1">
                  <a:solidFill>
                    <a:srgbClr val="1F2A36"/>
                  </a:solidFill>
                  <a:latin typeface="Calibri"/>
                </a:rPr>
                <a:t>AccessText</a:t>
              </a: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, </a:t>
              </a:r>
              <a:r>
                <a:rPr sz="1200" b="0" i="0" dirty="0" err="1">
                  <a:solidFill>
                    <a:srgbClr val="1F2A36"/>
                  </a:solidFill>
                  <a:latin typeface="Calibri"/>
                </a:rPr>
                <a:t>IsReadOnly</a:t>
              </a: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1F2A36"/>
                  </a:solidFill>
                  <a:latin typeface="Calibri"/>
                </a:rPr>
                <a:t>statt</a:t>
              </a: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 </a:t>
              </a:r>
              <a:r>
                <a:rPr sz="1200" b="0" i="0" dirty="0" err="1">
                  <a:solidFill>
                    <a:srgbClr val="1F2A36"/>
                  </a:solidFill>
                  <a:latin typeface="Calibri"/>
                </a:rPr>
                <a:t>IsEnabled</a:t>
              </a:r>
              <a:endParaRPr sz="1200" b="0" i="0" dirty="0">
                <a:solidFill>
                  <a:srgbClr val="1F2A36"/>
                </a:solidFill>
                <a:latin typeface="Calibri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4360" y="3401568"/>
              <a:ext cx="2011680" cy="199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 i="0" dirty="0">
                  <a:solidFill>
                    <a:srgbClr val="1F2A36"/>
                  </a:solidFill>
                  <a:latin typeface="Calibri"/>
                </a:rPr>
                <a:t>WPF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D1350-1FDD-382A-AFB7-1C3F17E2A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2ABFB729-F1D7-4C66-F40D-01995C763B1B}"/>
              </a:ext>
            </a:extLst>
          </p:cNvPr>
          <p:cNvSpPr/>
          <p:nvPr/>
        </p:nvSpPr>
        <p:spPr>
          <a:xfrm rot="16200000">
            <a:off x="457200" y="384048"/>
            <a:ext cx="201168" cy="201168"/>
          </a:xfrm>
          <a:prstGeom prst="rtTriangl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B5411-3B83-F6C6-E22F-6F4044FD392A}"/>
              </a:ext>
            </a:extLst>
          </p:cNvPr>
          <p:cNvSpPr txBox="1"/>
          <p:nvPr/>
        </p:nvSpPr>
        <p:spPr>
          <a:xfrm>
            <a:off x="777240" y="329184"/>
            <a:ext cx="7315200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 dirty="0">
                <a:solidFill>
                  <a:srgbClr val="1F2A36"/>
                </a:solidFill>
                <a:latin typeface="Calibri"/>
              </a:rPr>
              <a:t>BFW Würzburg  ·  </a:t>
            </a:r>
            <a:r>
              <a:rPr sz="1100" b="1" i="0" dirty="0" err="1">
                <a:solidFill>
                  <a:srgbClr val="1F2A36"/>
                </a:solidFill>
                <a:latin typeface="Calibri"/>
              </a:rPr>
              <a:t>Barrierefreiheit</a:t>
            </a:r>
            <a:r>
              <a:rPr lang="de-DE" sz="1100" b="1" dirty="0">
                <a:solidFill>
                  <a:srgbClr val="1F2A36"/>
                </a:solidFill>
              </a:rPr>
              <a:t> - Entwickeln</a:t>
            </a:r>
            <a:endParaRPr sz="1100" b="1" i="0" dirty="0">
              <a:solidFill>
                <a:srgbClr val="1F2A36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5682EE-7120-73D4-368A-396F96B82C9A}"/>
              </a:ext>
            </a:extLst>
          </p:cNvPr>
          <p:cNvSpPr txBox="1"/>
          <p:nvPr/>
        </p:nvSpPr>
        <p:spPr>
          <a:xfrm>
            <a:off x="457200" y="822960"/>
            <a:ext cx="10972800" cy="499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C8102E"/>
                </a:solidFill>
                <a:latin typeface="Calibri"/>
              </a:rPr>
              <a:t>Beispiel</a:t>
            </a:r>
            <a:r>
              <a:rPr sz="3000" b="1" i="0" dirty="0">
                <a:solidFill>
                  <a:srgbClr val="C8102E"/>
                </a:solidFill>
                <a:latin typeface="Calibri"/>
              </a:rPr>
              <a:t> · </a:t>
            </a:r>
            <a:r>
              <a:rPr lang="de-DE" sz="3000" b="1" i="0" dirty="0">
                <a:solidFill>
                  <a:srgbClr val="C8102E"/>
                </a:solidFill>
                <a:latin typeface="Calibri"/>
              </a:rPr>
              <a:t>KI-Entwicklung</a:t>
            </a:r>
            <a:endParaRPr sz="3000" b="1" i="0" dirty="0">
              <a:solidFill>
                <a:srgbClr val="C8102E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FB812E-9BE3-5CE5-8A02-A288E405236B}"/>
              </a:ext>
            </a:extLst>
          </p:cNvPr>
          <p:cNvSpPr/>
          <p:nvPr/>
        </p:nvSpPr>
        <p:spPr>
          <a:xfrm>
            <a:off x="457200" y="1417320"/>
            <a:ext cx="73152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6BD96-67CC-4610-3378-09BBB59D6CF8}"/>
              </a:ext>
            </a:extLst>
          </p:cNvPr>
          <p:cNvSpPr txBox="1"/>
          <p:nvPr/>
        </p:nvSpPr>
        <p:spPr>
          <a:xfrm>
            <a:off x="457200" y="1554480"/>
            <a:ext cx="10972800" cy="728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de-DE" sz="1400" b="0" i="1" dirty="0">
                <a:solidFill>
                  <a:srgbClr val="5A6470"/>
                </a:solidFill>
                <a:latin typeface="Calibri"/>
              </a:rPr>
              <a:t>Grundsätzlich können aktuellen Coding-Agenten die Barrierefreiheitsstandards beachten, wenn man es ihnen sagt. </a:t>
            </a:r>
            <a:br>
              <a:rPr lang="de-DE" sz="1400" b="0" i="1" dirty="0">
                <a:solidFill>
                  <a:srgbClr val="5A6470"/>
                </a:solidFill>
                <a:latin typeface="Calibri"/>
              </a:rPr>
            </a:br>
            <a:r>
              <a:rPr lang="de-DE" sz="1400" b="0" i="1" dirty="0">
                <a:solidFill>
                  <a:srgbClr val="5A6470"/>
                </a:solidFill>
                <a:latin typeface="Calibri"/>
              </a:rPr>
              <a:t>Es muss trotzdem immer wieder nachgebessert werden und vor allem auch Richtlinien definiert werden – am besten Dateien als Basis in jeden Projektordner, in dem die Anforderungen für das Projekt genau ausformuliert sind und darin immer konkrete Barrierefreiheits-Anforderungen</a:t>
            </a:r>
            <a:endParaRPr sz="1400" b="0" i="1" dirty="0">
              <a:solidFill>
                <a:srgbClr val="5A6470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8BA848-EC0E-3FCB-CCBF-429A1727F24A}"/>
              </a:ext>
            </a:extLst>
          </p:cNvPr>
          <p:cNvSpPr txBox="1"/>
          <p:nvPr/>
        </p:nvSpPr>
        <p:spPr>
          <a:xfrm>
            <a:off x="457199" y="2525377"/>
            <a:ext cx="5486400" cy="11159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de-DE" sz="1600" b="1" dirty="0">
                <a:solidFill>
                  <a:srgbClr val="C8102E"/>
                </a:solidFill>
              </a:rPr>
              <a:t>Beispiel für </a:t>
            </a:r>
          </a:p>
          <a:p>
            <a:pPr>
              <a:lnSpc>
                <a:spcPct val="115000"/>
              </a:lnSpc>
            </a:pPr>
            <a:r>
              <a:rPr lang="de-DE" sz="1600" b="1" i="0" dirty="0">
                <a:solidFill>
                  <a:srgbClr val="C8102E"/>
                </a:solidFill>
                <a:latin typeface="Calibri"/>
              </a:rPr>
              <a:t>Nachbesserungsbedarf</a:t>
            </a:r>
          </a:p>
          <a:p>
            <a:pPr>
              <a:lnSpc>
                <a:spcPct val="115000"/>
              </a:lnSpc>
            </a:pPr>
            <a:r>
              <a:rPr lang="de-DE" sz="1600" dirty="0">
                <a:latin typeface="Calibri"/>
              </a:rPr>
              <a:t>(im Python Lösungs-Beispiel)</a:t>
            </a:r>
            <a:endParaRPr lang="de-DE" sz="1600" i="0" dirty="0">
              <a:latin typeface="Calibri"/>
            </a:endParaRPr>
          </a:p>
          <a:p>
            <a:pPr algn="l">
              <a:lnSpc>
                <a:spcPct val="115000"/>
              </a:lnSpc>
            </a:pPr>
            <a:endParaRPr sz="1600" b="1" i="0" dirty="0">
              <a:solidFill>
                <a:srgbClr val="C8102E"/>
              </a:solidFill>
              <a:latin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7C31FC-EFDC-0140-EF66-2588402E1E4D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9BB53F-E7B5-A852-50FF-9960107FF528}"/>
              </a:ext>
            </a:extLst>
          </p:cNvPr>
          <p:cNvSpPr txBox="1"/>
          <p:nvPr/>
        </p:nvSpPr>
        <p:spPr>
          <a:xfrm>
            <a:off x="457200" y="65562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A6470"/>
                </a:solidFill>
                <a:latin typeface="Calibri"/>
              </a:rPr>
              <a:t>3 · Entwickeln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4FE399-1BD1-A195-DAAD-E31D3785350B}"/>
              </a:ext>
            </a:extLst>
          </p:cNvPr>
          <p:cNvSpPr txBox="1"/>
          <p:nvPr/>
        </p:nvSpPr>
        <p:spPr>
          <a:xfrm>
            <a:off x="10820095" y="65562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470"/>
                </a:solidFill>
                <a:latin typeface="Calibri"/>
              </a:rPr>
              <a:t>17 / 18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F6BA36B8-3827-5FBE-E025-39D0C2D06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988" y="2525377"/>
            <a:ext cx="6301031" cy="394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2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 dirty="0">
                <a:solidFill>
                  <a:srgbClr val="FFFFFF"/>
                </a:solidFill>
                <a:latin typeface="Calibri"/>
              </a:rPr>
              <a:t>Take-aways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914400" cy="50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04393829-5535-9EBD-D49C-5B1EED7F37FB}"/>
              </a:ext>
            </a:extLst>
          </p:cNvPr>
          <p:cNvGrpSpPr/>
          <p:nvPr/>
        </p:nvGrpSpPr>
        <p:grpSpPr>
          <a:xfrm>
            <a:off x="868680" y="2011680"/>
            <a:ext cx="10744200" cy="644685"/>
            <a:chOff x="868680" y="2011680"/>
            <a:chExt cx="10744200" cy="644685"/>
          </a:xfrm>
        </p:grpSpPr>
        <p:sp>
          <p:nvSpPr>
            <p:cNvPr id="6" name="Oval 5"/>
            <p:cNvSpPr/>
            <p:nvPr/>
          </p:nvSpPr>
          <p:spPr>
            <a:xfrm>
              <a:off x="868680" y="2103120"/>
              <a:ext cx="502920" cy="50292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Calibri"/>
                </a:rPr>
                <a:t>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554480" y="2011680"/>
              <a:ext cx="100584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 i="0">
                  <a:solidFill>
                    <a:srgbClr val="FFFFFF"/>
                  </a:solidFill>
                  <a:latin typeface="Calibri"/>
                </a:rPr>
                <a:t>Testen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54480" y="2423160"/>
              <a:ext cx="10058400" cy="23320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400" b="0" i="0" dirty="0" err="1">
                  <a:solidFill>
                    <a:srgbClr val="E9ECEF"/>
                  </a:solidFill>
                  <a:latin typeface="Calibri"/>
                </a:rPr>
                <a:t>Tastatur</a:t>
              </a:r>
              <a:r>
                <a:rPr sz="1400" b="0" i="0" dirty="0">
                  <a:solidFill>
                    <a:srgbClr val="E9ECEF"/>
                  </a:solidFill>
                  <a:latin typeface="Calibri"/>
                </a:rPr>
                <a:t>, </a:t>
              </a:r>
              <a:r>
                <a:rPr sz="1400" b="0" i="0" dirty="0" err="1">
                  <a:solidFill>
                    <a:srgbClr val="E9ECEF"/>
                  </a:solidFill>
                  <a:latin typeface="Calibri"/>
                </a:rPr>
                <a:t>Screenreader</a:t>
              </a:r>
              <a:r>
                <a:rPr sz="1400" b="0" i="0" dirty="0">
                  <a:solidFill>
                    <a:srgbClr val="E9ECEF"/>
                  </a:solidFill>
                  <a:latin typeface="Calibri"/>
                </a:rPr>
                <a:t> und Tool</a:t>
              </a:r>
              <a:r>
                <a:rPr lang="de-DE" sz="1400" b="0" i="0" dirty="0">
                  <a:solidFill>
                    <a:srgbClr val="E9ECEF"/>
                  </a:solidFill>
                  <a:latin typeface="Calibri"/>
                </a:rPr>
                <a:t>s nutzen</a:t>
              </a:r>
              <a:endParaRPr sz="1400" b="0" i="0" dirty="0">
                <a:solidFill>
                  <a:srgbClr val="E9ECEF"/>
                </a:solidFill>
                <a:latin typeface="Calibri"/>
              </a:endParaRP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92B140D1-4E5D-EF19-4D7B-2BD80080BE1F}"/>
              </a:ext>
            </a:extLst>
          </p:cNvPr>
          <p:cNvGrpSpPr/>
          <p:nvPr/>
        </p:nvGrpSpPr>
        <p:grpSpPr>
          <a:xfrm>
            <a:off x="868680" y="2880360"/>
            <a:ext cx="10744200" cy="644685"/>
            <a:chOff x="868680" y="2880360"/>
            <a:chExt cx="10744200" cy="644685"/>
          </a:xfrm>
        </p:grpSpPr>
        <p:sp>
          <p:nvSpPr>
            <p:cNvPr id="9" name="Oval 8"/>
            <p:cNvSpPr/>
            <p:nvPr/>
          </p:nvSpPr>
          <p:spPr>
            <a:xfrm>
              <a:off x="868680" y="2971800"/>
              <a:ext cx="502920" cy="50292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Calibri"/>
                </a:rPr>
                <a:t>2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54480" y="2880360"/>
              <a:ext cx="10058400" cy="333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 i="0" dirty="0" err="1">
                  <a:solidFill>
                    <a:srgbClr val="FFFFFF"/>
                  </a:solidFill>
                  <a:latin typeface="Calibri"/>
                </a:rPr>
                <a:t>Anpassen</a:t>
              </a:r>
              <a:r>
                <a:rPr lang="de-DE" sz="2000" b="1" i="0" dirty="0">
                  <a:solidFill>
                    <a:srgbClr val="FFFFFF"/>
                  </a:solidFill>
                  <a:latin typeface="Calibri"/>
                </a:rPr>
                <a:t> (lassen)</a:t>
              </a:r>
              <a:endParaRPr sz="2000" b="1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54480" y="3291840"/>
              <a:ext cx="10058400" cy="23320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de-DE" sz="1400" b="0" i="0" dirty="0">
                  <a:solidFill>
                    <a:srgbClr val="E9ECEF"/>
                  </a:solidFill>
                  <a:latin typeface="Calibri"/>
                </a:rPr>
                <a:t>Screenreader</a:t>
              </a:r>
              <a:r>
                <a:rPr sz="1400" b="0" i="0" dirty="0">
                  <a:solidFill>
                    <a:srgbClr val="E9ECEF"/>
                  </a:solidFill>
                  <a:latin typeface="Calibri"/>
                </a:rPr>
                <a:t> </a:t>
              </a:r>
              <a:r>
                <a:rPr lang="de-DE" sz="1400" b="0" i="0" dirty="0">
                  <a:solidFill>
                    <a:srgbClr val="E9ECEF"/>
                  </a:solidFill>
                  <a:latin typeface="Calibri"/>
                </a:rPr>
                <a:t>können über </a:t>
              </a:r>
              <a:r>
                <a:rPr lang="de-DE" sz="1400" b="0" i="0" dirty="0" err="1">
                  <a:solidFill>
                    <a:srgbClr val="E9ECEF"/>
                  </a:solidFill>
                  <a:latin typeface="Calibri"/>
                </a:rPr>
                <a:t>Skripting</a:t>
              </a:r>
              <a:r>
                <a:rPr lang="de-DE" sz="1400" b="0" i="0" dirty="0">
                  <a:solidFill>
                    <a:srgbClr val="E9ECEF"/>
                  </a:solidFill>
                  <a:latin typeface="Calibri"/>
                </a:rPr>
                <a:t>-Schnittstellen angepasst werden </a:t>
              </a:r>
              <a:r>
                <a:rPr lang="de-DE" sz="1400" dirty="0">
                  <a:solidFill>
                    <a:srgbClr val="E9ECEF"/>
                  </a:solidFill>
                </a:rPr>
                <a:t>oder Anwendungen mit DL® </a:t>
              </a:r>
              <a:r>
                <a:rPr lang="de-DE" sz="1400" dirty="0" err="1">
                  <a:solidFill>
                    <a:srgbClr val="E9ECEF"/>
                  </a:solidFill>
                </a:rPr>
                <a:t>XTab</a:t>
              </a:r>
              <a:r>
                <a:rPr lang="de-DE" sz="1400" dirty="0">
                  <a:solidFill>
                    <a:srgbClr val="E9ECEF"/>
                  </a:solidFill>
                </a:rPr>
                <a:t> </a:t>
              </a:r>
              <a:endParaRPr sz="1400" b="0" i="0" dirty="0">
                <a:solidFill>
                  <a:srgbClr val="E9ECEF"/>
                </a:solidFill>
                <a:latin typeface="Calibri"/>
              </a:endParaRP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07860E8F-0468-D61C-1980-791AAC93BA78}"/>
              </a:ext>
            </a:extLst>
          </p:cNvPr>
          <p:cNvGrpSpPr/>
          <p:nvPr/>
        </p:nvGrpSpPr>
        <p:grpSpPr>
          <a:xfrm>
            <a:off x="868680" y="3749040"/>
            <a:ext cx="10744200" cy="892446"/>
            <a:chOff x="868680" y="3749040"/>
            <a:chExt cx="10744200" cy="892446"/>
          </a:xfrm>
        </p:grpSpPr>
        <p:sp>
          <p:nvSpPr>
            <p:cNvPr id="12" name="Oval 11"/>
            <p:cNvSpPr/>
            <p:nvPr/>
          </p:nvSpPr>
          <p:spPr>
            <a:xfrm>
              <a:off x="868680" y="3840480"/>
              <a:ext cx="502920" cy="50292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3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554480" y="3749040"/>
              <a:ext cx="10058400" cy="333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lang="de-DE" sz="2000" b="1" i="0" dirty="0">
                  <a:solidFill>
                    <a:srgbClr val="FFFFFF"/>
                  </a:solidFill>
                  <a:latin typeface="Calibri"/>
                </a:rPr>
                <a:t>Barrierefrei/zugänglich </a:t>
              </a:r>
              <a:r>
                <a:rPr sz="2000" b="1" i="0" dirty="0" err="1">
                  <a:solidFill>
                    <a:srgbClr val="FFFFFF"/>
                  </a:solidFill>
                  <a:latin typeface="Calibri"/>
                </a:rPr>
                <a:t>Entwickeln</a:t>
              </a:r>
              <a:r>
                <a:rPr lang="de-DE" sz="2000" b="1" i="0" dirty="0">
                  <a:solidFill>
                    <a:srgbClr val="FFFFFF"/>
                  </a:solidFill>
                  <a:latin typeface="Calibri"/>
                </a:rPr>
                <a:t> (lassen – Anforderung/Ausschreibungskriterien)</a:t>
              </a:r>
              <a:endParaRPr sz="2000" b="1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54480" y="4160520"/>
              <a:ext cx="10058400" cy="4809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400" b="0" i="0" dirty="0">
                  <a:solidFill>
                    <a:srgbClr val="E9ECEF"/>
                  </a:solidFill>
                  <a:latin typeface="Calibri"/>
                </a:rPr>
                <a:t>Name, Rolle, Wert für </a:t>
              </a:r>
              <a:r>
                <a:rPr sz="1400" b="0" i="0" dirty="0" err="1">
                  <a:solidFill>
                    <a:srgbClr val="E9ECEF"/>
                  </a:solidFill>
                  <a:latin typeface="Calibri"/>
                </a:rPr>
                <a:t>jedes</a:t>
              </a:r>
              <a:r>
                <a:rPr sz="1400" b="0" i="0" dirty="0">
                  <a:solidFill>
                    <a:srgbClr val="E9ECEF"/>
                  </a:solidFill>
                  <a:latin typeface="Calibri"/>
                </a:rPr>
                <a:t> Control. </a:t>
              </a:r>
              <a:r>
                <a:rPr sz="1400" b="0" i="0" dirty="0" err="1">
                  <a:solidFill>
                    <a:srgbClr val="E9ECEF"/>
                  </a:solidFill>
                  <a:latin typeface="Calibri"/>
                </a:rPr>
                <a:t>readonly</a:t>
              </a:r>
              <a:r>
                <a:rPr sz="1400" b="0" i="0" dirty="0">
                  <a:solidFill>
                    <a:srgbClr val="E9ECEF"/>
                  </a:solidFill>
                  <a:latin typeface="Calibri"/>
                </a:rPr>
                <a:t> </a:t>
              </a:r>
              <a:r>
                <a:rPr sz="1400" b="0" i="0" dirty="0" err="1">
                  <a:solidFill>
                    <a:srgbClr val="E9ECEF"/>
                  </a:solidFill>
                  <a:latin typeface="Calibri"/>
                </a:rPr>
                <a:t>statt</a:t>
              </a:r>
              <a:r>
                <a:rPr sz="1400" b="0" i="0" dirty="0">
                  <a:solidFill>
                    <a:srgbClr val="E9ECEF"/>
                  </a:solidFill>
                  <a:latin typeface="Calibri"/>
                </a:rPr>
                <a:t> disabled. </a:t>
              </a:r>
              <a:r>
                <a:rPr sz="1400" b="0" i="0" dirty="0" err="1">
                  <a:solidFill>
                    <a:srgbClr val="E9ECEF"/>
                  </a:solidFill>
                  <a:latin typeface="Calibri"/>
                </a:rPr>
                <a:t>Kontrast</a:t>
              </a:r>
              <a:r>
                <a:rPr sz="1400" b="0" i="0" dirty="0">
                  <a:solidFill>
                    <a:srgbClr val="E9ECEF"/>
                  </a:solidFill>
                  <a:latin typeface="Calibri"/>
                </a:rPr>
                <a:t> ≥ 4,5:1</a:t>
              </a:r>
              <a:r>
                <a:rPr lang="de-DE" sz="1400" b="0" i="0" dirty="0">
                  <a:solidFill>
                    <a:srgbClr val="E9ECEF"/>
                  </a:solidFill>
                  <a:latin typeface="Calibri"/>
                </a:rPr>
                <a:t> ..</a:t>
              </a:r>
              <a:r>
                <a:rPr sz="1400" b="0" i="0" dirty="0">
                  <a:solidFill>
                    <a:srgbClr val="E9ECEF"/>
                  </a:solidFill>
                  <a:latin typeface="Calibri"/>
                </a:rPr>
                <a:t>.</a:t>
              </a:r>
              <a:r>
                <a:rPr lang="de-DE" sz="1400" b="0" i="0" dirty="0">
                  <a:solidFill>
                    <a:srgbClr val="E9ECEF"/>
                  </a:solidFill>
                  <a:latin typeface="Calibri"/>
                </a:rPr>
                <a:t> – siehe Standards un</a:t>
              </a:r>
              <a:r>
                <a:rPr lang="de-DE" sz="1400" dirty="0">
                  <a:solidFill>
                    <a:srgbClr val="E9ECEF"/>
                  </a:solidFill>
                  <a:latin typeface="Calibri"/>
                </a:rPr>
                <a:t>d Tests</a:t>
              </a:r>
              <a:br>
                <a:rPr lang="de-DE" sz="1400" b="0" i="0" dirty="0">
                  <a:solidFill>
                    <a:srgbClr val="E9ECEF"/>
                  </a:solidFill>
                  <a:latin typeface="Calibri"/>
                </a:rPr>
              </a:br>
              <a:r>
                <a:rPr lang="de-DE" sz="1400" b="0" i="0" dirty="0">
                  <a:solidFill>
                    <a:srgbClr val="E9ECEF"/>
                  </a:solidFill>
                  <a:latin typeface="Calibri"/>
                </a:rPr>
                <a:t>	auch KI-Coding-Agenten können zugänglichen Code produzieren, wenn man sie genau instruiert</a:t>
              </a:r>
              <a:endParaRPr sz="1400" b="0" i="0" dirty="0">
                <a:solidFill>
                  <a:srgbClr val="E9ECEF"/>
                </a:solidFill>
                <a:latin typeface="Calibri"/>
              </a:endParaRP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7AFA4D59-EE4E-449E-46E8-95BEAB76BE51}"/>
              </a:ext>
            </a:extLst>
          </p:cNvPr>
          <p:cNvGrpSpPr/>
          <p:nvPr/>
        </p:nvGrpSpPr>
        <p:grpSpPr>
          <a:xfrm>
            <a:off x="868680" y="4770118"/>
            <a:ext cx="10744200" cy="644685"/>
            <a:chOff x="868680" y="4770118"/>
            <a:chExt cx="10744200" cy="644685"/>
          </a:xfrm>
        </p:grpSpPr>
        <p:sp>
          <p:nvSpPr>
            <p:cNvPr id="15" name="Oval 14"/>
            <p:cNvSpPr/>
            <p:nvPr/>
          </p:nvSpPr>
          <p:spPr>
            <a:xfrm>
              <a:off x="868680" y="4854932"/>
              <a:ext cx="502920" cy="50292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4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54480" y="4770118"/>
              <a:ext cx="10058400" cy="333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lang="de-DE" sz="2000" b="1" i="0" dirty="0">
                  <a:solidFill>
                    <a:srgbClr val="FFFFFF"/>
                  </a:solidFill>
                  <a:latin typeface="Calibri"/>
                </a:rPr>
                <a:t>Mitdenken</a:t>
              </a:r>
              <a:endParaRPr sz="2000" b="1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54480" y="5181598"/>
              <a:ext cx="10058400" cy="23320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400" b="0" i="0" dirty="0">
                  <a:solidFill>
                    <a:srgbClr val="E9ECEF"/>
                  </a:solidFill>
                  <a:latin typeface="Calibri"/>
                </a:rPr>
                <a:t>Barrierefreie Software</a:t>
              </a:r>
              <a:r>
                <a:rPr lang="de-DE" sz="1400" b="0" i="0" dirty="0">
                  <a:solidFill>
                    <a:srgbClr val="E9ECEF"/>
                  </a:solidFill>
                  <a:latin typeface="Calibri"/>
                </a:rPr>
                <a:t>-Oberflächen</a:t>
              </a:r>
              <a:r>
                <a:rPr sz="1400" b="0" i="0" dirty="0">
                  <a:solidFill>
                    <a:srgbClr val="E9ECEF"/>
                  </a:solidFill>
                  <a:latin typeface="Calibri"/>
                </a:rPr>
                <a:t> </a:t>
              </a:r>
              <a:r>
                <a:rPr lang="de-DE" sz="1400" b="0" i="0" dirty="0">
                  <a:solidFill>
                    <a:srgbClr val="E9ECEF"/>
                  </a:solidFill>
                  <a:latin typeface="Calibri"/>
                </a:rPr>
                <a:t>sind </a:t>
              </a:r>
              <a:r>
                <a:rPr sz="1400" b="0" i="0" dirty="0" err="1">
                  <a:solidFill>
                    <a:srgbClr val="E9ECEF"/>
                  </a:solidFill>
                  <a:latin typeface="Calibri"/>
                </a:rPr>
                <a:t>Voraussetzung</a:t>
              </a:r>
              <a:r>
                <a:rPr sz="1400" b="0" i="0" dirty="0">
                  <a:solidFill>
                    <a:srgbClr val="E9ECEF"/>
                  </a:solidFill>
                  <a:latin typeface="Calibri"/>
                </a:rPr>
                <a:t> für </a:t>
              </a:r>
              <a:r>
                <a:rPr sz="1400" b="0" i="0" dirty="0" err="1">
                  <a:solidFill>
                    <a:srgbClr val="E9ECEF"/>
                  </a:solidFill>
                  <a:latin typeface="Calibri"/>
                </a:rPr>
                <a:t>berufliche</a:t>
              </a:r>
              <a:r>
                <a:rPr sz="1400" b="0" i="0" dirty="0">
                  <a:solidFill>
                    <a:srgbClr val="E9ECEF"/>
                  </a:solidFill>
                  <a:latin typeface="Calibri"/>
                </a:rPr>
                <a:t> </a:t>
              </a:r>
              <a:r>
                <a:rPr sz="1400" b="0" i="0" dirty="0" err="1">
                  <a:solidFill>
                    <a:srgbClr val="E9ECEF"/>
                  </a:solidFill>
                  <a:latin typeface="Calibri"/>
                </a:rPr>
                <a:t>Teilhabe</a:t>
              </a:r>
              <a:r>
                <a:rPr sz="1400" b="0" i="0" dirty="0">
                  <a:solidFill>
                    <a:srgbClr val="E9ECEF"/>
                  </a:solidFill>
                  <a:latin typeface="Calibri"/>
                </a:rPr>
                <a:t> – nicht </a:t>
              </a:r>
              <a:r>
                <a:rPr sz="1400" b="0" i="0" dirty="0" err="1">
                  <a:solidFill>
                    <a:srgbClr val="E9ECEF"/>
                  </a:solidFill>
                  <a:latin typeface="Calibri"/>
                </a:rPr>
                <a:t>Kür</a:t>
              </a:r>
              <a:endParaRPr sz="1400" b="0" i="0" dirty="0">
                <a:solidFill>
                  <a:srgbClr val="E9ECEF"/>
                </a:solidFill>
                <a:latin typeface="Calibri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868680" y="5897880"/>
            <a:ext cx="10424160" cy="25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989320"/>
            <a:ext cx="100584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de-DE" sz="1400" b="0" i="0" dirty="0">
                <a:solidFill>
                  <a:srgbClr val="E9ECEF"/>
                </a:solidFill>
                <a:latin typeface="Calibri"/>
              </a:rPr>
              <a:t>Rainer Brell und </a:t>
            </a:r>
            <a:r>
              <a:rPr sz="1400" b="0" i="0" dirty="0">
                <a:solidFill>
                  <a:srgbClr val="E9ECEF"/>
                </a:solidFill>
                <a:latin typeface="Calibri"/>
              </a:rPr>
              <a:t>Ernst Heßdörfer · </a:t>
            </a:r>
            <a:r>
              <a:rPr lang="de-DE" sz="1400" b="0" i="0" dirty="0">
                <a:solidFill>
                  <a:srgbClr val="E9ECEF"/>
                </a:solidFill>
                <a:latin typeface="Calibri"/>
              </a:rPr>
              <a:t>BFW Würzburg gGmbH </a:t>
            </a:r>
            <a:r>
              <a:rPr sz="1400" b="0" i="0" dirty="0">
                <a:solidFill>
                  <a:srgbClr val="E9ECEF"/>
                </a:solidFill>
                <a:latin typeface="Calibri"/>
              </a:rPr>
              <a:t>·</a:t>
            </a:r>
            <a:r>
              <a:rPr lang="de-DE" sz="1400" b="0" i="0" dirty="0">
                <a:solidFill>
                  <a:srgbClr val="E9ECEF"/>
                </a:solidFill>
                <a:latin typeface="Calibri"/>
              </a:rPr>
              <a:t> </a:t>
            </a:r>
            <a:r>
              <a:rPr lang="de-DE" sz="1400" b="0" i="0" dirty="0">
                <a:solidFill>
                  <a:schemeClr val="bg1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rainer.brell@bfw-wuerzburg.de</a:t>
            </a:r>
            <a:r>
              <a:rPr lang="de-DE" sz="1400" b="0" i="0" dirty="0">
                <a:solidFill>
                  <a:schemeClr val="bg1"/>
                </a:solidFill>
                <a:latin typeface="Calibri"/>
              </a:rPr>
              <a:t> und </a:t>
            </a:r>
            <a:r>
              <a:rPr sz="1400" b="0" i="0" dirty="0">
                <a:solidFill>
                  <a:schemeClr val="bg1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it.leitung@bfw-wuerzburg.de</a:t>
            </a:r>
            <a:r>
              <a:rPr lang="de-DE" sz="1400" b="0" i="0" dirty="0">
                <a:solidFill>
                  <a:schemeClr val="bg1"/>
                </a:solidFill>
                <a:latin typeface="Calibri"/>
              </a:rPr>
              <a:t> </a:t>
            </a:r>
            <a:endParaRPr sz="14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6355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BBBBB"/>
                </a:solidFill>
                <a:latin typeface="Calibri"/>
              </a:rPr>
              <a:t>BFW Würzburg gGmbH · Bildungszentrum für Blinde und Sehbehinderte · www.bfw-wuerzburg.de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7C59D990-7624-CAE0-807C-3C6CFB9B7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0652" y="640475"/>
            <a:ext cx="2902228" cy="939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99123-12E9-E8BF-6558-D7EEDACBE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BD33E5-6986-A66C-0194-6B951656CC5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4AC109-5FBD-4286-36ED-F9B5A1A8F2B9}"/>
              </a:ext>
            </a:extLst>
          </p:cNvPr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82A48-254D-3630-D7BE-ADE1B5D24BD5}"/>
              </a:ext>
            </a:extLst>
          </p:cNvPr>
          <p:cNvSpPr txBox="1"/>
          <p:nvPr/>
        </p:nvSpPr>
        <p:spPr>
          <a:xfrm>
            <a:off x="868680" y="640080"/>
            <a:ext cx="10972800" cy="732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de-DE" sz="4400" b="1" i="0" dirty="0">
                <a:solidFill>
                  <a:srgbClr val="FFFFFF"/>
                </a:solidFill>
                <a:latin typeface="Calibri"/>
              </a:rPr>
              <a:t>Vielen Dank</a:t>
            </a:r>
            <a:endParaRPr sz="4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902B19-D10F-36A5-2C68-A4614DC25319}"/>
              </a:ext>
            </a:extLst>
          </p:cNvPr>
          <p:cNvSpPr/>
          <p:nvPr/>
        </p:nvSpPr>
        <p:spPr>
          <a:xfrm>
            <a:off x="868680" y="1600200"/>
            <a:ext cx="914400" cy="50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1329EDC2-3E02-45E6-E3B3-63ECE77D170B}"/>
              </a:ext>
            </a:extLst>
          </p:cNvPr>
          <p:cNvGrpSpPr/>
          <p:nvPr/>
        </p:nvGrpSpPr>
        <p:grpSpPr>
          <a:xfrm>
            <a:off x="868680" y="2011680"/>
            <a:ext cx="10744200" cy="2379006"/>
            <a:chOff x="868680" y="2011680"/>
            <a:chExt cx="10744200" cy="237900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2881AD8-17E1-F49A-735B-0C392E077916}"/>
                </a:ext>
              </a:extLst>
            </p:cNvPr>
            <p:cNvSpPr/>
            <p:nvPr/>
          </p:nvSpPr>
          <p:spPr>
            <a:xfrm>
              <a:off x="868680" y="2103120"/>
              <a:ext cx="502920" cy="50292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DE" sz="2000" b="1" dirty="0">
                  <a:solidFill>
                    <a:srgbClr val="FFFFFF"/>
                  </a:solidFill>
                  <a:latin typeface="Calibri"/>
                </a:rPr>
                <a:t>5</a:t>
              </a:r>
              <a:endParaRPr sz="2000" b="1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93BEE3E-55FA-85E5-6648-3EC7B8E08D6C}"/>
                </a:ext>
              </a:extLst>
            </p:cNvPr>
            <p:cNvSpPr txBox="1"/>
            <p:nvPr/>
          </p:nvSpPr>
          <p:spPr>
            <a:xfrm>
              <a:off x="1554480" y="2011680"/>
              <a:ext cx="10058400" cy="333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lang="de-DE" sz="2000" b="1" i="0" dirty="0">
                  <a:solidFill>
                    <a:srgbClr val="FFFFFF"/>
                  </a:solidFill>
                  <a:latin typeface="Calibri"/>
                </a:rPr>
                <a:t>Weitere Infos</a:t>
              </a:r>
              <a:endParaRPr sz="2000" b="1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18EF654-75C9-F727-0793-1EF7098EB708}"/>
                </a:ext>
              </a:extLst>
            </p:cNvPr>
            <p:cNvSpPr txBox="1"/>
            <p:nvPr/>
          </p:nvSpPr>
          <p:spPr>
            <a:xfrm>
              <a:off x="1554480" y="2423160"/>
              <a:ext cx="10058400" cy="196752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lang="de-DE" sz="1400" b="0" i="0" dirty="0">
                  <a:solidFill>
                    <a:srgbClr val="E9ECEF"/>
                  </a:solidFill>
                  <a:latin typeface="Calibri"/>
                </a:rPr>
                <a:t>Alle Beispiele und Links, z.B. </a:t>
              </a:r>
            </a:p>
            <a:p>
              <a:pPr marL="285750" indent="-285750" algn="l">
                <a:lnSpc>
                  <a:spcPct val="115000"/>
                </a:lnSpc>
                <a:buFontTx/>
                <a:buChar char="-"/>
              </a:pPr>
              <a:r>
                <a:rPr lang="de-DE" sz="1400" b="0" i="0" dirty="0">
                  <a:solidFill>
                    <a:srgbClr val="E9ECEF"/>
                  </a:solidFill>
                  <a:latin typeface="Calibri"/>
                </a:rPr>
                <a:t>W3C Design Patterns and </a:t>
              </a:r>
              <a:r>
                <a:rPr lang="de-DE" sz="1400" b="0" i="0" dirty="0" err="1">
                  <a:solidFill>
                    <a:srgbClr val="E9ECEF"/>
                  </a:solidFill>
                  <a:latin typeface="Calibri"/>
                </a:rPr>
                <a:t>Examples</a:t>
              </a:r>
              <a:r>
                <a:rPr lang="de-DE" sz="1400" b="0" i="0" dirty="0">
                  <a:solidFill>
                    <a:srgbClr val="E9ECEF"/>
                  </a:solidFill>
                  <a:latin typeface="Calibri"/>
                </a:rPr>
                <a:t> für Rich Internet </a:t>
              </a:r>
              <a:r>
                <a:rPr lang="de-DE" sz="1400" b="0" i="0" dirty="0" err="1">
                  <a:solidFill>
                    <a:srgbClr val="E9ECEF"/>
                  </a:solidFill>
                  <a:latin typeface="Calibri"/>
                </a:rPr>
                <a:t>Applications</a:t>
              </a:r>
              <a:endParaRPr lang="de-DE" sz="1400" b="0" i="0" dirty="0">
                <a:solidFill>
                  <a:srgbClr val="E9ECEF"/>
                </a:solidFill>
                <a:latin typeface="Calibri"/>
              </a:endParaRPr>
            </a:p>
            <a:p>
              <a:pPr marL="285750" indent="-285750">
                <a:lnSpc>
                  <a:spcPct val="115000"/>
                </a:lnSpc>
                <a:buFontTx/>
                <a:buChar char="-"/>
              </a:pPr>
              <a:r>
                <a:rPr lang="de-DE" sz="1400" b="0" i="0" dirty="0">
                  <a:solidFill>
                    <a:srgbClr val="E9ECEF"/>
                  </a:solidFill>
                  <a:latin typeface="Calibri"/>
                </a:rPr>
                <a:t>Projekt </a:t>
              </a:r>
              <a:r>
                <a:rPr lang="de-DE" sz="1400" b="0" i="0" dirty="0" err="1">
                  <a:solidFill>
                    <a:srgbClr val="E9ECEF"/>
                  </a:solidFill>
                  <a:latin typeface="Calibri"/>
                </a:rPr>
                <a:t>msg.BALM</a:t>
              </a:r>
              <a:r>
                <a:rPr lang="de-DE" sz="1400" b="0" i="0" dirty="0">
                  <a:solidFill>
                    <a:srgbClr val="E9ECEF"/>
                  </a:solidFill>
                  <a:latin typeface="Calibri"/>
                </a:rPr>
                <a:t> der </a:t>
              </a:r>
              <a:r>
                <a:rPr lang="de-DE" sz="1400" b="0" i="0" dirty="0" err="1">
                  <a:solidFill>
                    <a:srgbClr val="E9ECEF"/>
                  </a:solidFill>
                  <a:latin typeface="Calibri"/>
                </a:rPr>
                <a:t>msg</a:t>
              </a:r>
              <a:r>
                <a:rPr lang="de-DE" sz="1400" b="0" i="0" dirty="0">
                  <a:solidFill>
                    <a:srgbClr val="E9ECEF"/>
                  </a:solidFill>
                  <a:latin typeface="Calibri"/>
                </a:rPr>
                <a:t> </a:t>
              </a:r>
              <a:r>
                <a:rPr lang="de-DE" sz="1400" b="0" i="0" dirty="0" err="1">
                  <a:solidFill>
                    <a:srgbClr val="E9ECEF"/>
                  </a:solidFill>
                  <a:latin typeface="Calibri"/>
                </a:rPr>
                <a:t>group</a:t>
              </a:r>
              <a:endParaRPr lang="de-DE" sz="1400" b="0" i="0" dirty="0">
                <a:solidFill>
                  <a:srgbClr val="E9ECEF"/>
                </a:solidFill>
                <a:latin typeface="Calibri"/>
              </a:endParaRPr>
            </a:p>
            <a:p>
              <a:pPr marL="285750" indent="-285750">
                <a:lnSpc>
                  <a:spcPct val="115000"/>
                </a:lnSpc>
                <a:buFontTx/>
                <a:buChar char="-"/>
              </a:pPr>
              <a:r>
                <a:rPr lang="de-DE" sz="1400" dirty="0">
                  <a:solidFill>
                    <a:srgbClr val="E9ECEF"/>
                  </a:solidFill>
                  <a:latin typeface="Calibri"/>
                </a:rPr>
                <a:t>Standards wie EN 301 549</a:t>
              </a:r>
            </a:p>
            <a:p>
              <a:pPr marL="285750" indent="-285750">
                <a:lnSpc>
                  <a:spcPct val="115000"/>
                </a:lnSpc>
                <a:buFontTx/>
                <a:buChar char="-"/>
              </a:pPr>
              <a:r>
                <a:rPr lang="de-DE" sz="1400" dirty="0">
                  <a:solidFill>
                    <a:srgbClr val="E9ECEF"/>
                  </a:solidFill>
                  <a:latin typeface="Calibri"/>
                </a:rPr>
                <a:t>Tests</a:t>
              </a:r>
              <a:r>
                <a:rPr lang="de-DE" sz="1400" dirty="0">
                  <a:solidFill>
                    <a:srgbClr val="E9ECEF"/>
                  </a:solidFill>
                </a:rPr>
                <a:t> wie BIT inklusiv BITV-Softwaretest</a:t>
              </a:r>
            </a:p>
            <a:p>
              <a:pPr marL="285750" indent="-285750">
                <a:lnSpc>
                  <a:spcPct val="115000"/>
                </a:lnSpc>
                <a:buFontTx/>
                <a:buChar char="-"/>
              </a:pPr>
              <a:r>
                <a:rPr lang="de-DE" sz="1400" dirty="0">
                  <a:solidFill>
                    <a:srgbClr val="E9ECEF"/>
                  </a:solidFill>
                  <a:latin typeface="Calibri"/>
                </a:rPr>
                <a:t>…</a:t>
              </a:r>
            </a:p>
            <a:p>
              <a:pPr>
                <a:lnSpc>
                  <a:spcPct val="115000"/>
                </a:lnSpc>
              </a:pPr>
              <a:endParaRPr lang="de-DE" sz="1400" b="0" i="0" dirty="0">
                <a:solidFill>
                  <a:srgbClr val="E9ECEF"/>
                </a:solidFill>
                <a:latin typeface="Calibri"/>
              </a:endParaRPr>
            </a:p>
            <a:p>
              <a:pPr>
                <a:lnSpc>
                  <a:spcPct val="115000"/>
                </a:lnSpc>
              </a:pPr>
              <a:r>
                <a:rPr lang="de-DE" sz="1400" dirty="0">
                  <a:solidFill>
                    <a:srgbClr val="E9ECEF"/>
                  </a:solidFill>
                  <a:latin typeface="Calibri"/>
                </a:rPr>
                <a:t>unter</a:t>
              </a:r>
              <a:endParaRPr lang="de-DE" sz="1400" b="0" i="0" dirty="0">
                <a:solidFill>
                  <a:srgbClr val="E9ECEF"/>
                </a:solidFill>
                <a:latin typeface="Calibri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B06FBAE-770A-7C44-5184-ED1DBAAD058D}"/>
              </a:ext>
            </a:extLst>
          </p:cNvPr>
          <p:cNvSpPr/>
          <p:nvPr/>
        </p:nvSpPr>
        <p:spPr>
          <a:xfrm>
            <a:off x="868680" y="5897880"/>
            <a:ext cx="10424160" cy="25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6DE1C6-ED3D-E577-F18A-70DAF3522E5A}"/>
              </a:ext>
            </a:extLst>
          </p:cNvPr>
          <p:cNvSpPr txBox="1"/>
          <p:nvPr/>
        </p:nvSpPr>
        <p:spPr>
          <a:xfrm>
            <a:off x="868680" y="5989320"/>
            <a:ext cx="100584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de-DE" sz="1400" b="0" i="0" dirty="0">
                <a:solidFill>
                  <a:srgbClr val="E9ECEF"/>
                </a:solidFill>
                <a:latin typeface="Calibri"/>
              </a:rPr>
              <a:t>Rainer Brell und </a:t>
            </a:r>
            <a:r>
              <a:rPr sz="1400" b="0" i="0" dirty="0">
                <a:solidFill>
                  <a:srgbClr val="E9ECEF"/>
                </a:solidFill>
                <a:latin typeface="Calibri"/>
              </a:rPr>
              <a:t>Ernst Heßdörfer · </a:t>
            </a:r>
            <a:r>
              <a:rPr lang="de-DE" sz="1400" b="0" i="0" dirty="0">
                <a:solidFill>
                  <a:srgbClr val="E9ECEF"/>
                </a:solidFill>
                <a:latin typeface="Calibri"/>
              </a:rPr>
              <a:t>BFW Würzburg gGmbH </a:t>
            </a:r>
            <a:r>
              <a:rPr sz="1400" b="0" i="0" dirty="0">
                <a:solidFill>
                  <a:srgbClr val="E9ECEF"/>
                </a:solidFill>
                <a:latin typeface="Calibri"/>
              </a:rPr>
              <a:t>·</a:t>
            </a:r>
            <a:r>
              <a:rPr lang="de-DE" sz="1400" b="0" i="0" dirty="0">
                <a:solidFill>
                  <a:srgbClr val="E9ECEF"/>
                </a:solidFill>
                <a:latin typeface="Calibri"/>
              </a:rPr>
              <a:t> </a:t>
            </a:r>
            <a:r>
              <a:rPr lang="de-DE" sz="1400" b="0" i="0" dirty="0">
                <a:solidFill>
                  <a:schemeClr val="bg1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rainer.brell@bfw-wuerzburg.de</a:t>
            </a:r>
            <a:r>
              <a:rPr lang="de-DE" sz="1400" b="0" i="0" dirty="0">
                <a:solidFill>
                  <a:schemeClr val="bg1"/>
                </a:solidFill>
                <a:latin typeface="Calibri"/>
              </a:rPr>
              <a:t> und </a:t>
            </a:r>
            <a:r>
              <a:rPr sz="1400" b="0" i="0" dirty="0">
                <a:solidFill>
                  <a:schemeClr val="bg1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it.leitung@bfw-wuerzburg.de</a:t>
            </a:r>
            <a:r>
              <a:rPr lang="de-DE" sz="1400" b="0" i="0" dirty="0">
                <a:solidFill>
                  <a:schemeClr val="bg1"/>
                </a:solidFill>
                <a:latin typeface="Calibri"/>
              </a:rPr>
              <a:t> </a:t>
            </a:r>
            <a:endParaRPr sz="14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A2ED16-81FC-B215-FF17-633B4A01F19A}"/>
              </a:ext>
            </a:extLst>
          </p:cNvPr>
          <p:cNvSpPr txBox="1"/>
          <p:nvPr/>
        </p:nvSpPr>
        <p:spPr>
          <a:xfrm>
            <a:off x="868680" y="6355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BBBBB"/>
                </a:solidFill>
                <a:latin typeface="Calibri"/>
              </a:rPr>
              <a:t>BFW Würzburg gGmbH · Bildungszentrum für Blinde und Sehbehinderte · www.bfw-wuerzburg.de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F23B66CA-DA1D-BF6D-EFAF-AD5267B39A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0652" y="640475"/>
            <a:ext cx="2902228" cy="93940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68AFFDD-6765-1F1C-39CD-9FED3977A2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2628" y="3162131"/>
            <a:ext cx="2214452" cy="22144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A6F74617-0F2B-A91F-463F-390CF554E66C}"/>
              </a:ext>
            </a:extLst>
          </p:cNvPr>
          <p:cNvSpPr txBox="1"/>
          <p:nvPr/>
        </p:nvSpPr>
        <p:spPr>
          <a:xfrm>
            <a:off x="2948442" y="5079419"/>
            <a:ext cx="6089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https://github.com/EH-BFW/BarrierefreiheitsDemos</a:t>
            </a:r>
            <a:r>
              <a:rPr lang="de-DE" dirty="0">
                <a:solidFill>
                  <a:schemeClr val="bg1"/>
                </a:solidFill>
              </a:rPr>
              <a:t>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345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1836</Words>
  <Application>Microsoft Office PowerPoint</Application>
  <PresentationFormat>Breitbild</PresentationFormat>
  <Paragraphs>278</Paragraphs>
  <Slides>17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Ernst Heßdörfer</cp:lastModifiedBy>
  <cp:revision>163</cp:revision>
  <dcterms:created xsi:type="dcterms:W3CDTF">2013-01-27T09:14:16Z</dcterms:created>
  <dcterms:modified xsi:type="dcterms:W3CDTF">2026-06-09T06:39:06Z</dcterms:modified>
  <cp:category/>
</cp:coreProperties>
</file>